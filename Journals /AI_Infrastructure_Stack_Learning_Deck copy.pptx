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slide matters: it explains why AI suddenly needs physical infrastructure when Google never did. Retrieval (looking up pages that already exist) is cheap. Generation (composing every answer fresh, word by word) is compute-heavy. Everything else in this deck exists to make generation cheaper, faster, or possible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factory analogy running through the whole deck: token = the widget the factory makes, FLOP = one unit of labour, training = building the factory (happens once), inference = running it (happens forever). Whenever a number in this deck confuses you, ask: is this about BUILDING factories or RUNNING them? Most of the money is in running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from research to money: once 'spend 10x more, get a predictably better model' was discovered, every big company could BUY intelligence with capital spending — and outspending rivals is a game they already know. That's why the rest of this deck is about concrete, power, and plumbing rather than algorithms.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phases to remember. PREFILL = the model READS your prompt all at once (that's the pause before the first word appears). DECODE = the model WRITES, one token at a time, re-running the entire network for every single word. Decode is why inference is expensive, and why memory becomes the bottleneck in Act 7. The KV cache is just the model's scratch notes on your conversation, kept in fast memory next to the chip.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table of contents for the rest of the deck. Every act that follows is one of these layers, in roughly this order. If you get lost anywhere, come back to this slide and ask two questions: which layer am I in, and what does it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Units, in case they blur together: a kilowatt (kW) runs about ten old-fashioned light bulbs. A megawatt (MW) = 1,000 kW. A gigawatt (GW) = 1,000 MW, roughly one full-size nuclear reactor, enough for about a million homes. The point of this slide: AI racks became 60-100x more power-dense, so a single campus now asks the grid for a reactor's worth of power — and companies want several campuses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language: 'interconnection' = getting permission AND a physical hookup to the public grid. The queue is the waiting list for that. The transformer is the giant piece of hardware you need even after permission is granted. Both are measured in YEARS, while chips arrive in months. That mismatch is the entire power story — and it's why the next two slides exist: they show what companies do instead of waiting.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option here is a way of generating power on your own site so you skip the interconnection queue from the previous slide. Read it as a speed ranking: the faster the option, the more limited or riskier it tends to be. The next slide names the companies selling each option and how the market treats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each company actually SELLS (this is the part that's easy to lose): Constellation and Vistra sell electricity from nuclear plants they already own. GE Vernova and Siemens Energy sell turbine MACHINES to whoever wants to generate — they don't sell power. Bloom sells fuel-cell boxes. Vertiv, Schneider and Eaton sell the electrical gear that sits between any power source and the chips. Caterpillar and Cummins sell emergency generators. Oklo and NuScale sell a promise of small reactors in the 2030s.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 capacity auction is: it's how this grid region buys guaranteed future power — generators bid to promise capacity, and the clearing price flows into everyone's electricity bills. Data centres entering the bidding pushed the total up ~$9bn, which lands on home bills as $16-18/month. That's why community opposition and moratorium proposals are a genuine constraint on the buildout, not a footnote.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cooling matters at all: every watt of electricity entering a chip leaves as heat — the electricity isn't consumed making words, it's converted to warmth. Above ~30-50 kW per rack, air physically can't carry heat away fast enough, so the industry is re-plumbing from air conditioning to liquid loops. PUE in plain terms: 2.0 means half your electricity is wasted on overhead; 1.1 means almost all of it reaches the computers. On a gigawatt campus that difference is enormous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investors like this lane: whichever chip company wins, the heat still has to go somewhere. Vertiv sells the complete system (power gear + cooling). Eaton and Schneider each paid billions to ACQUIRE their way into liquid cooling — when two disciplined industrial giants pay up for the same niche within months, it usually means they believe the demand is durable, not a fad.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 beginner insight to take from this slide: the GPU does the AI math (thousands of simple cores doing identical operations at once), the CPU just coordinates, and HBM holds what the GPU reaches for constantly. Acts 6 and 7 are both about feeding the GPU — with other chips' results (networking) and with data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Gross margin = the share of each sales dollar left after the cost of making the product. 75% on hardware is nearly unheard of (great hardware companies run 40-50%). The reason isn't just chip quality — it's CUDA, the software layer every AI engineer already knows. Switching to a rival's chip means retraining people and rewriting code, which costs more than the rival's chip saves. That's what a moat means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Jargon: ODM = original design manufacturer — the factories that physically design and build the racks sold under other brands' names. Why Broadcom is 'the quiet assassin': the four big cloud companies want to escape Nvidia by designing their own chips, but they can't do it alone — so they pay Broadcom to co-design. Broadcom wins whether Nvidia keeps its crown or loses it. The margin lesson at the bottom is the single most transferable idea in the deck: profit lives in whatever is scarce.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Bandwidth vs latency, one more time: bandwidth is how MUCH data moves per second (width of the conveyor belt); latency is the DELAY of a single handoff. AI clusters need both at once, everywhere. Why it's worth 40-60 cents per GPU dollar: if the network is slow, the most expensive chips in history sit idle waiting for each other — so overpaying for networking is cheaper than underusing silicon. InfiniBand vs Ethernet is the classic proprietary-vs-open story: the open standard started behind and is now winning.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explained: a TRANSCEIVER converts electrical signals into light and back — you need one at each end of every fibre link, because copper can only carry these speeds a few metres but light can cross the building. A RETIMER cleans up electrical signals that degrade over mere inches at these speeds. Why 'razor blades': transceivers get replaced with every upgrade cycle, so it's recurring revenue — the printer-and-ink model applied to data centres.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memory is the bottleneck (connects back to decode in Act 2): to write every single word, the chip must FETCH the model's parameters and the conversation's working memory from memory into its cores. The math itself is fast; the fetching is slow. HBM attacks this by stacking memory vertically right beside the GPU instead of centimetres away on a board. Only three companies on Earth can make it, and that scarcity — plus selling out a year in advance — is why all three crossed $1 trillion in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tiers exist at all: one trade-off repeated — fast memory is expensive per byte, cheap storage is slow — so data sits on the cheapest rung it can tolerate. HBM/DRAM = chips, no moving parts, fast. SSD = flash chips, 'hot' files. Hard drives = mechanical spinning platters, slow but unbeatably cheap per terabyte for cold bulk. 'Checkpoints' = full snapshots of the model saved every few hours during a months-long training run so a crash doesn't erase weeks of compute — terabytes each, thousands of times. 'Inference inflection' = everyone planned for what AI reads; nobody planned for what it WRITES (every conversation and image, kept forever). Duopoly lesson: demand surged into a market with exactly TWO suppliers who had spent a decade shrinking capacity — no third competitor to undercut them, so they sold out two years ahead and prices jumped 50%. Scarcity = pricing power,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moat you can't photograph': every previous act showed physical things money can buy — turbines, chips, fibre. This act is an advantage that isn't an object, so rivals can't buy or copy it. CUDA = the software toolkit for programming Nvidia chips; the moat isn't the toolkit, it's twenty years of PEOPLE — millions of engineers trained on it, thousands of libraries, every course teaching it. AMD can match the chip; it can't match the muscle memory. (Analogy: finance runs on Excel even where Sheets is fine — the switching cost lives in humans.) Serving engines answer a question Act 2 raises: if each query is billions of calculations, why doesn't it cost dollars? BATCHING = many users share one chip pass. CACHING = don't recompute the conversation for every word (reuse the KV cache). QUANTIZATION = store numbers less precisely, like a compressed photo. Together 3-10x cheaper with zero new hardware — why API prices collapse yearly. Double edge: cheap tokens drive adoption AND shrink revenue per token. Both bulls and bears cite the same curve.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tiers: HYPERSCALERS own the giant clouds and do the $725bn of spending. NEOCLOUDS are pure GPU landlords — they own nothing but AI data centres and rent capacity out; they exist because demand outran what hyperscalers could build themselves. LABS build the models — tenants of everyone above. 'Off balance sheet', translated: if Meta builds a $27bn data centre itself, the debt and assets sit on Meta's books; if it signs a rental contract with Nebius instead, NEBIUS borrows the money and holds the asset while Meta reports only a rental expense. Same economic commitment, prettier balance sheet. Depreciation, toy example: buy $10m of GPUs, assume 5 useful years, book $2m/yr of cost. If they're actually obsolete in 3, you under-reported costs and OVER-reported profit in years one and two. Scale that to hundreds of billions of GPUs — each assumed year of life swings reported profits by billions with no change in the business. Vendor financing: supplier funds its customers, who buy from the supplier — legal, built the railroads, but it means some 'demand' is recycled capital. Health check: where does NEW money enter?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bottom line, both sides: BULLS say end-user revenue (&gt;$70bn annualised across the two big labs) is the fastest ramp in software history, and it only has to keep compounding. BEARS say it's still a tenth of annual infrastructure spend, the biggest lab still loses ~$14bn a year, and token prices are collapsing (Act 8). Neither side has been proven right. Holding both arguments at once, rather than picking a side early, is exactly the discipline good analysts are paid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slide exists: the deck teaches WHAT to know; interviews test whether you can SAY it under pressure. The four-step skeleton means the answer leads with a conclusion — so even a freeze after sentence one leaves a complete answer on the table. Drill: pick any slide in this deck, ask yourself 'justify this number', speak a four-sentence answer out loud on the skeleton, in your own words. One rep per slide beats ten more read-throughs.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02F"/>
        </a:solidFill>
      </p:bgPr>
    </p:bg>
    <p:spTree>
      <p:nvGrpSpPr>
        <p:cNvPr id="1" name=""/>
        <p:cNvGrpSpPr/>
        <p:nvPr/>
      </p:nvGrpSpPr>
      <p:grpSpPr>
        <a:xfrm>
          <a:off x="0" y="0"/>
          <a:ext cx="0" cy="0"/>
          <a:chOff x="0" y="0"/>
          <a:chExt cx="0" cy="0"/>
        </a:xfrm>
      </p:grpSpPr>
      <p:sp>
        <p:nvSpPr>
          <p:cNvPr id="2" name="Text 0"/>
          <p:cNvSpPr txBox="1"/>
          <p:nvPr/>
        </p:nvSpPr>
        <p:spPr>
          <a:xfrm>
            <a:off x="731520" y="1554480"/>
            <a:ext cx="10698480" cy="411480"/>
          </a:xfrm>
          <a:prstGeom prst="rect">
            <a:avLst/>
          </a:prstGeom>
          <a:noFill/>
          <a:ln/>
        </p:spPr>
        <p:txBody>
          <a:bodyPr wrap="square" lIns="0" tIns="0" rIns="0" bIns="0" rtlCol="0" anchor="ctr"/>
          <a:lstStyle/>
          <a:p>
            <a:pPr indent="0" marL="0">
              <a:buNone/>
            </a:pPr>
            <a:r>
              <a:rPr lang="en-US" sz="1500" b="1" spc="500" kern="0" dirty="0">
                <a:solidFill>
                  <a:srgbClr val="F0A431"/>
                </a:solidFill>
                <a:latin typeface="Calibri" pitchFamily="34" charset="0"/>
                <a:ea typeface="Calibri" pitchFamily="34" charset="-122"/>
                <a:cs typeface="Calibri" pitchFamily="34" charset="-120"/>
              </a:rPr>
              <a:t>ELECTRONS IN, TOKENS OUT</a:t>
            </a:r>
            <a:endParaRPr lang="en-US" sz="1500" dirty="0"/>
          </a:p>
        </p:txBody>
      </p:sp>
      <p:sp>
        <p:nvSpPr>
          <p:cNvPr id="3" name="Text 1"/>
          <p:cNvSpPr txBox="1"/>
          <p:nvPr/>
        </p:nvSpPr>
        <p:spPr>
          <a:xfrm>
            <a:off x="731520" y="2011680"/>
            <a:ext cx="1069848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The AI Infrastructure Stack</a:t>
            </a:r>
            <a:endParaRPr lang="en-US" sz="5400" dirty="0"/>
          </a:p>
        </p:txBody>
      </p:sp>
      <p:sp>
        <p:nvSpPr>
          <p:cNvPr id="4" name="Text 2"/>
          <p:cNvSpPr txBox="1"/>
          <p:nvPr/>
        </p:nvSpPr>
        <p:spPr>
          <a:xfrm>
            <a:off x="731520" y="3200400"/>
            <a:ext cx="9875520" cy="822960"/>
          </a:xfrm>
          <a:prstGeom prst="rect">
            <a:avLst/>
          </a:prstGeom>
          <a:noFill/>
          <a:ln/>
        </p:spPr>
        <p:txBody>
          <a:bodyPr wrap="square" lIns="0" tIns="0" rIns="0" bIns="0" rtlCol="0" anchor="ctr"/>
          <a:lstStyle/>
          <a:p>
            <a:pPr indent="0" marL="0">
              <a:lnSpc>
                <a:spcPct val="120000"/>
              </a:lnSpc>
              <a:buNone/>
            </a:pPr>
            <a:r>
              <a:rPr lang="en-US" sz="1700" dirty="0">
                <a:solidFill>
                  <a:srgbClr val="D8E6F2"/>
                </a:solidFill>
                <a:latin typeface="Calibri" pitchFamily="34" charset="0"/>
                <a:ea typeface="Calibri" pitchFamily="34" charset="-122"/>
                <a:cs typeface="Calibri" pitchFamily="34" charset="-120"/>
              </a:rPr>
              <a:t>What happens in the two seconds between hitting send and reading the answer —</a:t>
            </a:r>
            <a:endParaRPr lang="en-US" sz="1700" dirty="0"/>
          </a:p>
          <a:p>
            <a:pPr indent="0" marL="0">
              <a:lnSpc>
                <a:spcPct val="120000"/>
              </a:lnSpc>
              <a:buNone/>
            </a:pPr>
            <a:r>
              <a:rPr lang="en-US" sz="1700" dirty="0">
                <a:solidFill>
                  <a:srgbClr val="D8E6F2"/>
                </a:solidFill>
                <a:latin typeface="Calibri" pitchFamily="34" charset="0"/>
                <a:ea typeface="Calibri" pitchFamily="34" charset="-122"/>
                <a:cs typeface="Calibri" pitchFamily="34" charset="-120"/>
              </a:rPr>
              <a:t>and which companies sit at every step.</a:t>
            </a:r>
            <a:endParaRPr lang="en-US" sz="1700" dirty="0"/>
          </a:p>
        </p:txBody>
      </p:sp>
      <p:sp>
        <p:nvSpPr>
          <p:cNvPr id="5" name="Shape 3"/>
          <p:cNvSpPr/>
          <p:nvPr/>
        </p:nvSpPr>
        <p:spPr>
          <a:xfrm>
            <a:off x="731520" y="4480560"/>
            <a:ext cx="3383280" cy="1143000"/>
          </a:xfrm>
          <a:prstGeom prst="roundRect">
            <a:avLst>
              <a:gd name="adj" fmla="val 5600"/>
            </a:avLst>
          </a:prstGeom>
          <a:solidFill>
            <a:srgbClr val="1C2E42"/>
          </a:solidFill>
          <a:ln/>
        </p:spPr>
      </p:sp>
      <p:sp>
        <p:nvSpPr>
          <p:cNvPr id="6" name="Text 4"/>
          <p:cNvSpPr txBox="1"/>
          <p:nvPr/>
        </p:nvSpPr>
        <p:spPr>
          <a:xfrm>
            <a:off x="896112" y="4590288"/>
            <a:ext cx="3054096" cy="594360"/>
          </a:xfrm>
          <a:prstGeom prst="rect">
            <a:avLst/>
          </a:prstGeom>
          <a:noFill/>
          <a:ln/>
        </p:spPr>
        <p:txBody>
          <a:bodyPr wrap="square" lIns="0" tIns="0" rIns="0" bIns="0" rtlCol="0" anchor="ctr"/>
          <a:lstStyle/>
          <a:p>
            <a:pPr algn="l" indent="0" marL="0">
              <a:buNone/>
            </a:pPr>
            <a:r>
              <a:rPr lang="en-US" sz="3000" b="1" dirty="0">
                <a:solidFill>
                  <a:srgbClr val="F0A431"/>
                </a:solidFill>
                <a:latin typeface="Cambria" pitchFamily="34" charset="0"/>
                <a:ea typeface="Cambria" pitchFamily="34" charset="-122"/>
                <a:cs typeface="Cambria" pitchFamily="34" charset="-120"/>
              </a:rPr>
              <a:t>$725bn</a:t>
            </a:r>
            <a:endParaRPr lang="en-US" sz="3000" dirty="0"/>
          </a:p>
        </p:txBody>
      </p:sp>
      <p:sp>
        <p:nvSpPr>
          <p:cNvPr id="7" name="Text 5"/>
          <p:cNvSpPr txBox="1"/>
          <p:nvPr/>
        </p:nvSpPr>
        <p:spPr>
          <a:xfrm>
            <a:off x="896112" y="5109210"/>
            <a:ext cx="3054096" cy="480060"/>
          </a:xfrm>
          <a:prstGeom prst="rect">
            <a:avLst/>
          </a:prstGeom>
          <a:noFill/>
          <a:ln/>
        </p:spPr>
        <p:txBody>
          <a:bodyPr wrap="square" lIns="0" tIns="0" rIns="0" bIns="0" rtlCol="0" anchor="t"/>
          <a:lstStyle/>
          <a:p>
            <a:pPr algn="l" indent="0" marL="0">
              <a:buNone/>
            </a:pPr>
            <a:r>
              <a:rPr lang="en-US" sz="1100" dirty="0">
                <a:solidFill>
                  <a:srgbClr val="D8E6F2"/>
                </a:solidFill>
                <a:latin typeface="Calibri" pitchFamily="34" charset="0"/>
                <a:ea typeface="Calibri" pitchFamily="34" charset="-122"/>
                <a:cs typeface="Calibri" pitchFamily="34" charset="-120"/>
              </a:rPr>
              <a:t>2026 capex — Amazon, Microsoft, Google, Meta alone</a:t>
            </a:r>
            <a:endParaRPr lang="en-US" sz="1100" dirty="0"/>
          </a:p>
        </p:txBody>
      </p:sp>
      <p:sp>
        <p:nvSpPr>
          <p:cNvPr id="8" name="Shape 6"/>
          <p:cNvSpPr/>
          <p:nvPr/>
        </p:nvSpPr>
        <p:spPr>
          <a:xfrm>
            <a:off x="4297680" y="4480560"/>
            <a:ext cx="3383280" cy="1143000"/>
          </a:xfrm>
          <a:prstGeom prst="roundRect">
            <a:avLst>
              <a:gd name="adj" fmla="val 5600"/>
            </a:avLst>
          </a:prstGeom>
          <a:solidFill>
            <a:srgbClr val="1C2E42"/>
          </a:solidFill>
          <a:ln/>
        </p:spPr>
      </p:sp>
      <p:sp>
        <p:nvSpPr>
          <p:cNvPr id="9" name="Text 7"/>
          <p:cNvSpPr txBox="1"/>
          <p:nvPr/>
        </p:nvSpPr>
        <p:spPr>
          <a:xfrm>
            <a:off x="4462272" y="4590288"/>
            <a:ext cx="3054096" cy="594360"/>
          </a:xfrm>
          <a:prstGeom prst="rect">
            <a:avLst/>
          </a:prstGeom>
          <a:noFill/>
          <a:ln/>
        </p:spPr>
        <p:txBody>
          <a:bodyPr wrap="square" lIns="0" tIns="0" rIns="0" bIns="0" rtlCol="0" anchor="ctr"/>
          <a:lstStyle/>
          <a:p>
            <a:pPr algn="l" indent="0" marL="0">
              <a:buNone/>
            </a:pPr>
            <a:r>
              <a:rPr lang="en-US" sz="3000" b="1" dirty="0">
                <a:solidFill>
                  <a:srgbClr val="F0A431"/>
                </a:solidFill>
                <a:latin typeface="Cambria" pitchFamily="34" charset="0"/>
                <a:ea typeface="Cambria" pitchFamily="34" charset="-122"/>
                <a:cs typeface="Cambria" pitchFamily="34" charset="-120"/>
              </a:rPr>
              <a:t>$7.6tn</a:t>
            </a:r>
            <a:endParaRPr lang="en-US" sz="3000" dirty="0"/>
          </a:p>
        </p:txBody>
      </p:sp>
      <p:sp>
        <p:nvSpPr>
          <p:cNvPr id="10" name="Text 8"/>
          <p:cNvSpPr txBox="1"/>
          <p:nvPr/>
        </p:nvSpPr>
        <p:spPr>
          <a:xfrm>
            <a:off x="4462272" y="5109210"/>
            <a:ext cx="3054096" cy="480060"/>
          </a:xfrm>
          <a:prstGeom prst="rect">
            <a:avLst/>
          </a:prstGeom>
          <a:noFill/>
          <a:ln/>
        </p:spPr>
        <p:txBody>
          <a:bodyPr wrap="square" lIns="0" tIns="0" rIns="0" bIns="0" rtlCol="0" anchor="t"/>
          <a:lstStyle/>
          <a:p>
            <a:pPr algn="l" indent="0" marL="0">
              <a:buNone/>
            </a:pPr>
            <a:r>
              <a:rPr lang="en-US" sz="1100" dirty="0">
                <a:solidFill>
                  <a:srgbClr val="D8E6F2"/>
                </a:solidFill>
                <a:latin typeface="Calibri" pitchFamily="34" charset="0"/>
                <a:ea typeface="Calibri" pitchFamily="34" charset="-122"/>
                <a:cs typeface="Calibri" pitchFamily="34" charset="-120"/>
              </a:rPr>
              <a:t>Goldman Sachs projected buildout, 2026–2031</a:t>
            </a:r>
            <a:endParaRPr lang="en-US" sz="1100" dirty="0"/>
          </a:p>
        </p:txBody>
      </p:sp>
      <p:sp>
        <p:nvSpPr>
          <p:cNvPr id="11" name="Shape 9"/>
          <p:cNvSpPr/>
          <p:nvPr/>
        </p:nvSpPr>
        <p:spPr>
          <a:xfrm>
            <a:off x="7863840" y="4480560"/>
            <a:ext cx="3566160" cy="1143000"/>
          </a:xfrm>
          <a:prstGeom prst="roundRect">
            <a:avLst>
              <a:gd name="adj" fmla="val 5600"/>
            </a:avLst>
          </a:prstGeom>
          <a:solidFill>
            <a:srgbClr val="1C2E42"/>
          </a:solidFill>
          <a:ln/>
        </p:spPr>
      </p:sp>
      <p:sp>
        <p:nvSpPr>
          <p:cNvPr id="12" name="Text 10"/>
          <p:cNvSpPr txBox="1"/>
          <p:nvPr/>
        </p:nvSpPr>
        <p:spPr>
          <a:xfrm>
            <a:off x="8028432" y="4590288"/>
            <a:ext cx="3236976" cy="594360"/>
          </a:xfrm>
          <a:prstGeom prst="rect">
            <a:avLst/>
          </a:prstGeom>
          <a:noFill/>
          <a:ln/>
        </p:spPr>
        <p:txBody>
          <a:bodyPr wrap="square" lIns="0" tIns="0" rIns="0" bIns="0" rtlCol="0" anchor="ctr"/>
          <a:lstStyle/>
          <a:p>
            <a:pPr algn="l" indent="0" marL="0">
              <a:buNone/>
            </a:pPr>
            <a:r>
              <a:rPr lang="en-US" sz="2800" b="1" dirty="0">
                <a:solidFill>
                  <a:srgbClr val="F0A431"/>
                </a:solidFill>
                <a:latin typeface="Cambria" pitchFamily="34" charset="0"/>
                <a:ea typeface="Cambria" pitchFamily="34" charset="-122"/>
                <a:cs typeface="Cambria" pitchFamily="34" charset="-120"/>
              </a:rPr>
              <a:t>2 seconds</a:t>
            </a:r>
            <a:endParaRPr lang="en-US" sz="2800" dirty="0"/>
          </a:p>
        </p:txBody>
      </p:sp>
      <p:sp>
        <p:nvSpPr>
          <p:cNvPr id="13" name="Text 11"/>
          <p:cNvSpPr txBox="1"/>
          <p:nvPr/>
        </p:nvSpPr>
        <p:spPr>
          <a:xfrm>
            <a:off x="8028432" y="5109210"/>
            <a:ext cx="3236976" cy="480060"/>
          </a:xfrm>
          <a:prstGeom prst="rect">
            <a:avLst/>
          </a:prstGeom>
          <a:noFill/>
          <a:ln/>
        </p:spPr>
        <p:txBody>
          <a:bodyPr wrap="square" lIns="0" tIns="0" rIns="0" bIns="0" rtlCol="0" anchor="t"/>
          <a:lstStyle/>
          <a:p>
            <a:pPr algn="l" indent="0" marL="0">
              <a:buNone/>
            </a:pPr>
            <a:r>
              <a:rPr lang="en-US" sz="1100" dirty="0">
                <a:solidFill>
                  <a:srgbClr val="D8E6F2"/>
                </a:solidFill>
                <a:latin typeface="Calibri" pitchFamily="34" charset="0"/>
                <a:ea typeface="Calibri" pitchFamily="34" charset="-122"/>
                <a:cs typeface="Calibri" pitchFamily="34" charset="-120"/>
              </a:rPr>
              <a:t>“The largest infrastructure buildout in human history” — Jensen Huang, Davos 2026</a:t>
            </a:r>
            <a:endParaRPr lang="en-US" sz="1100" dirty="0"/>
          </a:p>
        </p:txBody>
      </p:sp>
      <p:sp>
        <p:nvSpPr>
          <p:cNvPr id="14" name="Text 12"/>
          <p:cNvSpPr txBox="1"/>
          <p:nvPr/>
        </p:nvSpPr>
        <p:spPr>
          <a:xfrm>
            <a:off x="731520" y="6035040"/>
            <a:ext cx="10698480" cy="320040"/>
          </a:xfrm>
          <a:prstGeom prst="rect">
            <a:avLst/>
          </a:prstGeom>
          <a:noFill/>
          <a:ln/>
        </p:spPr>
        <p:txBody>
          <a:bodyPr wrap="square" lIns="0" tIns="0" rIns="0" bIns="0" rtlCol="0" anchor="ctr"/>
          <a:lstStyle/>
          <a:p>
            <a:pPr indent="0" marL="0">
              <a:buNone/>
            </a:pPr>
            <a:r>
              <a:rPr lang="en-US" sz="1100" dirty="0">
                <a:solidFill>
                  <a:srgbClr val="5A6B7D"/>
                </a:solidFill>
                <a:latin typeface="Calibri" pitchFamily="34" charset="0"/>
                <a:ea typeface="Calibri" pitchFamily="34" charset="-122"/>
                <a:cs typeface="Calibri" pitchFamily="34" charset="-120"/>
              </a:rPr>
              <a:t>Tommy Lau  ·  personal learning document  ·  built from a video walkthrough  ·  Aug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1 · WHY NOW</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The librarian and the writer</a:t>
            </a:r>
            <a:endParaRPr lang="en-US" sz="3000" dirty="0"/>
          </a:p>
        </p:txBody>
      </p:sp>
      <p:sp>
        <p:nvSpPr>
          <p:cNvPr id="4" name="Shape 2"/>
          <p:cNvSpPr/>
          <p:nvPr/>
        </p:nvSpPr>
        <p:spPr>
          <a:xfrm>
            <a:off x="502920" y="1600200"/>
            <a:ext cx="5394960" cy="3017520"/>
          </a:xfrm>
          <a:prstGeom prst="roundRect">
            <a:avLst>
              <a:gd name="adj" fmla="val 2424"/>
            </a:avLst>
          </a:prstGeom>
          <a:solidFill>
            <a:srgbClr val="F4F7FA"/>
          </a:solidFill>
          <a:ln w="12700">
            <a:solidFill>
              <a:srgbClr val="DDE5EC"/>
            </a:solidFill>
            <a:prstDash val="solid"/>
          </a:ln>
        </p:spPr>
      </p:sp>
      <p:sp>
        <p:nvSpPr>
          <p:cNvPr id="5" name="Text 3"/>
          <p:cNvSpPr txBox="1"/>
          <p:nvPr/>
        </p:nvSpPr>
        <p:spPr>
          <a:xfrm>
            <a:off x="777240" y="1828800"/>
            <a:ext cx="4846320" cy="320040"/>
          </a:xfrm>
          <a:prstGeom prst="rect">
            <a:avLst/>
          </a:prstGeom>
          <a:noFill/>
          <a:ln/>
        </p:spPr>
        <p:txBody>
          <a:bodyPr wrap="square" lIns="0" tIns="0" rIns="0" bIns="0" rtlCol="0" anchor="ctr"/>
          <a:lstStyle/>
          <a:p>
            <a:pPr indent="0" marL="0">
              <a:buNone/>
            </a:pPr>
            <a:r>
              <a:rPr lang="en-US" sz="1400" b="1" dirty="0">
                <a:solidFill>
                  <a:srgbClr val="13202F"/>
                </a:solidFill>
                <a:latin typeface="Calibri" pitchFamily="34" charset="0"/>
                <a:ea typeface="Calibri" pitchFamily="34" charset="-122"/>
                <a:cs typeface="Calibri" pitchFamily="34" charset="-120"/>
              </a:rPr>
              <a:t>GOOGLE = LIBRARIAN</a:t>
            </a:r>
            <a:endParaRPr lang="en-US" sz="1400" dirty="0"/>
          </a:p>
        </p:txBody>
      </p:sp>
      <p:sp>
        <p:nvSpPr>
          <p:cNvPr id="6" name="Text 4"/>
          <p:cNvSpPr txBox="1"/>
          <p:nvPr/>
        </p:nvSpPr>
        <p:spPr>
          <a:xfrm>
            <a:off x="777240" y="2240280"/>
            <a:ext cx="4846320" cy="1280160"/>
          </a:xfrm>
          <a:prstGeom prst="rect">
            <a:avLst/>
          </a:prstGeom>
          <a:noFill/>
          <a:ln/>
        </p:spPr>
        <p:txBody>
          <a:bodyPr wrap="square" lIns="0" tIns="0" rIns="0" bIns="0" rtlCol="0" anchor="ctr"/>
          <a:lstStyle/>
          <a:p>
            <a:pPr indent="0" marL="0">
              <a:lnSpc>
                <a:spcPct val="115000"/>
              </a:lnSpc>
              <a:buNone/>
            </a:pPr>
            <a:r>
              <a:rPr lang="en-US" sz="1350" b="1" dirty="0">
                <a:solidFill>
                  <a:srgbClr val="1A2430"/>
                </a:solidFill>
                <a:latin typeface="Calibri" pitchFamily="34" charset="0"/>
                <a:ea typeface="Calibri" pitchFamily="34" charset="-122"/>
                <a:cs typeface="Calibri" pitchFamily="34" charset="-120"/>
              </a:rPr>
              <a:t>Search retrieves. </a:t>
            </a:r>
            <a:pPr indent="0" marL="0">
              <a:lnSpc>
                <a:spcPct val="115000"/>
              </a:lnSpc>
              <a:buNone/>
            </a:pPr>
            <a:r>
              <a:rPr lang="en-US" sz="1350" dirty="0">
                <a:solidFill>
                  <a:srgbClr val="5A6B7D"/>
                </a:solidFill>
                <a:latin typeface="Calibri" pitchFamily="34" charset="0"/>
                <a:ea typeface="Calibri" pitchFamily="34" charset="-122"/>
                <a:cs typeface="Calibri" pitchFamily="34" charset="-120"/>
              </a:rPr>
              <a:t>The internet was indexed in advance; answering you is a lookup of pages that already exist. The expensive work happened years ago.</a:t>
            </a:r>
            <a:endParaRPr lang="en-US" sz="1350" dirty="0"/>
          </a:p>
        </p:txBody>
      </p:sp>
      <p:sp>
        <p:nvSpPr>
          <p:cNvPr id="7" name="Text 5"/>
          <p:cNvSpPr txBox="1"/>
          <p:nvPr/>
        </p:nvSpPr>
        <p:spPr>
          <a:xfrm>
            <a:off x="777240" y="3977640"/>
            <a:ext cx="4846320" cy="365760"/>
          </a:xfrm>
          <a:prstGeom prst="rect">
            <a:avLst/>
          </a:prstGeom>
          <a:noFill/>
          <a:ln/>
        </p:spPr>
        <p:txBody>
          <a:bodyPr wrap="square" lIns="0" tIns="0" rIns="0" bIns="0" rtlCol="0" anchor="ctr"/>
          <a:lstStyle/>
          <a:p>
            <a:pPr indent="0" marL="0">
              <a:buNone/>
            </a:pPr>
            <a:r>
              <a:rPr lang="en-US" sz="1300" b="1" dirty="0">
                <a:solidFill>
                  <a:srgbClr val="3E8E5A"/>
                </a:solidFill>
                <a:latin typeface="Calibri" pitchFamily="34" charset="0"/>
                <a:ea typeface="Calibri" pitchFamily="34" charset="-122"/>
                <a:cs typeface="Calibri" pitchFamily="34" charset="-120"/>
              </a:rPr>
              <a:t>Cost per query: a fraction of a cent</a:t>
            </a:r>
            <a:endParaRPr lang="en-US" sz="1300" dirty="0"/>
          </a:p>
        </p:txBody>
      </p:sp>
      <p:sp>
        <p:nvSpPr>
          <p:cNvPr id="8" name="Shape 6"/>
          <p:cNvSpPr/>
          <p:nvPr/>
        </p:nvSpPr>
        <p:spPr>
          <a:xfrm>
            <a:off x="6263640" y="1600200"/>
            <a:ext cx="5394960" cy="3017520"/>
          </a:xfrm>
          <a:prstGeom prst="roundRect">
            <a:avLst>
              <a:gd name="adj" fmla="val 2424"/>
            </a:avLst>
          </a:prstGeom>
          <a:solidFill>
            <a:srgbClr val="13202F"/>
          </a:solidFill>
          <a:ln/>
        </p:spPr>
      </p:sp>
      <p:sp>
        <p:nvSpPr>
          <p:cNvPr id="9" name="Text 7"/>
          <p:cNvSpPr txBox="1"/>
          <p:nvPr/>
        </p:nvSpPr>
        <p:spPr>
          <a:xfrm>
            <a:off x="6537960" y="1828800"/>
            <a:ext cx="4846320" cy="320040"/>
          </a:xfrm>
          <a:prstGeom prst="rect">
            <a:avLst/>
          </a:prstGeom>
          <a:noFill/>
          <a:ln/>
        </p:spPr>
        <p:txBody>
          <a:bodyPr wrap="square" lIns="0" tIns="0" rIns="0" bIns="0" rtlCol="0" anchor="ctr"/>
          <a:lstStyle/>
          <a:p>
            <a:pPr indent="0" marL="0">
              <a:buNone/>
            </a:pPr>
            <a:r>
              <a:rPr lang="en-US" sz="1400" b="1" dirty="0">
                <a:solidFill>
                  <a:srgbClr val="F0A431"/>
                </a:solidFill>
                <a:latin typeface="Calibri" pitchFamily="34" charset="0"/>
                <a:ea typeface="Calibri" pitchFamily="34" charset="-122"/>
                <a:cs typeface="Calibri" pitchFamily="34" charset="-120"/>
              </a:rPr>
              <a:t>CHATGPT = WRITER</a:t>
            </a:r>
            <a:endParaRPr lang="en-US" sz="1400" dirty="0"/>
          </a:p>
        </p:txBody>
      </p:sp>
      <p:sp>
        <p:nvSpPr>
          <p:cNvPr id="10" name="Text 8"/>
          <p:cNvSpPr txBox="1"/>
          <p:nvPr/>
        </p:nvSpPr>
        <p:spPr>
          <a:xfrm>
            <a:off x="6537960" y="2240280"/>
            <a:ext cx="4846320" cy="1280160"/>
          </a:xfrm>
          <a:prstGeom prst="rect">
            <a:avLst/>
          </a:prstGeom>
          <a:noFill/>
          <a:ln/>
        </p:spPr>
        <p:txBody>
          <a:bodyPr wrap="square" lIns="0" tIns="0" rIns="0" bIns="0" rtlCol="0" anchor="ctr"/>
          <a:lstStyle/>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AI generates. </a:t>
            </a:r>
            <a:pPr indent="0" marL="0">
              <a:lnSpc>
                <a:spcPct val="115000"/>
              </a:lnSpc>
              <a:buNone/>
            </a:pPr>
            <a:r>
              <a:rPr lang="en-US" sz="1350" dirty="0">
                <a:solidFill>
                  <a:srgbClr val="D8E6F2"/>
                </a:solidFill>
                <a:latin typeface="Calibri" pitchFamily="34" charset="0"/>
                <a:ea typeface="Calibri" pitchFamily="34" charset="-122"/>
                <a:cs typeface="Calibri" pitchFamily="34" charset="-120"/>
              </a:rPr>
              <a:t>No answer sits on a shelf. The model composes every reply from scratch, one word at a time, every single time — even if a million people ask the same thing.</a:t>
            </a:r>
            <a:endParaRPr lang="en-US" sz="1350" dirty="0"/>
          </a:p>
        </p:txBody>
      </p:sp>
      <p:sp>
        <p:nvSpPr>
          <p:cNvPr id="11" name="Text 9"/>
          <p:cNvSpPr txBox="1"/>
          <p:nvPr/>
        </p:nvSpPr>
        <p:spPr>
          <a:xfrm>
            <a:off x="6537960" y="3977640"/>
            <a:ext cx="4846320" cy="365760"/>
          </a:xfrm>
          <a:prstGeom prst="rect">
            <a:avLst/>
          </a:prstGeom>
          <a:noFill/>
          <a:ln/>
        </p:spPr>
        <p:txBody>
          <a:bodyPr wrap="square" lIns="0" tIns="0" rIns="0" bIns="0" rtlCol="0" anchor="ctr"/>
          <a:lstStyle/>
          <a:p>
            <a:pPr indent="0" marL="0">
              <a:buNone/>
            </a:pPr>
            <a:r>
              <a:rPr lang="en-US" sz="1300" b="1" dirty="0">
                <a:solidFill>
                  <a:srgbClr val="F0A431"/>
                </a:solidFill>
                <a:latin typeface="Calibri" pitchFamily="34" charset="0"/>
                <a:ea typeface="Calibri" pitchFamily="34" charset="-122"/>
                <a:cs typeface="Calibri" pitchFamily="34" charset="-120"/>
              </a:rPr>
              <a:t>Cost per query: 10–100× a Google search</a:t>
            </a:r>
            <a:endParaRPr lang="en-US" sz="1300" dirty="0"/>
          </a:p>
        </p:txBody>
      </p:sp>
      <p:sp>
        <p:nvSpPr>
          <p:cNvPr id="12" name="Text 10"/>
          <p:cNvSpPr txBox="1"/>
          <p:nvPr/>
        </p:nvSpPr>
        <p:spPr>
          <a:xfrm>
            <a:off x="502920" y="4983480"/>
            <a:ext cx="11155680" cy="868680"/>
          </a:xfrm>
          <a:prstGeom prst="rect">
            <a:avLst/>
          </a:prstGeom>
          <a:noFill/>
          <a:ln/>
        </p:spPr>
        <p:txBody>
          <a:bodyPr wrap="square" lIns="0" tIns="0" rIns="0" bIns="0" rtlCol="0" anchor="ctr"/>
          <a:lstStyle/>
          <a:p>
            <a:pPr indent="0" marL="0">
              <a:lnSpc>
                <a:spcPct val="115000"/>
              </a:lnSpc>
              <a:buNone/>
            </a:pPr>
            <a:r>
              <a:rPr lang="en-US" sz="1450" b="1" dirty="0">
                <a:solidFill>
                  <a:srgbClr val="1A2430"/>
                </a:solidFill>
                <a:latin typeface="Calibri" pitchFamily="34" charset="0"/>
                <a:ea typeface="Calibri" pitchFamily="34" charset="-122"/>
                <a:cs typeface="Calibri" pitchFamily="34" charset="-120"/>
              </a:rPr>
              <a:t>Generation is a manufacturing process.  </a:t>
            </a:r>
            <a:pPr indent="0" marL="0">
              <a:lnSpc>
                <a:spcPct val="115000"/>
              </a:lnSpc>
              <a:buNone/>
            </a:pPr>
            <a:r>
              <a:rPr lang="en-US" sz="1450" dirty="0">
                <a:solidFill>
                  <a:srgbClr val="5A6B7D"/>
                </a:solidFill>
                <a:latin typeface="Calibri" pitchFamily="34" charset="0"/>
                <a:ea typeface="Calibri" pitchFamily="34" charset="-122"/>
                <a:cs typeface="Calibri" pitchFamily="34" charset="-120"/>
              </a:rPr>
              <a:t>Multiply by ~900 million weekly users and you get the whole reason this buildout exists. Think of an AI data centre as a factory: electricity in one side, words out the other.</a:t>
            </a:r>
            <a:endParaRPr lang="en-US" sz="1450" dirty="0"/>
          </a:p>
        </p:txBody>
      </p:sp>
      <p:sp>
        <p:nvSpPr>
          <p:cNvPr id="14" name="Text 11"/>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1 · VOCABULARY</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Three terms that unlock everything</a:t>
            </a:r>
            <a:endParaRPr lang="en-US" sz="3000" dirty="0"/>
          </a:p>
        </p:txBody>
      </p:sp>
      <p:sp>
        <p:nvSpPr>
          <p:cNvPr id="4" name="Shape 2"/>
          <p:cNvSpPr/>
          <p:nvPr/>
        </p:nvSpPr>
        <p:spPr>
          <a:xfrm>
            <a:off x="502920" y="1600200"/>
            <a:ext cx="11155680" cy="1234440"/>
          </a:xfrm>
          <a:prstGeom prst="roundRect">
            <a:avLst>
              <a:gd name="adj" fmla="val 4444"/>
            </a:avLst>
          </a:prstGeom>
          <a:solidFill>
            <a:srgbClr val="F4F7FA"/>
          </a:solidFill>
          <a:ln w="9525">
            <a:solidFill>
              <a:srgbClr val="DDE5EC"/>
            </a:solidFill>
            <a:prstDash val="solid"/>
          </a:ln>
        </p:spPr>
      </p:sp>
      <p:sp>
        <p:nvSpPr>
          <p:cNvPr id="5" name="Text 3"/>
          <p:cNvSpPr txBox="1"/>
          <p:nvPr/>
        </p:nvSpPr>
        <p:spPr>
          <a:xfrm>
            <a:off x="777240" y="1728216"/>
            <a:ext cx="2651760" cy="548640"/>
          </a:xfrm>
          <a:prstGeom prst="rect">
            <a:avLst/>
          </a:prstGeom>
          <a:noFill/>
          <a:ln/>
        </p:spPr>
        <p:txBody>
          <a:bodyPr wrap="square" lIns="0" tIns="0" rIns="0" bIns="0" rtlCol="0" anchor="ctr"/>
          <a:lstStyle/>
          <a:p>
            <a:pPr indent="0" marL="0">
              <a:buNone/>
            </a:pPr>
            <a:r>
              <a:rPr lang="en-US" sz="1600" b="1" dirty="0">
                <a:solidFill>
                  <a:srgbClr val="13202F"/>
                </a:solidFill>
                <a:latin typeface="Cambria" pitchFamily="34" charset="0"/>
                <a:ea typeface="Cambria" pitchFamily="34" charset="-122"/>
                <a:cs typeface="Cambria" pitchFamily="34" charset="-120"/>
              </a:rPr>
              <a:t>TOKEN</a:t>
            </a:r>
            <a:endParaRPr lang="en-US" sz="1600" dirty="0"/>
          </a:p>
        </p:txBody>
      </p:sp>
      <p:sp>
        <p:nvSpPr>
          <p:cNvPr id="6" name="Text 4"/>
          <p:cNvSpPr txBox="1"/>
          <p:nvPr/>
        </p:nvSpPr>
        <p:spPr>
          <a:xfrm>
            <a:off x="777240" y="2167128"/>
            <a:ext cx="2651760" cy="548640"/>
          </a:xfrm>
          <a:prstGeom prst="rect">
            <a:avLst/>
          </a:prstGeom>
          <a:noFill/>
          <a:ln/>
        </p:spPr>
        <p:txBody>
          <a:bodyPr wrap="square" lIns="0" tIns="0" rIns="0" bIns="0" rtlCol="0" anchor="ctr"/>
          <a:lstStyle/>
          <a:p>
            <a:pPr indent="0" marL="0">
              <a:buNone/>
            </a:pPr>
            <a:r>
              <a:rPr lang="en-US" sz="1050" i="1" dirty="0">
                <a:solidFill>
                  <a:srgbClr val="B87A18"/>
                </a:solidFill>
                <a:latin typeface="Calibri" pitchFamily="34" charset="0"/>
                <a:ea typeface="Calibri" pitchFamily="34" charset="-122"/>
                <a:cs typeface="Calibri" pitchFamily="34" charset="-120"/>
              </a:rPr>
              <a:t>The product the factory makes</a:t>
            </a:r>
            <a:endParaRPr lang="en-US" sz="1050" dirty="0"/>
          </a:p>
        </p:txBody>
      </p:sp>
      <p:sp>
        <p:nvSpPr>
          <p:cNvPr id="7" name="Text 5"/>
          <p:cNvSpPr txBox="1"/>
          <p:nvPr/>
        </p:nvSpPr>
        <p:spPr>
          <a:xfrm>
            <a:off x="3611880" y="1728216"/>
            <a:ext cx="7772400" cy="1005840"/>
          </a:xfrm>
          <a:prstGeom prst="rect">
            <a:avLst/>
          </a:prstGeom>
          <a:noFill/>
          <a:ln/>
        </p:spPr>
        <p:txBody>
          <a:bodyPr wrap="square" lIns="0" tIns="0" rIns="0" bIns="0" rtlCol="0" anchor="t"/>
          <a:lstStyle/>
          <a:p>
            <a:pPr indent="0" marL="0">
              <a:lnSpc>
                <a:spcPct val="110000"/>
              </a:lnSpc>
              <a:buNone/>
            </a:pPr>
            <a:r>
              <a:rPr lang="en-US" sz="1150" dirty="0">
                <a:solidFill>
                  <a:srgbClr val="5A6B7D"/>
                </a:solidFill>
                <a:latin typeface="Calibri" pitchFamily="34" charset="0"/>
                <a:ea typeface="Calibri" pitchFamily="34" charset="-122"/>
                <a:cs typeface="Calibri" pitchFamily="34" charset="-120"/>
              </a:rPr>
              <a:t>A chunk of text, ~3/4 of a word. Questions are chopped into tokens on the way in; answers are manufactured token by token on the way out. Tokens are the unit of revenue — OpenAI and Anthropic price per million tokens. Token = widget off the assembly line.</a:t>
            </a:r>
            <a:endParaRPr lang="en-US" sz="1150" dirty="0"/>
          </a:p>
        </p:txBody>
      </p:sp>
      <p:sp>
        <p:nvSpPr>
          <p:cNvPr id="8" name="Shape 6"/>
          <p:cNvSpPr/>
          <p:nvPr/>
        </p:nvSpPr>
        <p:spPr>
          <a:xfrm>
            <a:off x="502920" y="2971800"/>
            <a:ext cx="11155680" cy="1234440"/>
          </a:xfrm>
          <a:prstGeom prst="roundRect">
            <a:avLst>
              <a:gd name="adj" fmla="val 4444"/>
            </a:avLst>
          </a:prstGeom>
          <a:solidFill>
            <a:srgbClr val="F4F7FA"/>
          </a:solidFill>
          <a:ln w="9525">
            <a:solidFill>
              <a:srgbClr val="DDE5EC"/>
            </a:solidFill>
            <a:prstDash val="solid"/>
          </a:ln>
        </p:spPr>
      </p:sp>
      <p:sp>
        <p:nvSpPr>
          <p:cNvPr id="9" name="Text 7"/>
          <p:cNvSpPr txBox="1"/>
          <p:nvPr/>
        </p:nvSpPr>
        <p:spPr>
          <a:xfrm>
            <a:off x="777240" y="3099816"/>
            <a:ext cx="2651760" cy="548640"/>
          </a:xfrm>
          <a:prstGeom prst="rect">
            <a:avLst/>
          </a:prstGeom>
          <a:noFill/>
          <a:ln/>
        </p:spPr>
        <p:txBody>
          <a:bodyPr wrap="square" lIns="0" tIns="0" rIns="0" bIns="0" rtlCol="0" anchor="ctr"/>
          <a:lstStyle/>
          <a:p>
            <a:pPr indent="0" marL="0">
              <a:buNone/>
            </a:pPr>
            <a:r>
              <a:rPr lang="en-US" sz="1600" b="1" dirty="0">
                <a:solidFill>
                  <a:srgbClr val="13202F"/>
                </a:solidFill>
                <a:latin typeface="Cambria" pitchFamily="34" charset="0"/>
                <a:ea typeface="Cambria" pitchFamily="34" charset="-122"/>
                <a:cs typeface="Cambria" pitchFamily="34" charset="-120"/>
              </a:rPr>
              <a:t>FLOP</a:t>
            </a:r>
            <a:endParaRPr lang="en-US" sz="1600" dirty="0"/>
          </a:p>
        </p:txBody>
      </p:sp>
      <p:sp>
        <p:nvSpPr>
          <p:cNvPr id="10" name="Text 8"/>
          <p:cNvSpPr txBox="1"/>
          <p:nvPr/>
        </p:nvSpPr>
        <p:spPr>
          <a:xfrm>
            <a:off x="777240" y="3538728"/>
            <a:ext cx="2651760" cy="548640"/>
          </a:xfrm>
          <a:prstGeom prst="rect">
            <a:avLst/>
          </a:prstGeom>
          <a:noFill/>
          <a:ln/>
        </p:spPr>
        <p:txBody>
          <a:bodyPr wrap="square" lIns="0" tIns="0" rIns="0" bIns="0" rtlCol="0" anchor="ctr"/>
          <a:lstStyle/>
          <a:p>
            <a:pPr indent="0" marL="0">
              <a:buNone/>
            </a:pPr>
            <a:r>
              <a:rPr lang="en-US" sz="1050" i="1" dirty="0">
                <a:solidFill>
                  <a:srgbClr val="B87A18"/>
                </a:solidFill>
                <a:latin typeface="Calibri" pitchFamily="34" charset="0"/>
                <a:ea typeface="Calibri" pitchFamily="34" charset="-122"/>
                <a:cs typeface="Calibri" pitchFamily="34" charset="-120"/>
              </a:rPr>
              <a:t>The unit of labour</a:t>
            </a:r>
            <a:endParaRPr lang="en-US" sz="1050" dirty="0"/>
          </a:p>
        </p:txBody>
      </p:sp>
      <p:sp>
        <p:nvSpPr>
          <p:cNvPr id="11" name="Text 9"/>
          <p:cNvSpPr txBox="1"/>
          <p:nvPr/>
        </p:nvSpPr>
        <p:spPr>
          <a:xfrm>
            <a:off x="3611880" y="3099816"/>
            <a:ext cx="7772400" cy="1005840"/>
          </a:xfrm>
          <a:prstGeom prst="rect">
            <a:avLst/>
          </a:prstGeom>
          <a:noFill/>
          <a:ln/>
        </p:spPr>
        <p:txBody>
          <a:bodyPr wrap="square" lIns="0" tIns="0" rIns="0" bIns="0" rtlCol="0" anchor="t"/>
          <a:lstStyle/>
          <a:p>
            <a:pPr indent="0" marL="0">
              <a:lnSpc>
                <a:spcPct val="110000"/>
              </a:lnSpc>
              <a:buNone/>
            </a:pPr>
            <a:r>
              <a:rPr lang="en-US" sz="1150" dirty="0">
                <a:solidFill>
                  <a:srgbClr val="5A6B7D"/>
                </a:solidFill>
                <a:latin typeface="Calibri" pitchFamily="34" charset="0"/>
                <a:ea typeface="Calibri" pitchFamily="34" charset="-122"/>
                <a:cs typeface="Calibri" pitchFamily="34" charset="-120"/>
              </a:rPr>
              <a:t>One floating-point operation — a single multiply or add. Manufacturing ONE token takes hundreds of billions of them — per word, not per answer. A chip's flops/second = how many workers it has on the floor.</a:t>
            </a:r>
            <a:endParaRPr lang="en-US" sz="1150" dirty="0"/>
          </a:p>
        </p:txBody>
      </p:sp>
      <p:sp>
        <p:nvSpPr>
          <p:cNvPr id="12" name="Shape 10"/>
          <p:cNvSpPr/>
          <p:nvPr/>
        </p:nvSpPr>
        <p:spPr>
          <a:xfrm>
            <a:off x="502920" y="4343400"/>
            <a:ext cx="11155680" cy="1554480"/>
          </a:xfrm>
          <a:prstGeom prst="roundRect">
            <a:avLst>
              <a:gd name="adj" fmla="val 3529"/>
            </a:avLst>
          </a:prstGeom>
          <a:solidFill>
            <a:srgbClr val="D8E6F2"/>
          </a:solidFill>
          <a:ln w="9525">
            <a:solidFill>
              <a:srgbClr val="DDE5EC"/>
            </a:solidFill>
            <a:prstDash val="solid"/>
          </a:ln>
        </p:spPr>
      </p:sp>
      <p:sp>
        <p:nvSpPr>
          <p:cNvPr id="13" name="Text 11"/>
          <p:cNvSpPr txBox="1"/>
          <p:nvPr/>
        </p:nvSpPr>
        <p:spPr>
          <a:xfrm>
            <a:off x="777240" y="4471416"/>
            <a:ext cx="2651760" cy="548640"/>
          </a:xfrm>
          <a:prstGeom prst="rect">
            <a:avLst/>
          </a:prstGeom>
          <a:noFill/>
          <a:ln/>
        </p:spPr>
        <p:txBody>
          <a:bodyPr wrap="square" lIns="0" tIns="0" rIns="0" bIns="0" rtlCol="0" anchor="ctr"/>
          <a:lstStyle/>
          <a:p>
            <a:pPr indent="0" marL="0">
              <a:buNone/>
            </a:pPr>
            <a:r>
              <a:rPr lang="en-US" sz="1600" b="1" dirty="0">
                <a:solidFill>
                  <a:srgbClr val="13202F"/>
                </a:solidFill>
                <a:latin typeface="Cambria" pitchFamily="34" charset="0"/>
                <a:ea typeface="Cambria" pitchFamily="34" charset="-122"/>
                <a:cs typeface="Cambria" pitchFamily="34" charset="-120"/>
              </a:rPr>
              <a:t>TRAINING vs INFERENCE</a:t>
            </a:r>
            <a:endParaRPr lang="en-US" sz="1600" dirty="0"/>
          </a:p>
        </p:txBody>
      </p:sp>
      <p:sp>
        <p:nvSpPr>
          <p:cNvPr id="14" name="Text 12"/>
          <p:cNvSpPr txBox="1"/>
          <p:nvPr/>
        </p:nvSpPr>
        <p:spPr>
          <a:xfrm>
            <a:off x="777240" y="4910328"/>
            <a:ext cx="2651760" cy="548640"/>
          </a:xfrm>
          <a:prstGeom prst="rect">
            <a:avLst/>
          </a:prstGeom>
          <a:noFill/>
          <a:ln/>
        </p:spPr>
        <p:txBody>
          <a:bodyPr wrap="square" lIns="0" tIns="0" rIns="0" bIns="0" rtlCol="0" anchor="ctr"/>
          <a:lstStyle/>
          <a:p>
            <a:pPr indent="0" marL="0">
              <a:buNone/>
            </a:pPr>
            <a:r>
              <a:rPr lang="en-US" sz="1050" i="1" dirty="0">
                <a:solidFill>
                  <a:srgbClr val="B87A18"/>
                </a:solidFill>
                <a:latin typeface="Calibri" pitchFamily="34" charset="0"/>
                <a:ea typeface="Calibri" pitchFamily="34" charset="-122"/>
                <a:cs typeface="Calibri" pitchFamily="34" charset="-120"/>
              </a:rPr>
              <a:t>Building the factory vs running it</a:t>
            </a:r>
            <a:endParaRPr lang="en-US" sz="1050" dirty="0"/>
          </a:p>
        </p:txBody>
      </p:sp>
      <p:sp>
        <p:nvSpPr>
          <p:cNvPr id="15" name="Text 13"/>
          <p:cNvSpPr txBox="1"/>
          <p:nvPr/>
        </p:nvSpPr>
        <p:spPr>
          <a:xfrm>
            <a:off x="3611880" y="4471416"/>
            <a:ext cx="7772400" cy="1325880"/>
          </a:xfrm>
          <a:prstGeom prst="rect">
            <a:avLst/>
          </a:prstGeom>
          <a:noFill/>
          <a:ln/>
        </p:spPr>
        <p:txBody>
          <a:bodyPr wrap="square" lIns="0" tIns="0" rIns="0" bIns="0" rtlCol="0" anchor="t"/>
          <a:lstStyle/>
          <a:p>
            <a:pPr indent="0" marL="0">
              <a:lnSpc>
                <a:spcPct val="110000"/>
              </a:lnSpc>
              <a:buNone/>
            </a:pPr>
            <a:r>
              <a:rPr lang="en-US" sz="1150" dirty="0">
                <a:solidFill>
                  <a:srgbClr val="5A6B7D"/>
                </a:solidFill>
                <a:latin typeface="Calibri" pitchFamily="34" charset="0"/>
                <a:ea typeface="Calibri" pitchFamily="34" charset="-122"/>
                <a:cs typeface="Calibri" pitchFamily="34" charset="-120"/>
              </a:rPr>
              <a:t>Training: adjust &gt;1 trillion knobs (parameters) over months; ~$100m+ per frontier model; happens once. Inference: every query you send; happens billions of times a day. By 2026 roughly 2/3 of all AI compute is INFERENCE — the money is in running the factory, not building it. OpenAI's inference bill alone: ~$14bn this year.</a:t>
            </a:r>
            <a:endParaRPr lang="en-US" sz="1150" dirty="0"/>
          </a:p>
        </p:txBody>
      </p:sp>
      <p:sp>
        <p:nvSpPr>
          <p:cNvPr id="16" name="Text 14"/>
          <p:cNvSpPr txBox="1"/>
          <p:nvPr/>
        </p:nvSpPr>
        <p:spPr>
          <a:xfrm>
            <a:off x="502920" y="6035040"/>
            <a:ext cx="11155680" cy="320040"/>
          </a:xfrm>
          <a:prstGeom prst="rect">
            <a:avLst/>
          </a:prstGeom>
          <a:noFill/>
          <a:ln/>
        </p:spPr>
        <p:txBody>
          <a:bodyPr wrap="square" lIns="0" tIns="0" rIns="0" bIns="0" rtlCol="0" anchor="ctr"/>
          <a:lstStyle/>
          <a:p>
            <a:pPr indent="0" marL="0">
              <a:buNone/>
            </a:pPr>
            <a:r>
              <a:rPr lang="en-US" sz="1250" b="1" dirty="0">
                <a:solidFill>
                  <a:srgbClr val="B04A3A"/>
                </a:solidFill>
                <a:latin typeface="Calibri" pitchFamily="34" charset="0"/>
                <a:ea typeface="Calibri" pitchFamily="34" charset="-122"/>
                <a:cs typeface="Calibri" pitchFamily="34" charset="-120"/>
              </a:rPr>
              <a:t>Misconception to kill: “training is where the money goes.”  Wrong — inference dominates.</a:t>
            </a:r>
            <a:endParaRPr lang="en-US" sz="1250" dirty="0"/>
          </a:p>
        </p:txBody>
      </p:sp>
      <p:sp>
        <p:nvSpPr>
          <p:cNvPr id="18" name="Text 15"/>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1 · THE TRIGGER</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Scaling laws: intelligence became a capital expenditure</a:t>
            </a:r>
            <a:endParaRPr lang="en-US" sz="3000" dirty="0"/>
          </a:p>
        </p:txBody>
      </p:sp>
      <p:sp>
        <p:nvSpPr>
          <p:cNvPr id="4" name="Text 2"/>
          <p:cNvSpPr txBox="1"/>
          <p:nvPr/>
        </p:nvSpPr>
        <p:spPr>
          <a:xfrm>
            <a:off x="502920" y="1645920"/>
            <a:ext cx="11155680" cy="868680"/>
          </a:xfrm>
          <a:prstGeom prst="rect">
            <a:avLst/>
          </a:prstGeom>
          <a:noFill/>
          <a:ln/>
        </p:spPr>
        <p:txBody>
          <a:bodyPr wrap="square" lIns="0" tIns="0" rIns="0" bIns="0" rtlCol="0" anchor="ctr"/>
          <a:lstStyle/>
          <a:p>
            <a:pPr indent="0" marL="0">
              <a:lnSpc>
                <a:spcPct val="120000"/>
              </a:lnSpc>
              <a:buNone/>
            </a:pPr>
            <a:r>
              <a:rPr lang="en-US" sz="1500" b="1" dirty="0">
                <a:solidFill>
                  <a:srgbClr val="1A2430"/>
                </a:solidFill>
                <a:latin typeface="Calibri" pitchFamily="34" charset="0"/>
                <a:ea typeface="Calibri" pitchFamily="34" charset="-122"/>
                <a:cs typeface="Calibri" pitchFamily="34" charset="-120"/>
              </a:rPr>
              <a:t>The discovery (~2020, OpenAI): </a:t>
            </a:r>
            <a:pPr indent="0" marL="0">
              <a:lnSpc>
                <a:spcPct val="120000"/>
              </a:lnSpc>
              <a:buNone/>
            </a:pPr>
            <a:r>
              <a:rPr lang="en-US" sz="1500" dirty="0">
                <a:solidFill>
                  <a:srgbClr val="5A6B7D"/>
                </a:solidFill>
                <a:latin typeface="Calibri" pitchFamily="34" charset="0"/>
                <a:ea typeface="Calibri" pitchFamily="34" charset="-122"/>
                <a:cs typeface="Calibri" pitchFamily="34" charset="-120"/>
              </a:rPr>
              <a:t>make the model bigger, feed it more data, spend more compute — and it gets smarter. Not sometimes. Predictably. On a chart it is nearly a straight line: spend 10× more, get a reliably better model.</a:t>
            </a:r>
            <a:endParaRPr lang="en-US" sz="1500" dirty="0"/>
          </a:p>
        </p:txBody>
      </p:sp>
      <p:sp>
        <p:nvSpPr>
          <p:cNvPr id="5" name="Shape 3"/>
          <p:cNvSpPr/>
          <p:nvPr/>
        </p:nvSpPr>
        <p:spPr>
          <a:xfrm>
            <a:off x="502920" y="2743200"/>
            <a:ext cx="3520440" cy="2926080"/>
          </a:xfrm>
          <a:prstGeom prst="roundRect">
            <a:avLst>
              <a:gd name="adj" fmla="val 2500"/>
            </a:avLst>
          </a:prstGeom>
          <a:solidFill>
            <a:srgbClr val="F4F7FA"/>
          </a:solidFill>
          <a:ln w="9525">
            <a:solidFill>
              <a:srgbClr val="DDE5EC"/>
            </a:solidFill>
            <a:prstDash val="solid"/>
          </a:ln>
        </p:spPr>
      </p:sp>
      <p:sp>
        <p:nvSpPr>
          <p:cNvPr id="6" name="Shape 4"/>
          <p:cNvSpPr/>
          <p:nvPr/>
        </p:nvSpPr>
        <p:spPr>
          <a:xfrm>
            <a:off x="704088" y="2971800"/>
            <a:ext cx="384048" cy="384048"/>
          </a:xfrm>
          <a:prstGeom prst="ellipse">
            <a:avLst/>
          </a:prstGeom>
          <a:solidFill>
            <a:srgbClr val="13202F"/>
          </a:solidFill>
          <a:ln/>
        </p:spPr>
      </p:sp>
      <p:sp>
        <p:nvSpPr>
          <p:cNvPr id="7" name="Text 5"/>
          <p:cNvSpPr txBox="1"/>
          <p:nvPr/>
        </p:nvSpPr>
        <p:spPr>
          <a:xfrm>
            <a:off x="704088" y="29580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234440" y="2990088"/>
            <a:ext cx="2606040" cy="365760"/>
          </a:xfrm>
          <a:prstGeom prst="rect">
            <a:avLst/>
          </a:prstGeom>
          <a:noFill/>
          <a:ln/>
        </p:spPr>
        <p:txBody>
          <a:bodyPr wrap="square" lIns="0" tIns="0" rIns="0" bIns="0" rtlCol="0" anchor="ctr"/>
          <a:lstStyle/>
          <a:p>
            <a:pPr indent="0" marL="0">
              <a:buNone/>
            </a:pPr>
            <a:r>
              <a:rPr lang="en-US" sz="1400" b="1" dirty="0">
                <a:solidFill>
                  <a:srgbClr val="13202F"/>
                </a:solidFill>
                <a:latin typeface="Calibri" pitchFamily="34" charset="0"/>
                <a:ea typeface="Calibri" pitchFamily="34" charset="-122"/>
                <a:cs typeface="Calibri" pitchFamily="34" charset="-120"/>
              </a:rPr>
              <a:t>For 50 years</a:t>
            </a:r>
            <a:endParaRPr lang="en-US" sz="1400" dirty="0"/>
          </a:p>
        </p:txBody>
      </p:sp>
      <p:sp>
        <p:nvSpPr>
          <p:cNvPr id="9" name="Text 7"/>
          <p:cNvSpPr txBox="1"/>
          <p:nvPr/>
        </p:nvSpPr>
        <p:spPr>
          <a:xfrm>
            <a:off x="731520" y="3520440"/>
            <a:ext cx="3063240" cy="2011680"/>
          </a:xfrm>
          <a:prstGeom prst="rect">
            <a:avLst/>
          </a:prstGeom>
          <a:noFill/>
          <a:ln/>
        </p:spPr>
        <p:txBody>
          <a:bodyPr wrap="square" lIns="0" tIns="0" rIns="0" bIns="0" rtlCol="0" anchor="t"/>
          <a:lstStyle/>
          <a:p>
            <a:pPr indent="0" marL="0">
              <a:lnSpc>
                <a:spcPct val="115000"/>
              </a:lnSpc>
              <a:buNone/>
            </a:pPr>
            <a:r>
              <a:rPr lang="en-US" sz="1200" dirty="0">
                <a:solidFill>
                  <a:srgbClr val="5A6B7D"/>
                </a:solidFill>
                <a:latin typeface="Calibri" pitchFamily="34" charset="0"/>
                <a:ea typeface="Calibri" pitchFamily="34" charset="-122"/>
                <a:cs typeface="Calibri" pitchFamily="34" charset="-120"/>
              </a:rPr>
              <a:t>Better software meant hiring smarter programmers. Intelligence was a research problem.</a:t>
            </a:r>
            <a:endParaRPr lang="en-US" sz="1200" dirty="0"/>
          </a:p>
        </p:txBody>
      </p:sp>
      <p:sp>
        <p:nvSpPr>
          <p:cNvPr id="10" name="Text 8"/>
          <p:cNvSpPr txBox="1"/>
          <p:nvPr/>
        </p:nvSpPr>
        <p:spPr>
          <a:xfrm>
            <a:off x="4041648" y="3931920"/>
            <a:ext cx="320040" cy="457200"/>
          </a:xfrm>
          <a:prstGeom prst="rect">
            <a:avLst/>
          </a:prstGeom>
          <a:noFill/>
          <a:ln/>
        </p:spPr>
        <p:txBody>
          <a:bodyPr wrap="square" lIns="0" tIns="0" rIns="0" bIns="0" rtlCol="0" anchor="ctr"/>
          <a:lstStyle/>
          <a:p>
            <a:pPr algn="ctr" indent="0" marL="0">
              <a:buNone/>
            </a:pPr>
            <a:r>
              <a:rPr lang="en-US" sz="2200" b="1" dirty="0">
                <a:solidFill>
                  <a:srgbClr val="F0A431"/>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4343400" y="2743200"/>
            <a:ext cx="3520440" cy="2926080"/>
          </a:xfrm>
          <a:prstGeom prst="roundRect">
            <a:avLst>
              <a:gd name="adj" fmla="val 2500"/>
            </a:avLst>
          </a:prstGeom>
          <a:solidFill>
            <a:srgbClr val="F4F7FA"/>
          </a:solidFill>
          <a:ln w="9525">
            <a:solidFill>
              <a:srgbClr val="DDE5EC"/>
            </a:solidFill>
            <a:prstDash val="solid"/>
          </a:ln>
        </p:spPr>
      </p:sp>
      <p:sp>
        <p:nvSpPr>
          <p:cNvPr id="12" name="Shape 10"/>
          <p:cNvSpPr/>
          <p:nvPr/>
        </p:nvSpPr>
        <p:spPr>
          <a:xfrm>
            <a:off x="4544568" y="2971800"/>
            <a:ext cx="384048" cy="384048"/>
          </a:xfrm>
          <a:prstGeom prst="ellipse">
            <a:avLst/>
          </a:prstGeom>
          <a:solidFill>
            <a:srgbClr val="13202F"/>
          </a:solidFill>
          <a:ln/>
        </p:spPr>
      </p:sp>
      <p:sp>
        <p:nvSpPr>
          <p:cNvPr id="13" name="Text 11"/>
          <p:cNvSpPr txBox="1"/>
          <p:nvPr/>
        </p:nvSpPr>
        <p:spPr>
          <a:xfrm>
            <a:off x="4544568" y="29580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5074920" y="2990088"/>
            <a:ext cx="2606040" cy="365760"/>
          </a:xfrm>
          <a:prstGeom prst="rect">
            <a:avLst/>
          </a:prstGeom>
          <a:noFill/>
          <a:ln/>
        </p:spPr>
        <p:txBody>
          <a:bodyPr wrap="square" lIns="0" tIns="0" rIns="0" bIns="0" rtlCol="0" anchor="ctr"/>
          <a:lstStyle/>
          <a:p>
            <a:pPr indent="0" marL="0">
              <a:buNone/>
            </a:pPr>
            <a:r>
              <a:rPr lang="en-US" sz="1400" b="1" dirty="0">
                <a:solidFill>
                  <a:srgbClr val="13202F"/>
                </a:solidFill>
                <a:latin typeface="Calibri" pitchFamily="34" charset="0"/>
                <a:ea typeface="Calibri" pitchFamily="34" charset="-122"/>
                <a:cs typeface="Calibri" pitchFamily="34" charset="-120"/>
              </a:rPr>
              <a:t>After scaling laws</a:t>
            </a:r>
            <a:endParaRPr lang="en-US" sz="1400" dirty="0"/>
          </a:p>
        </p:txBody>
      </p:sp>
      <p:sp>
        <p:nvSpPr>
          <p:cNvPr id="15" name="Text 13"/>
          <p:cNvSpPr txBox="1"/>
          <p:nvPr/>
        </p:nvSpPr>
        <p:spPr>
          <a:xfrm>
            <a:off x="4572000" y="3520440"/>
            <a:ext cx="3063240" cy="2011680"/>
          </a:xfrm>
          <a:prstGeom prst="rect">
            <a:avLst/>
          </a:prstGeom>
          <a:noFill/>
          <a:ln/>
        </p:spPr>
        <p:txBody>
          <a:bodyPr wrap="square" lIns="0" tIns="0" rIns="0" bIns="0" rtlCol="0" anchor="t"/>
          <a:lstStyle/>
          <a:p>
            <a:pPr indent="0" marL="0">
              <a:lnSpc>
                <a:spcPct val="115000"/>
              </a:lnSpc>
              <a:buNone/>
            </a:pPr>
            <a:r>
              <a:rPr lang="en-US" sz="1200" dirty="0">
                <a:solidFill>
                  <a:srgbClr val="5A6B7D"/>
                </a:solidFill>
                <a:latin typeface="Calibri" pitchFamily="34" charset="0"/>
                <a:ea typeface="Calibri" pitchFamily="34" charset="-122"/>
                <a:cs typeface="Calibri" pitchFamily="34" charset="-120"/>
              </a:rPr>
              <a:t>Intelligence became something you can PURCHASE. AI turned into a capex problem — and big companies know exactly how to compete on capex: outspend everyone.</a:t>
            </a:r>
            <a:endParaRPr lang="en-US" sz="1200" dirty="0"/>
          </a:p>
        </p:txBody>
      </p:sp>
      <p:sp>
        <p:nvSpPr>
          <p:cNvPr id="16" name="Text 14"/>
          <p:cNvSpPr txBox="1"/>
          <p:nvPr/>
        </p:nvSpPr>
        <p:spPr>
          <a:xfrm>
            <a:off x="7882128" y="3931920"/>
            <a:ext cx="320040" cy="457200"/>
          </a:xfrm>
          <a:prstGeom prst="rect">
            <a:avLst/>
          </a:prstGeom>
          <a:noFill/>
          <a:ln/>
        </p:spPr>
        <p:txBody>
          <a:bodyPr wrap="square" lIns="0" tIns="0" rIns="0" bIns="0" rtlCol="0" anchor="ctr"/>
          <a:lstStyle/>
          <a:p>
            <a:pPr algn="ctr" indent="0" marL="0">
              <a:buNone/>
            </a:pPr>
            <a:r>
              <a:rPr lang="en-US" sz="2200" b="1" dirty="0">
                <a:solidFill>
                  <a:srgbClr val="F0A431"/>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8183880" y="2743200"/>
            <a:ext cx="3520440" cy="2926080"/>
          </a:xfrm>
          <a:prstGeom prst="roundRect">
            <a:avLst>
              <a:gd name="adj" fmla="val 2500"/>
            </a:avLst>
          </a:prstGeom>
          <a:solidFill>
            <a:srgbClr val="13202F"/>
          </a:solidFill>
          <a:ln w="9525">
            <a:solidFill>
              <a:srgbClr val="DDE5EC"/>
            </a:solidFill>
            <a:prstDash val="solid"/>
          </a:ln>
        </p:spPr>
      </p:sp>
      <p:sp>
        <p:nvSpPr>
          <p:cNvPr id="18" name="Shape 16"/>
          <p:cNvSpPr/>
          <p:nvPr/>
        </p:nvSpPr>
        <p:spPr>
          <a:xfrm>
            <a:off x="8385048" y="2971800"/>
            <a:ext cx="384048" cy="384048"/>
          </a:xfrm>
          <a:prstGeom prst="ellipse">
            <a:avLst/>
          </a:prstGeom>
          <a:solidFill>
            <a:srgbClr val="F0A431"/>
          </a:solidFill>
          <a:ln/>
        </p:spPr>
      </p:sp>
      <p:sp>
        <p:nvSpPr>
          <p:cNvPr id="19" name="Text 17"/>
          <p:cNvSpPr txBox="1"/>
          <p:nvPr/>
        </p:nvSpPr>
        <p:spPr>
          <a:xfrm>
            <a:off x="8385048" y="295808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txBox="1"/>
          <p:nvPr/>
        </p:nvSpPr>
        <p:spPr>
          <a:xfrm>
            <a:off x="8915400" y="2990088"/>
            <a:ext cx="2606040" cy="365760"/>
          </a:xfrm>
          <a:prstGeom prst="rect">
            <a:avLst/>
          </a:prstGeom>
          <a:noFill/>
          <a:ln/>
        </p:spPr>
        <p:txBody>
          <a:bodyPr wrap="square" lIns="0" tIns="0" rIns="0" bIns="0" rtlCol="0" anchor="ctr"/>
          <a:lstStyle/>
          <a:p>
            <a:pPr indent="0" marL="0">
              <a:buNone/>
            </a:pPr>
            <a:r>
              <a:rPr lang="en-US" sz="1400" b="1" dirty="0">
                <a:solidFill>
                  <a:srgbClr val="F0A431"/>
                </a:solidFill>
                <a:latin typeface="Calibri" pitchFamily="34" charset="0"/>
                <a:ea typeface="Calibri" pitchFamily="34" charset="-122"/>
                <a:cs typeface="Calibri" pitchFamily="34" charset="-120"/>
              </a:rPr>
              <a:t>The reversal</a:t>
            </a:r>
            <a:endParaRPr lang="en-US" sz="1400" dirty="0"/>
          </a:p>
        </p:txBody>
      </p:sp>
      <p:sp>
        <p:nvSpPr>
          <p:cNvPr id="21" name="Text 19"/>
          <p:cNvSpPr txBox="1"/>
          <p:nvPr/>
        </p:nvSpPr>
        <p:spPr>
          <a:xfrm>
            <a:off x="8412480" y="3520440"/>
            <a:ext cx="3063240" cy="2011680"/>
          </a:xfrm>
          <a:prstGeom prst="rect">
            <a:avLst/>
          </a:prstGeom>
          <a:noFill/>
          <a:ln/>
        </p:spPr>
        <p:txBody>
          <a:bodyPr wrap="square" lIns="0" tIns="0" rIns="0" bIns="0" rtlCol="0" anchor="t"/>
          <a:lstStyle/>
          <a:p>
            <a:pPr indent="0" marL="0">
              <a:lnSpc>
                <a:spcPct val="115000"/>
              </a:lnSpc>
              <a:buNone/>
            </a:pPr>
            <a:r>
              <a:rPr lang="en-US" sz="1200" dirty="0">
                <a:solidFill>
                  <a:srgbClr val="D8E6F2"/>
                </a:solidFill>
                <a:latin typeface="Calibri" pitchFamily="34" charset="0"/>
                <a:ea typeface="Calibri" pitchFamily="34" charset="-122"/>
                <a:cs typeface="Calibri" pitchFamily="34" charset="-120"/>
              </a:rPr>
              <a:t>Software used to be an escape from the physical world — zero marginal cost, no factory. AI reversed it: the frontier of software is now poured in concrete, measured in megawatts, cooled with water. Software became heavy industry — and that changes who makes money.</a:t>
            </a:r>
            <a:endParaRPr lang="en-US" sz="1200" dirty="0"/>
          </a:p>
        </p:txBody>
      </p:sp>
      <p:sp>
        <p:nvSpPr>
          <p:cNvPr id="23" name="Text 20"/>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2 · THE TWO SECONDS, SLOWED DOWN</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The complete journey of one question</a:t>
            </a:r>
            <a:endParaRPr lang="en-US" sz="3000" dirty="0"/>
          </a:p>
        </p:txBody>
      </p:sp>
      <p:sp>
        <p:nvSpPr>
          <p:cNvPr id="4" name="Shape 2"/>
          <p:cNvSpPr/>
          <p:nvPr/>
        </p:nvSpPr>
        <p:spPr>
          <a:xfrm>
            <a:off x="502920" y="1581912"/>
            <a:ext cx="384048" cy="384048"/>
          </a:xfrm>
          <a:prstGeom prst="ellipse">
            <a:avLst/>
          </a:prstGeom>
          <a:solidFill>
            <a:srgbClr val="13202F"/>
          </a:solidFill>
          <a:ln/>
        </p:spPr>
      </p:sp>
      <p:sp>
        <p:nvSpPr>
          <p:cNvPr id="5" name="Text 3"/>
          <p:cNvSpPr txBox="1"/>
          <p:nvPr/>
        </p:nvSpPr>
        <p:spPr>
          <a:xfrm>
            <a:off x="502920" y="156819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051560" y="1554480"/>
            <a:ext cx="10607040" cy="713232"/>
          </a:xfrm>
          <a:prstGeom prst="rect">
            <a:avLst/>
          </a:prstGeom>
          <a:noFill/>
          <a:ln/>
        </p:spPr>
        <p:txBody>
          <a:bodyPr wrap="square" lIns="0" tIns="0" rIns="0" bIns="0" rtlCol="0" anchor="t"/>
          <a:lstStyle/>
          <a:p>
            <a:pPr indent="0" marL="0">
              <a:lnSpc>
                <a:spcPct val="105000"/>
              </a:lnSpc>
              <a:buNone/>
            </a:pPr>
            <a:r>
              <a:rPr lang="en-US" sz="1250" b="1" dirty="0">
                <a:solidFill>
                  <a:srgbClr val="1A2430"/>
                </a:solidFill>
                <a:latin typeface="Calibri" pitchFamily="34" charset="0"/>
                <a:ea typeface="Calibri" pitchFamily="34" charset="-122"/>
                <a:cs typeface="Calibri" pitchFamily="34" charset="-120"/>
              </a:rPr>
              <a:t>The trip  </a:t>
            </a:r>
            <a:pPr indent="0" marL="0">
              <a:lnSpc>
                <a:spcPct val="105000"/>
              </a:lnSpc>
              <a:buNone/>
            </a:pPr>
            <a:r>
              <a:rPr lang="en-US" sz="1150" dirty="0">
                <a:solidFill>
                  <a:srgbClr val="5A6B7D"/>
                </a:solidFill>
                <a:latin typeface="Calibri" pitchFamily="34" charset="0"/>
                <a:ea typeface="Calibri" pitchFamily="34" charset="-122"/>
                <a:cs typeface="Calibri" pitchFamily="34" charset="-120"/>
              </a:rPr>
              <a:t>Phone → radio waves → cell tower / router → pulses of light in fibre at ~2/3 light speed → often hundreds of miles to the data centre.</a:t>
            </a:r>
            <a:endParaRPr lang="en-US" sz="1250" dirty="0"/>
          </a:p>
        </p:txBody>
      </p:sp>
      <p:sp>
        <p:nvSpPr>
          <p:cNvPr id="7" name="Shape 5"/>
          <p:cNvSpPr/>
          <p:nvPr/>
        </p:nvSpPr>
        <p:spPr>
          <a:xfrm>
            <a:off x="502920" y="2304288"/>
            <a:ext cx="384048" cy="384048"/>
          </a:xfrm>
          <a:prstGeom prst="ellipse">
            <a:avLst/>
          </a:prstGeom>
          <a:solidFill>
            <a:srgbClr val="13202F"/>
          </a:solidFill>
          <a:ln/>
        </p:spPr>
      </p:sp>
      <p:sp>
        <p:nvSpPr>
          <p:cNvPr id="8" name="Text 6"/>
          <p:cNvSpPr txBox="1"/>
          <p:nvPr/>
        </p:nvSpPr>
        <p:spPr>
          <a:xfrm>
            <a:off x="502920" y="22905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051560" y="2276856"/>
            <a:ext cx="10607040" cy="713232"/>
          </a:xfrm>
          <a:prstGeom prst="rect">
            <a:avLst/>
          </a:prstGeom>
          <a:noFill/>
          <a:ln/>
        </p:spPr>
        <p:txBody>
          <a:bodyPr wrap="square" lIns="0" tIns="0" rIns="0" bIns="0" rtlCol="0" anchor="t"/>
          <a:lstStyle/>
          <a:p>
            <a:pPr indent="0" marL="0">
              <a:lnSpc>
                <a:spcPct val="105000"/>
              </a:lnSpc>
              <a:buNone/>
            </a:pPr>
            <a:r>
              <a:rPr lang="en-US" sz="1250" b="1" dirty="0">
                <a:solidFill>
                  <a:srgbClr val="1A2430"/>
                </a:solidFill>
                <a:latin typeface="Calibri" pitchFamily="34" charset="0"/>
                <a:ea typeface="Calibri" pitchFamily="34" charset="-122"/>
                <a:cs typeface="Calibri" pitchFamily="34" charset="-120"/>
              </a:rPr>
              <a:t>The front door  </a:t>
            </a:r>
            <a:pPr indent="0" marL="0">
              <a:lnSpc>
                <a:spcPct val="105000"/>
              </a:lnSpc>
              <a:buNone/>
            </a:pPr>
            <a:r>
              <a:rPr lang="en-US" sz="1150" dirty="0">
                <a:solidFill>
                  <a:srgbClr val="5A6B7D"/>
                </a:solidFill>
                <a:latin typeface="Calibri" pitchFamily="34" charset="0"/>
                <a:ea typeface="Calibri" pitchFamily="34" charset="-122"/>
                <a:cs typeface="Calibri" pitchFamily="34" charset="-120"/>
              </a:rPr>
              <a:t>API gateway = receiving desk. Checks identity, rate limits, safety screen; staples together system instructions + past conversation + your question.</a:t>
            </a:r>
            <a:endParaRPr lang="en-US" sz="1250" dirty="0"/>
          </a:p>
        </p:txBody>
      </p:sp>
      <p:sp>
        <p:nvSpPr>
          <p:cNvPr id="10" name="Shape 8"/>
          <p:cNvSpPr/>
          <p:nvPr/>
        </p:nvSpPr>
        <p:spPr>
          <a:xfrm>
            <a:off x="502920" y="3026664"/>
            <a:ext cx="384048" cy="384048"/>
          </a:xfrm>
          <a:prstGeom prst="ellipse">
            <a:avLst/>
          </a:prstGeom>
          <a:solidFill>
            <a:srgbClr val="13202F"/>
          </a:solidFill>
          <a:ln/>
        </p:spPr>
      </p:sp>
      <p:sp>
        <p:nvSpPr>
          <p:cNvPr id="11" name="Text 9"/>
          <p:cNvSpPr txBox="1"/>
          <p:nvPr/>
        </p:nvSpPr>
        <p:spPr>
          <a:xfrm>
            <a:off x="502920" y="30129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051560" y="2999232"/>
            <a:ext cx="10607040" cy="713232"/>
          </a:xfrm>
          <a:prstGeom prst="rect">
            <a:avLst/>
          </a:prstGeom>
          <a:noFill/>
          <a:ln/>
        </p:spPr>
        <p:txBody>
          <a:bodyPr wrap="square" lIns="0" tIns="0" rIns="0" bIns="0" rtlCol="0" anchor="t"/>
          <a:lstStyle/>
          <a:p>
            <a:pPr indent="0" marL="0">
              <a:lnSpc>
                <a:spcPct val="105000"/>
              </a:lnSpc>
              <a:buNone/>
            </a:pPr>
            <a:r>
              <a:rPr lang="en-US" sz="1250" b="1" dirty="0">
                <a:solidFill>
                  <a:srgbClr val="1A2430"/>
                </a:solidFill>
                <a:latin typeface="Calibri" pitchFamily="34" charset="0"/>
                <a:ea typeface="Calibri" pitchFamily="34" charset="-122"/>
                <a:cs typeface="Calibri" pitchFamily="34" charset="-120"/>
              </a:rPr>
              <a:t>Tokenization  </a:t>
            </a:r>
            <a:pPr indent="0" marL="0">
              <a:lnSpc>
                <a:spcPct val="105000"/>
              </a:lnSpc>
              <a:buNone/>
            </a:pPr>
            <a:r>
              <a:rPr lang="en-US" sz="1150" dirty="0">
                <a:solidFill>
                  <a:srgbClr val="5A6B7D"/>
                </a:solidFill>
                <a:latin typeface="Calibri" pitchFamily="34" charset="0"/>
                <a:ea typeface="Calibri" pitchFamily="34" charset="-122"/>
                <a:cs typeface="Calibri" pitchFamily="34" charset="-120"/>
              </a:rPr>
              <a:t>Text chopped into tokens and converted to numbers. From here on, everything is math.</a:t>
            </a:r>
            <a:endParaRPr lang="en-US" sz="1250" dirty="0"/>
          </a:p>
        </p:txBody>
      </p:sp>
      <p:sp>
        <p:nvSpPr>
          <p:cNvPr id="13" name="Shape 11"/>
          <p:cNvSpPr/>
          <p:nvPr/>
        </p:nvSpPr>
        <p:spPr>
          <a:xfrm>
            <a:off x="502920" y="3749040"/>
            <a:ext cx="384048" cy="384048"/>
          </a:xfrm>
          <a:prstGeom prst="ellipse">
            <a:avLst/>
          </a:prstGeom>
          <a:solidFill>
            <a:srgbClr val="F0A431"/>
          </a:solidFill>
          <a:ln/>
        </p:spPr>
      </p:sp>
      <p:sp>
        <p:nvSpPr>
          <p:cNvPr id="14" name="Text 12"/>
          <p:cNvSpPr txBox="1"/>
          <p:nvPr/>
        </p:nvSpPr>
        <p:spPr>
          <a:xfrm>
            <a:off x="502920" y="373532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051560" y="3721608"/>
            <a:ext cx="10607040" cy="713232"/>
          </a:xfrm>
          <a:prstGeom prst="rect">
            <a:avLst/>
          </a:prstGeom>
          <a:noFill/>
          <a:ln/>
        </p:spPr>
        <p:txBody>
          <a:bodyPr wrap="square" lIns="0" tIns="0" rIns="0" bIns="0" rtlCol="0" anchor="t"/>
          <a:lstStyle/>
          <a:p>
            <a:pPr indent="0" marL="0">
              <a:lnSpc>
                <a:spcPct val="105000"/>
              </a:lnSpc>
              <a:buNone/>
            </a:pPr>
            <a:r>
              <a:rPr lang="en-US" sz="1250" b="1" dirty="0">
                <a:solidFill>
                  <a:srgbClr val="1A2430"/>
                </a:solidFill>
                <a:latin typeface="Calibri" pitchFamily="34" charset="0"/>
                <a:ea typeface="Calibri" pitchFamily="34" charset="-122"/>
                <a:cs typeface="Calibri" pitchFamily="34" charset="-120"/>
              </a:rPr>
              <a:t>Prefill — the model READS  </a:t>
            </a:r>
            <a:pPr indent="0" marL="0">
              <a:lnSpc>
                <a:spcPct val="105000"/>
              </a:lnSpc>
              <a:buNone/>
            </a:pPr>
            <a:r>
              <a:rPr lang="en-US" sz="1150" dirty="0">
                <a:solidFill>
                  <a:srgbClr val="5A6B7D"/>
                </a:solidFill>
                <a:latin typeface="Calibri" pitchFamily="34" charset="0"/>
                <a:ea typeface="Calibri" pitchFamily="34" charset="-122"/>
                <a:cs typeface="Calibri" pitchFamily="34" charset="-120"/>
              </a:rPr>
              <a:t>Reads the whole prompt at once, in parallel — a burst of billions of calculations. Produces the KV CACHE: the model's working memory of your conversation. The pause before the first word appears IS prefill.</a:t>
            </a:r>
            <a:endParaRPr lang="en-US" sz="1250" dirty="0"/>
          </a:p>
        </p:txBody>
      </p:sp>
      <p:sp>
        <p:nvSpPr>
          <p:cNvPr id="16" name="Shape 14"/>
          <p:cNvSpPr/>
          <p:nvPr/>
        </p:nvSpPr>
        <p:spPr>
          <a:xfrm>
            <a:off x="502920" y="4471416"/>
            <a:ext cx="384048" cy="384048"/>
          </a:xfrm>
          <a:prstGeom prst="ellipse">
            <a:avLst/>
          </a:prstGeom>
          <a:solidFill>
            <a:srgbClr val="F0A431"/>
          </a:solidFill>
          <a:ln/>
        </p:spPr>
      </p:sp>
      <p:sp>
        <p:nvSpPr>
          <p:cNvPr id="17" name="Text 15"/>
          <p:cNvSpPr txBox="1"/>
          <p:nvPr/>
        </p:nvSpPr>
        <p:spPr>
          <a:xfrm>
            <a:off x="502920" y="44577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051560" y="4443984"/>
            <a:ext cx="10607040" cy="713232"/>
          </a:xfrm>
          <a:prstGeom prst="rect">
            <a:avLst/>
          </a:prstGeom>
          <a:noFill/>
          <a:ln/>
        </p:spPr>
        <p:txBody>
          <a:bodyPr wrap="square" lIns="0" tIns="0" rIns="0" bIns="0" rtlCol="0" anchor="t"/>
          <a:lstStyle/>
          <a:p>
            <a:pPr indent="0" marL="0">
              <a:lnSpc>
                <a:spcPct val="105000"/>
              </a:lnSpc>
              <a:buNone/>
            </a:pPr>
            <a:r>
              <a:rPr lang="en-US" sz="1250" b="1" dirty="0">
                <a:solidFill>
                  <a:srgbClr val="1A2430"/>
                </a:solidFill>
                <a:latin typeface="Calibri" pitchFamily="34" charset="0"/>
                <a:ea typeface="Calibri" pitchFamily="34" charset="-122"/>
                <a:cs typeface="Calibri" pitchFamily="34" charset="-120"/>
              </a:rPr>
              <a:t>Decode — the model WRITES  </a:t>
            </a:r>
            <a:pPr indent="0" marL="0">
              <a:lnSpc>
                <a:spcPct val="105000"/>
              </a:lnSpc>
              <a:buNone/>
            </a:pPr>
            <a:r>
              <a:rPr lang="en-US" sz="1150" dirty="0">
                <a:solidFill>
                  <a:srgbClr val="5A6B7D"/>
                </a:solidFill>
                <a:latin typeface="Calibri" pitchFamily="34" charset="0"/>
                <a:ea typeface="Calibri" pitchFamily="34" charset="-122"/>
                <a:cs typeface="Calibri" pitchFamily="34" charset="-120"/>
              </a:rPr>
              <a:t>One token at a time. Each word = a full pass through the entire network — hundreds of billions of calculations — then again for the next word. Watching the answer type itself = watching an assembly line run in real time.</a:t>
            </a:r>
            <a:endParaRPr lang="en-US" sz="1250" dirty="0"/>
          </a:p>
        </p:txBody>
      </p:sp>
      <p:sp>
        <p:nvSpPr>
          <p:cNvPr id="19" name="Shape 17"/>
          <p:cNvSpPr/>
          <p:nvPr/>
        </p:nvSpPr>
        <p:spPr>
          <a:xfrm>
            <a:off x="502920" y="5193792"/>
            <a:ext cx="384048" cy="384048"/>
          </a:xfrm>
          <a:prstGeom prst="ellipse">
            <a:avLst/>
          </a:prstGeom>
          <a:solidFill>
            <a:srgbClr val="13202F"/>
          </a:solidFill>
          <a:ln/>
        </p:spPr>
      </p:sp>
      <p:sp>
        <p:nvSpPr>
          <p:cNvPr id="20" name="Text 18"/>
          <p:cNvSpPr txBox="1"/>
          <p:nvPr/>
        </p:nvSpPr>
        <p:spPr>
          <a:xfrm>
            <a:off x="502920" y="518007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051560" y="5166360"/>
            <a:ext cx="10607040" cy="713232"/>
          </a:xfrm>
          <a:prstGeom prst="rect">
            <a:avLst/>
          </a:prstGeom>
          <a:noFill/>
          <a:ln/>
        </p:spPr>
        <p:txBody>
          <a:bodyPr wrap="square" lIns="0" tIns="0" rIns="0" bIns="0" rtlCol="0" anchor="t"/>
          <a:lstStyle/>
          <a:p>
            <a:pPr indent="0" marL="0">
              <a:lnSpc>
                <a:spcPct val="105000"/>
              </a:lnSpc>
              <a:buNone/>
            </a:pPr>
            <a:r>
              <a:rPr lang="en-US" sz="1250" b="1" dirty="0">
                <a:solidFill>
                  <a:srgbClr val="1A2430"/>
                </a:solidFill>
                <a:latin typeface="Calibri" pitchFamily="34" charset="0"/>
                <a:ea typeface="Calibri" pitchFamily="34" charset="-122"/>
                <a:cs typeface="Calibri" pitchFamily="34" charset="-120"/>
              </a:rPr>
              <a:t>The trip home  </a:t>
            </a:r>
            <a:pPr indent="0" marL="0">
              <a:lnSpc>
                <a:spcPct val="105000"/>
              </a:lnSpc>
              <a:buNone/>
            </a:pPr>
            <a:r>
              <a:rPr lang="en-US" sz="1150" dirty="0">
                <a:solidFill>
                  <a:srgbClr val="5A6B7D"/>
                </a:solidFill>
                <a:latin typeface="Calibri" pitchFamily="34" charset="0"/>
                <a:ea typeface="Calibri" pitchFamily="34" charset="-122"/>
                <a:cs typeface="Calibri" pitchFamily="34" charset="-120"/>
              </a:rPr>
              <a:t>Each token streams back through the same fibre. ~2 seconds total.</a:t>
            </a:r>
            <a:endParaRPr lang="en-US" sz="1250" dirty="0"/>
          </a:p>
        </p:txBody>
      </p:sp>
      <p:sp>
        <p:nvSpPr>
          <p:cNvPr id="22" name="Shape 20"/>
          <p:cNvSpPr/>
          <p:nvPr/>
        </p:nvSpPr>
        <p:spPr>
          <a:xfrm>
            <a:off x="502920" y="5943600"/>
            <a:ext cx="11155680" cy="502920"/>
          </a:xfrm>
          <a:prstGeom prst="roundRect">
            <a:avLst>
              <a:gd name="adj" fmla="val 10909"/>
            </a:avLst>
          </a:prstGeom>
          <a:solidFill>
            <a:srgbClr val="D8E6F2"/>
          </a:solidFill>
          <a:ln/>
        </p:spPr>
      </p:sp>
      <p:sp>
        <p:nvSpPr>
          <p:cNvPr id="23" name="Text 21"/>
          <p:cNvSpPr txBox="1"/>
          <p:nvPr/>
        </p:nvSpPr>
        <p:spPr>
          <a:xfrm>
            <a:off x="685800" y="5989320"/>
            <a:ext cx="10789920" cy="411480"/>
          </a:xfrm>
          <a:prstGeom prst="rect">
            <a:avLst/>
          </a:prstGeom>
          <a:noFill/>
          <a:ln/>
        </p:spPr>
        <p:txBody>
          <a:bodyPr wrap="square" lIns="0" tIns="0" rIns="0" bIns="0" rtlCol="0" anchor="ctr"/>
          <a:lstStyle/>
          <a:p>
            <a:pPr indent="0" marL="0">
              <a:buNone/>
            </a:pPr>
            <a:r>
              <a:rPr lang="en-US" sz="1050" b="1" dirty="0">
                <a:solidFill>
                  <a:srgbClr val="13202F"/>
                </a:solidFill>
                <a:latin typeface="Calibri" pitchFamily="34" charset="0"/>
                <a:ea typeface="Calibri" pitchFamily="34" charset="-122"/>
                <a:cs typeface="Calibri" pitchFamily="34" charset="-120"/>
              </a:rPr>
              <a:t>Behind the curtain: BATCHING — your question is grouped with hundreds of strangers' on the same chip, like a delivery driver grouping orders. It is the difference between your query costing cents and costing dollars.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202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F0A431"/>
                </a:solidFill>
                <a:latin typeface="Calibri" pitchFamily="34" charset="0"/>
                <a:ea typeface="Calibri" pitchFamily="34" charset="-122"/>
                <a:cs typeface="Calibri" pitchFamily="34" charset="-120"/>
              </a:rPr>
              <a:t>THE MASTER MAP</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factory in layers: electrons in, tokens out</a:t>
            </a:r>
            <a:endParaRPr lang="en-US" sz="3000" dirty="0"/>
          </a:p>
        </p:txBody>
      </p:sp>
      <p:sp>
        <p:nvSpPr>
          <p:cNvPr id="4" name="Shape 2"/>
          <p:cNvSpPr/>
          <p:nvPr/>
        </p:nvSpPr>
        <p:spPr>
          <a:xfrm>
            <a:off x="731520" y="1600200"/>
            <a:ext cx="10698480" cy="566928"/>
          </a:xfrm>
          <a:prstGeom prst="roundRect">
            <a:avLst>
              <a:gd name="adj" fmla="val 8065"/>
            </a:avLst>
          </a:prstGeom>
          <a:solidFill>
            <a:srgbClr val="1C2E42"/>
          </a:solidFill>
          <a:ln/>
        </p:spPr>
      </p:sp>
      <p:sp>
        <p:nvSpPr>
          <p:cNvPr id="5" name="Shape 3"/>
          <p:cNvSpPr/>
          <p:nvPr/>
        </p:nvSpPr>
        <p:spPr>
          <a:xfrm>
            <a:off x="914400" y="1709928"/>
            <a:ext cx="347472" cy="347472"/>
          </a:xfrm>
          <a:prstGeom prst="ellipse">
            <a:avLst/>
          </a:prstGeom>
          <a:solidFill>
            <a:srgbClr val="F0A431"/>
          </a:solidFill>
          <a:ln/>
        </p:spPr>
      </p:sp>
      <p:sp>
        <p:nvSpPr>
          <p:cNvPr id="6" name="Text 4"/>
          <p:cNvSpPr txBox="1"/>
          <p:nvPr/>
        </p:nvSpPr>
        <p:spPr>
          <a:xfrm>
            <a:off x="914400" y="169164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63040" y="1600200"/>
            <a:ext cx="237744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Power</a:t>
            </a:r>
            <a:endParaRPr lang="en-US" sz="1500" dirty="0"/>
          </a:p>
        </p:txBody>
      </p:sp>
      <p:sp>
        <p:nvSpPr>
          <p:cNvPr id="8" name="Text 6"/>
          <p:cNvSpPr txBox="1"/>
          <p:nvPr/>
        </p:nvSpPr>
        <p:spPr>
          <a:xfrm>
            <a:off x="4023360" y="1600200"/>
            <a:ext cx="7223760" cy="566928"/>
          </a:xfrm>
          <a:prstGeom prst="rect">
            <a:avLst/>
          </a:prstGeom>
          <a:noFill/>
          <a:ln/>
        </p:spPr>
        <p:txBody>
          <a:bodyPr wrap="square" lIns="0" tIns="0" rIns="0" bIns="0" rtlCol="0" anchor="ctr"/>
          <a:lstStyle/>
          <a:p>
            <a:pPr indent="0" marL="0">
              <a:buNone/>
            </a:pPr>
            <a:r>
              <a:rPr lang="en-US" sz="1200" dirty="0">
                <a:solidFill>
                  <a:srgbClr val="D8E6F2"/>
                </a:solidFill>
                <a:latin typeface="Calibri" pitchFamily="34" charset="0"/>
                <a:ea typeface="Calibri" pitchFamily="34" charset="-122"/>
                <a:cs typeface="Calibri" pitchFamily="34" charset="-120"/>
              </a:rPr>
              <a:t>Generation, grid connection, transformers, UPS</a:t>
            </a:r>
            <a:endParaRPr lang="en-US" sz="1200" dirty="0"/>
          </a:p>
        </p:txBody>
      </p:sp>
      <p:sp>
        <p:nvSpPr>
          <p:cNvPr id="9" name="Shape 7"/>
          <p:cNvSpPr/>
          <p:nvPr/>
        </p:nvSpPr>
        <p:spPr>
          <a:xfrm>
            <a:off x="731520" y="2258568"/>
            <a:ext cx="10698480" cy="566928"/>
          </a:xfrm>
          <a:prstGeom prst="roundRect">
            <a:avLst>
              <a:gd name="adj" fmla="val 8065"/>
            </a:avLst>
          </a:prstGeom>
          <a:solidFill>
            <a:srgbClr val="1C2E42"/>
          </a:solidFill>
          <a:ln/>
        </p:spPr>
      </p:sp>
      <p:sp>
        <p:nvSpPr>
          <p:cNvPr id="10" name="Shape 8"/>
          <p:cNvSpPr/>
          <p:nvPr/>
        </p:nvSpPr>
        <p:spPr>
          <a:xfrm>
            <a:off x="914400" y="2368296"/>
            <a:ext cx="347472" cy="347472"/>
          </a:xfrm>
          <a:prstGeom prst="ellipse">
            <a:avLst/>
          </a:prstGeom>
          <a:solidFill>
            <a:srgbClr val="2E8C97"/>
          </a:solidFill>
          <a:ln/>
        </p:spPr>
      </p:sp>
      <p:sp>
        <p:nvSpPr>
          <p:cNvPr id="11" name="Text 9"/>
          <p:cNvSpPr txBox="1"/>
          <p:nvPr/>
        </p:nvSpPr>
        <p:spPr>
          <a:xfrm>
            <a:off x="914400" y="235000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463040" y="2258568"/>
            <a:ext cx="237744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Cooling</a:t>
            </a:r>
            <a:endParaRPr lang="en-US" sz="1500" dirty="0"/>
          </a:p>
        </p:txBody>
      </p:sp>
      <p:sp>
        <p:nvSpPr>
          <p:cNvPr id="13" name="Text 11"/>
          <p:cNvSpPr txBox="1"/>
          <p:nvPr/>
        </p:nvSpPr>
        <p:spPr>
          <a:xfrm>
            <a:off x="4023360" y="2258568"/>
            <a:ext cx="7223760" cy="566928"/>
          </a:xfrm>
          <a:prstGeom prst="rect">
            <a:avLst/>
          </a:prstGeom>
          <a:noFill/>
          <a:ln/>
        </p:spPr>
        <p:txBody>
          <a:bodyPr wrap="square" lIns="0" tIns="0" rIns="0" bIns="0" rtlCol="0" anchor="ctr"/>
          <a:lstStyle/>
          <a:p>
            <a:pPr indent="0" marL="0">
              <a:buNone/>
            </a:pPr>
            <a:r>
              <a:rPr lang="en-US" sz="1200" dirty="0">
                <a:solidFill>
                  <a:srgbClr val="D8E6F2"/>
                </a:solidFill>
                <a:latin typeface="Calibri" pitchFamily="34" charset="0"/>
                <a:ea typeface="Calibri" pitchFamily="34" charset="-122"/>
                <a:cs typeface="Calibri" pitchFamily="34" charset="-120"/>
              </a:rPr>
              <a:t>Liquid loops, CDUs, chillers — half the job</a:t>
            </a:r>
            <a:endParaRPr lang="en-US" sz="1200" dirty="0"/>
          </a:p>
        </p:txBody>
      </p:sp>
      <p:sp>
        <p:nvSpPr>
          <p:cNvPr id="14" name="Shape 12"/>
          <p:cNvSpPr/>
          <p:nvPr/>
        </p:nvSpPr>
        <p:spPr>
          <a:xfrm>
            <a:off x="731520" y="2916936"/>
            <a:ext cx="10698480" cy="566928"/>
          </a:xfrm>
          <a:prstGeom prst="roundRect">
            <a:avLst>
              <a:gd name="adj" fmla="val 8065"/>
            </a:avLst>
          </a:prstGeom>
          <a:solidFill>
            <a:srgbClr val="1C2E42"/>
          </a:solidFill>
          <a:ln/>
        </p:spPr>
      </p:sp>
      <p:sp>
        <p:nvSpPr>
          <p:cNvPr id="15" name="Shape 13"/>
          <p:cNvSpPr/>
          <p:nvPr/>
        </p:nvSpPr>
        <p:spPr>
          <a:xfrm>
            <a:off x="914400" y="3026664"/>
            <a:ext cx="347472" cy="347472"/>
          </a:xfrm>
          <a:prstGeom prst="ellipse">
            <a:avLst/>
          </a:prstGeom>
          <a:solidFill>
            <a:srgbClr val="E4653F"/>
          </a:solidFill>
          <a:ln/>
        </p:spPr>
      </p:sp>
      <p:sp>
        <p:nvSpPr>
          <p:cNvPr id="16" name="Text 14"/>
          <p:cNvSpPr txBox="1"/>
          <p:nvPr/>
        </p:nvSpPr>
        <p:spPr>
          <a:xfrm>
            <a:off x="914400" y="30083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63040" y="2916936"/>
            <a:ext cx="237744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Compute</a:t>
            </a:r>
            <a:endParaRPr lang="en-US" sz="1500" dirty="0"/>
          </a:p>
        </p:txBody>
      </p:sp>
      <p:sp>
        <p:nvSpPr>
          <p:cNvPr id="18" name="Text 16"/>
          <p:cNvSpPr txBox="1"/>
          <p:nvPr/>
        </p:nvSpPr>
        <p:spPr>
          <a:xfrm>
            <a:off x="4023360" y="2916936"/>
            <a:ext cx="7223760" cy="566928"/>
          </a:xfrm>
          <a:prstGeom prst="rect">
            <a:avLst/>
          </a:prstGeom>
          <a:noFill/>
          <a:ln/>
        </p:spPr>
        <p:txBody>
          <a:bodyPr wrap="square" lIns="0" tIns="0" rIns="0" bIns="0" rtlCol="0" anchor="ctr"/>
          <a:lstStyle/>
          <a:p>
            <a:pPr indent="0" marL="0">
              <a:buNone/>
            </a:pPr>
            <a:r>
              <a:rPr lang="en-US" sz="1200" dirty="0">
                <a:solidFill>
                  <a:srgbClr val="D8E6F2"/>
                </a:solidFill>
                <a:latin typeface="Calibri" pitchFamily="34" charset="0"/>
                <a:ea typeface="Calibri" pitchFamily="34" charset="-122"/>
                <a:cs typeface="Calibri" pitchFamily="34" charset="-120"/>
              </a:rPr>
              <a:t>GPUs, CPUs — the line cooks and the head chef</a:t>
            </a:r>
            <a:endParaRPr lang="en-US" sz="1200" dirty="0"/>
          </a:p>
        </p:txBody>
      </p:sp>
      <p:sp>
        <p:nvSpPr>
          <p:cNvPr id="19" name="Shape 17"/>
          <p:cNvSpPr/>
          <p:nvPr/>
        </p:nvSpPr>
        <p:spPr>
          <a:xfrm>
            <a:off x="731520" y="3575304"/>
            <a:ext cx="10698480" cy="566928"/>
          </a:xfrm>
          <a:prstGeom prst="roundRect">
            <a:avLst>
              <a:gd name="adj" fmla="val 8065"/>
            </a:avLst>
          </a:prstGeom>
          <a:solidFill>
            <a:srgbClr val="1C2E42"/>
          </a:solidFill>
          <a:ln/>
        </p:spPr>
      </p:sp>
      <p:sp>
        <p:nvSpPr>
          <p:cNvPr id="20" name="Shape 18"/>
          <p:cNvSpPr/>
          <p:nvPr/>
        </p:nvSpPr>
        <p:spPr>
          <a:xfrm>
            <a:off x="914400" y="3685032"/>
            <a:ext cx="347472" cy="347472"/>
          </a:xfrm>
          <a:prstGeom prst="ellipse">
            <a:avLst/>
          </a:prstGeom>
          <a:solidFill>
            <a:srgbClr val="C4574E"/>
          </a:solidFill>
          <a:ln/>
        </p:spPr>
      </p:sp>
      <p:sp>
        <p:nvSpPr>
          <p:cNvPr id="21" name="Text 19"/>
          <p:cNvSpPr txBox="1"/>
          <p:nvPr/>
        </p:nvSpPr>
        <p:spPr>
          <a:xfrm>
            <a:off x="914400" y="3666744"/>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463040" y="3575304"/>
            <a:ext cx="237744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Memory &amp; storage</a:t>
            </a:r>
            <a:endParaRPr lang="en-US" sz="1500" dirty="0"/>
          </a:p>
        </p:txBody>
      </p:sp>
      <p:sp>
        <p:nvSpPr>
          <p:cNvPr id="23" name="Text 21"/>
          <p:cNvSpPr txBox="1"/>
          <p:nvPr/>
        </p:nvSpPr>
        <p:spPr>
          <a:xfrm>
            <a:off x="4023360" y="3575304"/>
            <a:ext cx="7223760" cy="566928"/>
          </a:xfrm>
          <a:prstGeom prst="rect">
            <a:avLst/>
          </a:prstGeom>
          <a:noFill/>
          <a:ln/>
        </p:spPr>
        <p:txBody>
          <a:bodyPr wrap="square" lIns="0" tIns="0" rIns="0" bIns="0" rtlCol="0" anchor="ctr"/>
          <a:lstStyle/>
          <a:p>
            <a:pPr indent="0" marL="0">
              <a:buNone/>
            </a:pPr>
            <a:r>
              <a:rPr lang="en-US" sz="1200" dirty="0">
                <a:solidFill>
                  <a:srgbClr val="D8E6F2"/>
                </a:solidFill>
                <a:latin typeface="Calibri" pitchFamily="34" charset="0"/>
                <a:ea typeface="Calibri" pitchFamily="34" charset="-122"/>
                <a:cs typeface="Calibri" pitchFamily="34" charset="-120"/>
              </a:rPr>
              <a:t>HBM beside the chip; SSDs and hard drives behind it</a:t>
            </a:r>
            <a:endParaRPr lang="en-US" sz="1200" dirty="0"/>
          </a:p>
        </p:txBody>
      </p:sp>
      <p:sp>
        <p:nvSpPr>
          <p:cNvPr id="24" name="Shape 22"/>
          <p:cNvSpPr/>
          <p:nvPr/>
        </p:nvSpPr>
        <p:spPr>
          <a:xfrm>
            <a:off x="731520" y="4233672"/>
            <a:ext cx="10698480" cy="566928"/>
          </a:xfrm>
          <a:prstGeom prst="roundRect">
            <a:avLst>
              <a:gd name="adj" fmla="val 8065"/>
            </a:avLst>
          </a:prstGeom>
          <a:solidFill>
            <a:srgbClr val="1C2E42"/>
          </a:solidFill>
          <a:ln/>
        </p:spPr>
      </p:sp>
      <p:sp>
        <p:nvSpPr>
          <p:cNvPr id="25" name="Shape 23"/>
          <p:cNvSpPr/>
          <p:nvPr/>
        </p:nvSpPr>
        <p:spPr>
          <a:xfrm>
            <a:off x="914400" y="4343400"/>
            <a:ext cx="347472" cy="347472"/>
          </a:xfrm>
          <a:prstGeom prst="ellipse">
            <a:avLst/>
          </a:prstGeom>
          <a:solidFill>
            <a:srgbClr val="7A5FA0"/>
          </a:solidFill>
          <a:ln/>
        </p:spPr>
      </p:sp>
      <p:sp>
        <p:nvSpPr>
          <p:cNvPr id="26" name="Text 24"/>
          <p:cNvSpPr txBox="1"/>
          <p:nvPr/>
        </p:nvSpPr>
        <p:spPr>
          <a:xfrm>
            <a:off x="914400" y="43251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463040" y="4233672"/>
            <a:ext cx="237744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Networking</a:t>
            </a:r>
            <a:endParaRPr lang="en-US" sz="1500" dirty="0"/>
          </a:p>
        </p:txBody>
      </p:sp>
      <p:sp>
        <p:nvSpPr>
          <p:cNvPr id="28" name="Text 26"/>
          <p:cNvSpPr txBox="1"/>
          <p:nvPr/>
        </p:nvSpPr>
        <p:spPr>
          <a:xfrm>
            <a:off x="4023360" y="4233672"/>
            <a:ext cx="7223760" cy="566928"/>
          </a:xfrm>
          <a:prstGeom prst="rect">
            <a:avLst/>
          </a:prstGeom>
          <a:noFill/>
          <a:ln/>
        </p:spPr>
        <p:txBody>
          <a:bodyPr wrap="square" lIns="0" tIns="0" rIns="0" bIns="0" rtlCol="0" anchor="ctr"/>
          <a:lstStyle/>
          <a:p>
            <a:pPr indent="0" marL="0">
              <a:buNone/>
            </a:pPr>
            <a:r>
              <a:rPr lang="en-US" sz="1200" dirty="0">
                <a:solidFill>
                  <a:srgbClr val="D8E6F2"/>
                </a:solidFill>
                <a:latin typeface="Calibri" pitchFamily="34" charset="0"/>
                <a:ea typeface="Calibri" pitchFamily="34" charset="-122"/>
                <a:cs typeface="Calibri" pitchFamily="34" charset="-120"/>
              </a:rPr>
              <a:t>NVLink, Ethernet, optics — 10,000 chips, one thought</a:t>
            </a:r>
            <a:endParaRPr lang="en-US" sz="1200" dirty="0"/>
          </a:p>
        </p:txBody>
      </p:sp>
      <p:sp>
        <p:nvSpPr>
          <p:cNvPr id="29" name="Shape 27"/>
          <p:cNvSpPr/>
          <p:nvPr/>
        </p:nvSpPr>
        <p:spPr>
          <a:xfrm>
            <a:off x="731520" y="4892040"/>
            <a:ext cx="10698480" cy="566928"/>
          </a:xfrm>
          <a:prstGeom prst="roundRect">
            <a:avLst>
              <a:gd name="adj" fmla="val 8065"/>
            </a:avLst>
          </a:prstGeom>
          <a:solidFill>
            <a:srgbClr val="1C2E42"/>
          </a:solidFill>
          <a:ln/>
        </p:spPr>
      </p:sp>
      <p:sp>
        <p:nvSpPr>
          <p:cNvPr id="30" name="Shape 28"/>
          <p:cNvSpPr/>
          <p:nvPr/>
        </p:nvSpPr>
        <p:spPr>
          <a:xfrm>
            <a:off x="914400" y="5001768"/>
            <a:ext cx="347472" cy="347472"/>
          </a:xfrm>
          <a:prstGeom prst="ellipse">
            <a:avLst/>
          </a:prstGeom>
          <a:solidFill>
            <a:srgbClr val="4A7FB5"/>
          </a:solidFill>
          <a:ln/>
        </p:spPr>
      </p:sp>
      <p:sp>
        <p:nvSpPr>
          <p:cNvPr id="31" name="Text 29"/>
          <p:cNvSpPr txBox="1"/>
          <p:nvPr/>
        </p:nvSpPr>
        <p:spPr>
          <a:xfrm>
            <a:off x="914400" y="4983480"/>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1463040" y="4892040"/>
            <a:ext cx="237744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Software</a:t>
            </a:r>
            <a:endParaRPr lang="en-US" sz="1500" dirty="0"/>
          </a:p>
        </p:txBody>
      </p:sp>
      <p:sp>
        <p:nvSpPr>
          <p:cNvPr id="33" name="Text 31"/>
          <p:cNvSpPr txBox="1"/>
          <p:nvPr/>
        </p:nvSpPr>
        <p:spPr>
          <a:xfrm>
            <a:off x="4023360" y="4892040"/>
            <a:ext cx="7223760" cy="566928"/>
          </a:xfrm>
          <a:prstGeom prst="rect">
            <a:avLst/>
          </a:prstGeom>
          <a:noFill/>
          <a:ln/>
        </p:spPr>
        <p:txBody>
          <a:bodyPr wrap="square" lIns="0" tIns="0" rIns="0" bIns="0" rtlCol="0" anchor="ctr"/>
          <a:lstStyle/>
          <a:p>
            <a:pPr indent="0" marL="0">
              <a:buNone/>
            </a:pPr>
            <a:r>
              <a:rPr lang="en-US" sz="1200" dirty="0">
                <a:solidFill>
                  <a:srgbClr val="D8E6F2"/>
                </a:solidFill>
                <a:latin typeface="Calibri" pitchFamily="34" charset="0"/>
                <a:ea typeface="Calibri" pitchFamily="34" charset="-122"/>
                <a:cs typeface="Calibri" pitchFamily="34" charset="-120"/>
              </a:rPr>
              <a:t>CUDA, serving engines, orchestration — the moat</a:t>
            </a:r>
            <a:endParaRPr lang="en-US" sz="1200" dirty="0"/>
          </a:p>
        </p:txBody>
      </p:sp>
      <p:sp>
        <p:nvSpPr>
          <p:cNvPr id="34" name="Shape 32"/>
          <p:cNvSpPr/>
          <p:nvPr/>
        </p:nvSpPr>
        <p:spPr>
          <a:xfrm>
            <a:off x="731520" y="5550408"/>
            <a:ext cx="10698480" cy="566928"/>
          </a:xfrm>
          <a:prstGeom prst="roundRect">
            <a:avLst>
              <a:gd name="adj" fmla="val 8065"/>
            </a:avLst>
          </a:prstGeom>
          <a:solidFill>
            <a:srgbClr val="1C2E42"/>
          </a:solidFill>
          <a:ln/>
        </p:spPr>
      </p:sp>
      <p:sp>
        <p:nvSpPr>
          <p:cNvPr id="35" name="Shape 33"/>
          <p:cNvSpPr/>
          <p:nvPr/>
        </p:nvSpPr>
        <p:spPr>
          <a:xfrm>
            <a:off x="914400" y="5660136"/>
            <a:ext cx="347472" cy="347472"/>
          </a:xfrm>
          <a:prstGeom prst="ellipse">
            <a:avLst/>
          </a:prstGeom>
          <a:solidFill>
            <a:srgbClr val="3E8E5A"/>
          </a:solidFill>
          <a:ln/>
        </p:spPr>
      </p:sp>
      <p:sp>
        <p:nvSpPr>
          <p:cNvPr id="36" name="Text 34"/>
          <p:cNvSpPr txBox="1"/>
          <p:nvPr/>
        </p:nvSpPr>
        <p:spPr>
          <a:xfrm>
            <a:off x="914400" y="5641848"/>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1463040" y="5550408"/>
            <a:ext cx="2377440" cy="56692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Models &amp; apps</a:t>
            </a:r>
            <a:endParaRPr lang="en-US" sz="1500" dirty="0"/>
          </a:p>
        </p:txBody>
      </p:sp>
      <p:sp>
        <p:nvSpPr>
          <p:cNvPr id="38" name="Text 36"/>
          <p:cNvSpPr txBox="1"/>
          <p:nvPr/>
        </p:nvSpPr>
        <p:spPr>
          <a:xfrm>
            <a:off x="4023360" y="5550408"/>
            <a:ext cx="7223760" cy="566928"/>
          </a:xfrm>
          <a:prstGeom prst="rect">
            <a:avLst/>
          </a:prstGeom>
          <a:noFill/>
          <a:ln/>
        </p:spPr>
        <p:txBody>
          <a:bodyPr wrap="square" lIns="0" tIns="0" rIns="0" bIns="0" rtlCol="0" anchor="ctr"/>
          <a:lstStyle/>
          <a:p>
            <a:pPr indent="0" marL="0">
              <a:buNone/>
            </a:pPr>
            <a:r>
              <a:rPr lang="en-US" sz="1200" dirty="0">
                <a:solidFill>
                  <a:srgbClr val="D8E6F2"/>
                </a:solidFill>
                <a:latin typeface="Calibri" pitchFamily="34" charset="0"/>
                <a:ea typeface="Calibri" pitchFamily="34" charset="-122"/>
                <a:cs typeface="Calibri" pitchFamily="34" charset="-120"/>
              </a:rPr>
              <a:t>The labs, the APIs, the $20/month subscriptions</a:t>
            </a:r>
            <a:endParaRPr lang="en-US" sz="1200" dirty="0"/>
          </a:p>
        </p:txBody>
      </p:sp>
      <p:sp>
        <p:nvSpPr>
          <p:cNvPr id="39" name="Text 37"/>
          <p:cNvSpPr txBox="1"/>
          <p:nvPr/>
        </p:nvSpPr>
        <p:spPr>
          <a:xfrm>
            <a:off x="731520" y="6254496"/>
            <a:ext cx="10698480" cy="548640"/>
          </a:xfrm>
          <a:prstGeom prst="rect">
            <a:avLst/>
          </a:prstGeom>
          <a:noFill/>
          <a:ln/>
        </p:spPr>
        <p:txBody>
          <a:bodyPr wrap="square" lIns="0" tIns="0" rIns="0" bIns="0" rtlCol="0" anchor="ctr"/>
          <a:lstStyle/>
          <a:p>
            <a:pPr indent="0" marL="0">
              <a:lnSpc>
                <a:spcPct val="110000"/>
              </a:lnSpc>
              <a:buNone/>
            </a:pPr>
            <a:r>
              <a:rPr lang="en-US" sz="1250" i="1" dirty="0">
                <a:solidFill>
                  <a:srgbClr val="F0A431"/>
                </a:solidFill>
                <a:latin typeface="Calibri" pitchFamily="34" charset="0"/>
                <a:ea typeface="Calibri" pitchFamily="34" charset="-122"/>
                <a:cs typeface="Calibri" pitchFamily="34" charset="-120"/>
              </a:rPr>
              <a:t>One sentence for the whole stack:  electricity flows through silicon, becomes computation and heat; water carries the heat away; light coordinates the computation; words ship out the door.</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202F"/>
        </a:solidFill>
      </p:bgPr>
    </p:bg>
    <p:spTree>
      <p:nvGrpSpPr>
        <p:cNvPr id="1" name=""/>
        <p:cNvGrpSpPr/>
        <p:nvPr/>
      </p:nvGrpSpPr>
      <p:grpSpPr>
        <a:xfrm>
          <a:off x="0" y="0"/>
          <a:ext cx="0" cy="0"/>
          <a:chOff x="0" y="0"/>
          <a:chExt cx="0" cy="0"/>
        </a:xfrm>
      </p:grpSpPr>
      <p:sp>
        <p:nvSpPr>
          <p:cNvPr id="2" name="Text 0"/>
          <p:cNvSpPr txBox="1"/>
          <p:nvPr/>
        </p:nvSpPr>
        <p:spPr>
          <a:xfrm>
            <a:off x="731520" y="2011680"/>
            <a:ext cx="10698480" cy="365760"/>
          </a:xfrm>
          <a:prstGeom prst="rect">
            <a:avLst/>
          </a:prstGeom>
          <a:noFill/>
          <a:ln/>
        </p:spPr>
        <p:txBody>
          <a:bodyPr wrap="square" lIns="0" tIns="0" rIns="0" bIns="0" rtlCol="0" anchor="ctr"/>
          <a:lstStyle/>
          <a:p>
            <a:pPr indent="0" marL="0">
              <a:buNone/>
            </a:pPr>
            <a:r>
              <a:rPr lang="en-US" sz="1400" b="1" spc="400" kern="0" dirty="0">
                <a:solidFill>
                  <a:srgbClr val="F0A431"/>
                </a:solidFill>
                <a:latin typeface="Calibri" pitchFamily="34" charset="0"/>
                <a:ea typeface="Calibri" pitchFamily="34" charset="-122"/>
                <a:cs typeface="Calibri" pitchFamily="34" charset="-120"/>
              </a:rPr>
              <a:t>ACT 3</a:t>
            </a:r>
            <a:endParaRPr lang="en-US" sz="1400" dirty="0"/>
          </a:p>
        </p:txBody>
      </p:sp>
      <p:sp>
        <p:nvSpPr>
          <p:cNvPr id="3" name="Text 1"/>
          <p:cNvSpPr txBox="1"/>
          <p:nvPr/>
        </p:nvSpPr>
        <p:spPr>
          <a:xfrm>
            <a:off x="731520" y="2423160"/>
            <a:ext cx="1069848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Power: the raw material of intelligence</a:t>
            </a:r>
            <a:endParaRPr lang="en-US" sz="4400" dirty="0"/>
          </a:p>
        </p:txBody>
      </p:sp>
      <p:sp>
        <p:nvSpPr>
          <p:cNvPr id="4" name="Text 2"/>
          <p:cNvSpPr txBox="1"/>
          <p:nvPr/>
        </p:nvSpPr>
        <p:spPr>
          <a:xfrm>
            <a:off x="731520" y="3886200"/>
            <a:ext cx="9601200" cy="1463040"/>
          </a:xfrm>
          <a:prstGeom prst="rect">
            <a:avLst/>
          </a:prstGeom>
          <a:noFill/>
          <a:ln/>
        </p:spPr>
        <p:txBody>
          <a:bodyPr wrap="square" lIns="0" tIns="0" rIns="0" bIns="0" rtlCol="0" anchor="ctr"/>
          <a:lstStyle/>
          <a:p>
            <a:pPr indent="0" marL="0">
              <a:lnSpc>
                <a:spcPct val="115000"/>
              </a:lnSpc>
              <a:buNone/>
            </a:pPr>
            <a:r>
              <a:rPr lang="en-US" sz="1600" dirty="0">
                <a:solidFill>
                  <a:srgbClr val="D8E6F2"/>
                </a:solidFill>
                <a:latin typeface="Calibri" pitchFamily="34" charset="0"/>
                <a:ea typeface="Calibri" pitchFamily="34" charset="-122"/>
                <a:cs typeface="Calibri" pitchFamily="34" charset="-120"/>
              </a:rPr>
              <a:t>The 2026 AI story is not mainly about chips anymore. It is about electricity — and about a grid built for 1–2% annual demand growth being asked for tens of gigawatts right now.</a:t>
            </a:r>
            <a:endParaRPr lang="en-US" sz="1600" dirty="0"/>
          </a:p>
        </p:txBody>
      </p:sp>
      <p:sp>
        <p:nvSpPr>
          <p:cNvPr id="5" name="Text 3"/>
          <p:cNvSpPr txBox="1"/>
          <p:nvPr/>
        </p:nvSpPr>
        <p:spPr>
          <a:xfrm>
            <a:off x="8778240" y="640080"/>
            <a:ext cx="3017520" cy="3017520"/>
          </a:xfrm>
          <a:prstGeom prst="rect">
            <a:avLst/>
          </a:prstGeom>
          <a:noFill/>
          <a:ln/>
        </p:spPr>
        <p:txBody>
          <a:bodyPr wrap="square" lIns="0" tIns="0" rIns="0" bIns="0" rtlCol="0" anchor="ctr"/>
          <a:lstStyle/>
          <a:p>
            <a:pPr algn="r" indent="0" marL="0">
              <a:buNone/>
            </a:pPr>
            <a:r>
              <a:rPr lang="en-US" sz="16000" b="1" dirty="0">
                <a:solidFill>
                  <a:srgbClr val="1C2E42"/>
                </a:solidFill>
                <a:latin typeface="Cambria" pitchFamily="34" charset="0"/>
                <a:ea typeface="Cambria" pitchFamily="34" charset="-122"/>
                <a:cs typeface="Cambria" pitchFamily="34" charset="-120"/>
              </a:rPr>
              <a:t>3</a:t>
            </a:r>
            <a:endParaRPr lang="en-US" sz="16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3 · POWER</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Power density: a neighbourhood in a phone booth</a:t>
            </a:r>
            <a:endParaRPr lang="en-US" sz="3000" dirty="0"/>
          </a:p>
        </p:txBody>
      </p:sp>
      <p:sp>
        <p:nvSpPr>
          <p:cNvPr id="4" name="Shape 2"/>
          <p:cNvSpPr/>
          <p:nvPr/>
        </p:nvSpPr>
        <p:spPr>
          <a:xfrm>
            <a:off x="502920" y="1645920"/>
            <a:ext cx="3566160" cy="1554480"/>
          </a:xfrm>
          <a:prstGeom prst="roundRect">
            <a:avLst>
              <a:gd name="adj" fmla="val 4118"/>
            </a:avLst>
          </a:prstGeom>
          <a:solidFill>
            <a:srgbClr val="D8E6F2"/>
          </a:solidFill>
          <a:ln/>
        </p:spPr>
      </p:sp>
      <p:sp>
        <p:nvSpPr>
          <p:cNvPr id="5" name="Text 3"/>
          <p:cNvSpPr txBox="1"/>
          <p:nvPr/>
        </p:nvSpPr>
        <p:spPr>
          <a:xfrm>
            <a:off x="667512" y="1755648"/>
            <a:ext cx="3236976" cy="808330"/>
          </a:xfrm>
          <a:prstGeom prst="rect">
            <a:avLst/>
          </a:prstGeom>
          <a:noFill/>
          <a:ln/>
        </p:spPr>
        <p:txBody>
          <a:bodyPr wrap="square" lIns="0" tIns="0" rIns="0" bIns="0" rtlCol="0" anchor="ctr"/>
          <a:lstStyle/>
          <a:p>
            <a:pPr algn="l" indent="0" marL="0">
              <a:buNone/>
            </a:pPr>
            <a:r>
              <a:rPr lang="en-US" sz="3400" b="1" dirty="0">
                <a:solidFill>
                  <a:srgbClr val="13202F"/>
                </a:solidFill>
                <a:latin typeface="Cambria" pitchFamily="34" charset="0"/>
                <a:ea typeface="Cambria" pitchFamily="34" charset="-122"/>
                <a:cs typeface="Cambria" pitchFamily="34" charset="-120"/>
              </a:rPr>
              <a:t>5–10 kW</a:t>
            </a:r>
            <a:endParaRPr lang="en-US" sz="3400" dirty="0"/>
          </a:p>
        </p:txBody>
      </p:sp>
      <p:sp>
        <p:nvSpPr>
          <p:cNvPr id="6" name="Text 4"/>
          <p:cNvSpPr txBox="1"/>
          <p:nvPr/>
        </p:nvSpPr>
        <p:spPr>
          <a:xfrm>
            <a:off x="667512" y="2500884"/>
            <a:ext cx="3236976" cy="652882"/>
          </a:xfrm>
          <a:prstGeom prst="rect">
            <a:avLst/>
          </a:prstGeom>
          <a:noFill/>
          <a:ln/>
        </p:spPr>
        <p:txBody>
          <a:bodyPr wrap="square" lIns="0" tIns="0" rIns="0" bIns="0" rtlCol="0" anchor="t"/>
          <a:lstStyle/>
          <a:p>
            <a:pPr algn="l" indent="0" marL="0">
              <a:buNone/>
            </a:pPr>
            <a:r>
              <a:rPr lang="en-US" sz="1100" dirty="0">
                <a:solidFill>
                  <a:srgbClr val="5A6B7D"/>
                </a:solidFill>
                <a:latin typeface="Calibri" pitchFamily="34" charset="0"/>
                <a:ea typeface="Calibri" pitchFamily="34" charset="-122"/>
                <a:cs typeface="Calibri" pitchFamily="34" charset="-120"/>
              </a:rPr>
              <a:t>Traditional server rack — what ran the internet for 20 years</a:t>
            </a:r>
            <a:endParaRPr lang="en-US" sz="1100" dirty="0"/>
          </a:p>
        </p:txBody>
      </p:sp>
      <p:sp>
        <p:nvSpPr>
          <p:cNvPr id="7" name="Shape 5"/>
          <p:cNvSpPr/>
          <p:nvPr/>
        </p:nvSpPr>
        <p:spPr>
          <a:xfrm>
            <a:off x="4297680" y="1645920"/>
            <a:ext cx="3566160" cy="1554480"/>
          </a:xfrm>
          <a:prstGeom prst="roundRect">
            <a:avLst>
              <a:gd name="adj" fmla="val 4118"/>
            </a:avLst>
          </a:prstGeom>
          <a:solidFill>
            <a:srgbClr val="13202F"/>
          </a:solidFill>
          <a:ln/>
        </p:spPr>
      </p:sp>
      <p:sp>
        <p:nvSpPr>
          <p:cNvPr id="8" name="Text 6"/>
          <p:cNvSpPr txBox="1"/>
          <p:nvPr/>
        </p:nvSpPr>
        <p:spPr>
          <a:xfrm>
            <a:off x="4462272" y="1755648"/>
            <a:ext cx="3236976" cy="808330"/>
          </a:xfrm>
          <a:prstGeom prst="rect">
            <a:avLst/>
          </a:prstGeom>
          <a:noFill/>
          <a:ln/>
        </p:spPr>
        <p:txBody>
          <a:bodyPr wrap="square" lIns="0" tIns="0" rIns="0" bIns="0" rtlCol="0" anchor="ctr"/>
          <a:lstStyle/>
          <a:p>
            <a:pPr algn="l" indent="0" marL="0">
              <a:buNone/>
            </a:pPr>
            <a:r>
              <a:rPr lang="en-US" sz="3400" b="1" dirty="0">
                <a:solidFill>
                  <a:srgbClr val="F0A431"/>
                </a:solidFill>
                <a:latin typeface="Cambria" pitchFamily="34" charset="0"/>
                <a:ea typeface="Cambria" pitchFamily="34" charset="-122"/>
                <a:cs typeface="Cambria" pitchFamily="34" charset="-120"/>
              </a:rPr>
              <a:t>120 kW</a:t>
            </a:r>
            <a:endParaRPr lang="en-US" sz="3400" dirty="0"/>
          </a:p>
        </p:txBody>
      </p:sp>
      <p:sp>
        <p:nvSpPr>
          <p:cNvPr id="9" name="Text 7"/>
          <p:cNvSpPr txBox="1"/>
          <p:nvPr/>
        </p:nvSpPr>
        <p:spPr>
          <a:xfrm>
            <a:off x="4462272" y="2500884"/>
            <a:ext cx="3236976" cy="652882"/>
          </a:xfrm>
          <a:prstGeom prst="rect">
            <a:avLst/>
          </a:prstGeom>
          <a:noFill/>
          <a:ln/>
        </p:spPr>
        <p:txBody>
          <a:bodyPr wrap="square" lIns="0" tIns="0" rIns="0" bIns="0" rtlCol="0" anchor="t"/>
          <a:lstStyle/>
          <a:p>
            <a:pPr algn="l" indent="0" marL="0">
              <a:buNone/>
            </a:pPr>
            <a:r>
              <a:rPr lang="en-US" sz="1100" dirty="0">
                <a:solidFill>
                  <a:srgbClr val="D8E6F2"/>
                </a:solidFill>
                <a:latin typeface="Calibri" pitchFamily="34" charset="0"/>
                <a:ea typeface="Calibri" pitchFamily="34" charset="-122"/>
                <a:cs typeface="Calibri" pitchFamily="34" charset="-120"/>
              </a:rPr>
              <a:t>Nvidia flagship AI rack (GB200 NVL72) — one refrigerator-sized cabinet</a:t>
            </a:r>
            <a:endParaRPr lang="en-US" sz="1100" dirty="0"/>
          </a:p>
        </p:txBody>
      </p:sp>
      <p:sp>
        <p:nvSpPr>
          <p:cNvPr id="10" name="Shape 8"/>
          <p:cNvSpPr/>
          <p:nvPr/>
        </p:nvSpPr>
        <p:spPr>
          <a:xfrm>
            <a:off x="8092440" y="1645920"/>
            <a:ext cx="3566160" cy="1554480"/>
          </a:xfrm>
          <a:prstGeom prst="roundRect">
            <a:avLst>
              <a:gd name="adj" fmla="val 4118"/>
            </a:avLst>
          </a:prstGeom>
          <a:solidFill>
            <a:srgbClr val="13202F"/>
          </a:solidFill>
          <a:ln/>
        </p:spPr>
      </p:sp>
      <p:sp>
        <p:nvSpPr>
          <p:cNvPr id="11" name="Text 9"/>
          <p:cNvSpPr txBox="1"/>
          <p:nvPr/>
        </p:nvSpPr>
        <p:spPr>
          <a:xfrm>
            <a:off x="8257032" y="1755648"/>
            <a:ext cx="3236976" cy="808330"/>
          </a:xfrm>
          <a:prstGeom prst="rect">
            <a:avLst/>
          </a:prstGeom>
          <a:noFill/>
          <a:ln/>
        </p:spPr>
        <p:txBody>
          <a:bodyPr wrap="square" lIns="0" tIns="0" rIns="0" bIns="0" rtlCol="0" anchor="ctr"/>
          <a:lstStyle/>
          <a:p>
            <a:pPr algn="l" indent="0" marL="0">
              <a:buNone/>
            </a:pPr>
            <a:r>
              <a:rPr lang="en-US" sz="3400" b="1" dirty="0">
                <a:solidFill>
                  <a:srgbClr val="F0A431"/>
                </a:solidFill>
                <a:latin typeface="Cambria" pitchFamily="34" charset="0"/>
                <a:ea typeface="Cambria" pitchFamily="34" charset="-122"/>
                <a:cs typeface="Cambria" pitchFamily="34" charset="-120"/>
              </a:rPr>
              <a:t>~600 kW</a:t>
            </a:r>
            <a:endParaRPr lang="en-US" sz="3400" dirty="0"/>
          </a:p>
        </p:txBody>
      </p:sp>
      <p:sp>
        <p:nvSpPr>
          <p:cNvPr id="12" name="Text 10"/>
          <p:cNvSpPr txBox="1"/>
          <p:nvPr/>
        </p:nvSpPr>
        <p:spPr>
          <a:xfrm>
            <a:off x="8257032" y="2500884"/>
            <a:ext cx="3236976" cy="652882"/>
          </a:xfrm>
          <a:prstGeom prst="rect">
            <a:avLst/>
          </a:prstGeom>
          <a:noFill/>
          <a:ln/>
        </p:spPr>
        <p:txBody>
          <a:bodyPr wrap="square" lIns="0" tIns="0" rIns="0" bIns="0" rtlCol="0" anchor="t"/>
          <a:lstStyle/>
          <a:p>
            <a:pPr algn="l" indent="0" marL="0">
              <a:buNone/>
            </a:pPr>
            <a:r>
              <a:rPr lang="en-US" sz="1100" dirty="0">
                <a:solidFill>
                  <a:srgbClr val="D8E6F2"/>
                </a:solidFill>
                <a:latin typeface="Calibri" pitchFamily="34" charset="0"/>
                <a:ea typeface="Calibri" pitchFamily="34" charset="-122"/>
                <a:cs typeface="Calibri" pitchFamily="34" charset="-120"/>
              </a:rPr>
              <a:t>Vera Rubin generation, projected — 60–100× density jump in under a decade</a:t>
            </a:r>
            <a:endParaRPr lang="en-US" sz="1100" dirty="0"/>
          </a:p>
        </p:txBody>
      </p:sp>
      <p:sp>
        <p:nvSpPr>
          <p:cNvPr id="13" name="Text 11"/>
          <p:cNvSpPr txBox="1"/>
          <p:nvPr/>
        </p:nvSpPr>
        <p:spPr>
          <a:xfrm>
            <a:off x="502920" y="3520440"/>
            <a:ext cx="11155680" cy="731520"/>
          </a:xfrm>
          <a:prstGeom prst="rect">
            <a:avLst/>
          </a:prstGeom>
          <a:noFill/>
          <a:ln/>
        </p:spPr>
        <p:txBody>
          <a:bodyPr wrap="square" lIns="0" tIns="0" rIns="0" bIns="0" rtlCol="0" anchor="ctr"/>
          <a:lstStyle/>
          <a:p>
            <a:pPr indent="0" marL="0">
              <a:lnSpc>
                <a:spcPct val="115000"/>
              </a:lnSpc>
              <a:buNone/>
            </a:pPr>
            <a:r>
              <a:rPr lang="en-US" sz="1400" b="1" dirty="0">
                <a:solidFill>
                  <a:srgbClr val="1A2430"/>
                </a:solidFill>
                <a:latin typeface="Calibri" pitchFamily="34" charset="0"/>
                <a:ea typeface="Calibri" pitchFamily="34" charset="-122"/>
                <a:cs typeface="Calibri" pitchFamily="34" charset="-120"/>
              </a:rPr>
              <a:t>Scale up: </a:t>
            </a:r>
            <a:pPr indent="0" marL="0">
              <a:lnSpc>
                <a:spcPct val="115000"/>
              </a:lnSpc>
              <a:buNone/>
            </a:pPr>
            <a:r>
              <a:rPr lang="en-US" sz="1400" dirty="0">
                <a:solidFill>
                  <a:srgbClr val="5A6B7D"/>
                </a:solidFill>
                <a:latin typeface="Calibri" pitchFamily="34" charset="0"/>
                <a:ea typeface="Calibri" pitchFamily="34" charset="-122"/>
                <a:cs typeface="Calibri" pitchFamily="34" charset="-120"/>
              </a:rPr>
              <a:t>a large AI campus wants a gigawatt or more — the output of a full-size nuclear reactor, power for ~1 million homes. Individual companies now plan MULTIPLE campuses that size.</a:t>
            </a:r>
            <a:endParaRPr lang="en-US" sz="1400" dirty="0"/>
          </a:p>
        </p:txBody>
      </p:sp>
      <p:sp>
        <p:nvSpPr>
          <p:cNvPr id="14" name="Shape 12"/>
          <p:cNvSpPr/>
          <p:nvPr/>
        </p:nvSpPr>
        <p:spPr>
          <a:xfrm>
            <a:off x="502920" y="4389120"/>
            <a:ext cx="5394960" cy="1371600"/>
          </a:xfrm>
          <a:prstGeom prst="roundRect">
            <a:avLst>
              <a:gd name="adj" fmla="val 4667"/>
            </a:avLst>
          </a:prstGeom>
          <a:solidFill>
            <a:srgbClr val="D8E6F2"/>
          </a:solidFill>
          <a:ln/>
        </p:spPr>
      </p:sp>
      <p:sp>
        <p:nvSpPr>
          <p:cNvPr id="15" name="Text 13"/>
          <p:cNvSpPr txBox="1"/>
          <p:nvPr/>
        </p:nvSpPr>
        <p:spPr>
          <a:xfrm>
            <a:off x="667512" y="4498848"/>
            <a:ext cx="5065776" cy="713232"/>
          </a:xfrm>
          <a:prstGeom prst="rect">
            <a:avLst/>
          </a:prstGeom>
          <a:noFill/>
          <a:ln/>
        </p:spPr>
        <p:txBody>
          <a:bodyPr wrap="square" lIns="0" tIns="0" rIns="0" bIns="0" rtlCol="0" anchor="ctr"/>
          <a:lstStyle/>
          <a:p>
            <a:pPr algn="l" indent="0" marL="0">
              <a:buNone/>
            </a:pPr>
            <a:r>
              <a:rPr lang="en-US" sz="3000" b="1" dirty="0">
                <a:solidFill>
                  <a:srgbClr val="13202F"/>
                </a:solidFill>
                <a:latin typeface="Cambria" pitchFamily="34" charset="0"/>
                <a:ea typeface="Cambria" pitchFamily="34" charset="-122"/>
                <a:cs typeface="Cambria" pitchFamily="34" charset="-120"/>
              </a:rPr>
              <a:t>4–5% → 9–17%</a:t>
            </a:r>
            <a:endParaRPr lang="en-US" sz="3000" dirty="0"/>
          </a:p>
        </p:txBody>
      </p:sp>
      <p:sp>
        <p:nvSpPr>
          <p:cNvPr id="16" name="Text 14"/>
          <p:cNvSpPr txBox="1"/>
          <p:nvPr/>
        </p:nvSpPr>
        <p:spPr>
          <a:xfrm>
            <a:off x="667512" y="5143500"/>
            <a:ext cx="5065776" cy="576072"/>
          </a:xfrm>
          <a:prstGeom prst="rect">
            <a:avLst/>
          </a:prstGeom>
          <a:noFill/>
          <a:ln/>
        </p:spPr>
        <p:txBody>
          <a:bodyPr wrap="square" lIns="0" tIns="0" rIns="0" bIns="0" rtlCol="0" anchor="t"/>
          <a:lstStyle/>
          <a:p>
            <a:pPr algn="l" indent="0" marL="0">
              <a:buNone/>
            </a:pPr>
            <a:r>
              <a:rPr lang="en-US" sz="1100" dirty="0">
                <a:solidFill>
                  <a:srgbClr val="5A6B7D"/>
                </a:solidFill>
                <a:latin typeface="Calibri" pitchFamily="34" charset="0"/>
                <a:ea typeface="Calibri" pitchFamily="34" charset="-122"/>
                <a:cs typeface="Calibri" pitchFamily="34" charset="-120"/>
              </a:rPr>
              <a:t>Data centres' share of US electricity: today vs credible 2030 projections</a:t>
            </a:r>
            <a:endParaRPr lang="en-US" sz="1100" dirty="0"/>
          </a:p>
        </p:txBody>
      </p:sp>
      <p:sp>
        <p:nvSpPr>
          <p:cNvPr id="17" name="Shape 15"/>
          <p:cNvSpPr/>
          <p:nvPr/>
        </p:nvSpPr>
        <p:spPr>
          <a:xfrm>
            <a:off x="6263640" y="4389120"/>
            <a:ext cx="5394960" cy="1371600"/>
          </a:xfrm>
          <a:prstGeom prst="roundRect">
            <a:avLst>
              <a:gd name="adj" fmla="val 4667"/>
            </a:avLst>
          </a:prstGeom>
          <a:solidFill>
            <a:srgbClr val="D8E6F2"/>
          </a:solidFill>
          <a:ln/>
        </p:spPr>
      </p:sp>
      <p:sp>
        <p:nvSpPr>
          <p:cNvPr id="18" name="Text 16"/>
          <p:cNvSpPr txBox="1"/>
          <p:nvPr/>
        </p:nvSpPr>
        <p:spPr>
          <a:xfrm>
            <a:off x="6428232" y="4498848"/>
            <a:ext cx="5065776" cy="713232"/>
          </a:xfrm>
          <a:prstGeom prst="rect">
            <a:avLst/>
          </a:prstGeom>
          <a:noFill/>
          <a:ln/>
        </p:spPr>
        <p:txBody>
          <a:bodyPr wrap="square" lIns="0" tIns="0" rIns="0" bIns="0" rtlCol="0" anchor="ctr"/>
          <a:lstStyle/>
          <a:p>
            <a:pPr algn="l" indent="0" marL="0">
              <a:buNone/>
            </a:pPr>
            <a:r>
              <a:rPr lang="en-US" sz="3000" b="1" dirty="0">
                <a:solidFill>
                  <a:srgbClr val="13202F"/>
                </a:solidFill>
                <a:latin typeface="Cambria" pitchFamily="34" charset="0"/>
                <a:ea typeface="Cambria" pitchFamily="34" charset="-122"/>
                <a:cs typeface="Cambria" pitchFamily="34" charset="-120"/>
              </a:rPr>
              <a:t>1–2%/yr</a:t>
            </a:r>
            <a:endParaRPr lang="en-US" sz="3000" dirty="0"/>
          </a:p>
        </p:txBody>
      </p:sp>
      <p:sp>
        <p:nvSpPr>
          <p:cNvPr id="19" name="Text 17"/>
          <p:cNvSpPr txBox="1"/>
          <p:nvPr/>
        </p:nvSpPr>
        <p:spPr>
          <a:xfrm>
            <a:off x="6428232" y="5143500"/>
            <a:ext cx="5065776" cy="576072"/>
          </a:xfrm>
          <a:prstGeom prst="rect">
            <a:avLst/>
          </a:prstGeom>
          <a:noFill/>
          <a:ln/>
        </p:spPr>
        <p:txBody>
          <a:bodyPr wrap="square" lIns="0" tIns="0" rIns="0" bIns="0" rtlCol="0" anchor="t"/>
          <a:lstStyle/>
          <a:p>
            <a:pPr algn="l" indent="0" marL="0">
              <a:buNone/>
            </a:pPr>
            <a:r>
              <a:rPr lang="en-US" sz="1100" dirty="0">
                <a:solidFill>
                  <a:srgbClr val="5A6B7D"/>
                </a:solidFill>
                <a:latin typeface="Calibri" pitchFamily="34" charset="0"/>
                <a:ea typeface="Calibri" pitchFamily="34" charset="-122"/>
                <a:cs typeface="Calibri" pitchFamily="34" charset="-120"/>
              </a:rPr>
              <a:t>Demand growth the US grid was built for. AI asked for tens of GW at once — the grid physically cannot say yes</a:t>
            </a:r>
            <a:endParaRPr lang="en-US" sz="1100" dirty="0"/>
          </a:p>
        </p:txBody>
      </p:sp>
      <p:sp>
        <p:nvSpPr>
          <p:cNvPr id="21" name="Text 18"/>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3 · POWER</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The two bottleneck numbers</a:t>
            </a:r>
            <a:endParaRPr lang="en-US" sz="3000" dirty="0"/>
          </a:p>
        </p:txBody>
      </p:sp>
      <p:sp>
        <p:nvSpPr>
          <p:cNvPr id="4" name="Shape 2"/>
          <p:cNvSpPr/>
          <p:nvPr/>
        </p:nvSpPr>
        <p:spPr>
          <a:xfrm>
            <a:off x="502920" y="1645920"/>
            <a:ext cx="5440680" cy="4114800"/>
          </a:xfrm>
          <a:prstGeom prst="roundRect">
            <a:avLst>
              <a:gd name="adj" fmla="val 1778"/>
            </a:avLst>
          </a:prstGeom>
          <a:solidFill>
            <a:srgbClr val="F4F7FA"/>
          </a:solidFill>
          <a:ln w="12700">
            <a:solidFill>
              <a:srgbClr val="DDE5EC"/>
            </a:solidFill>
            <a:prstDash val="solid"/>
          </a:ln>
        </p:spPr>
      </p:sp>
      <p:sp>
        <p:nvSpPr>
          <p:cNvPr id="5" name="Text 3"/>
          <p:cNvSpPr txBox="1"/>
          <p:nvPr/>
        </p:nvSpPr>
        <p:spPr>
          <a:xfrm>
            <a:off x="777240" y="1874520"/>
            <a:ext cx="4937760" cy="320040"/>
          </a:xfrm>
          <a:prstGeom prst="rect">
            <a:avLst/>
          </a:prstGeom>
          <a:noFill/>
          <a:ln/>
        </p:spPr>
        <p:txBody>
          <a:bodyPr wrap="square" lIns="0" tIns="0" rIns="0" bIns="0" rtlCol="0" anchor="ctr"/>
          <a:lstStyle/>
          <a:p>
            <a:pPr indent="0" marL="0">
              <a:buNone/>
            </a:pPr>
            <a:r>
              <a:rPr lang="en-US" sz="1400" b="1" dirty="0">
                <a:solidFill>
                  <a:srgbClr val="13202F"/>
                </a:solidFill>
                <a:latin typeface="Calibri" pitchFamily="34" charset="0"/>
                <a:ea typeface="Calibri" pitchFamily="34" charset="-122"/>
                <a:cs typeface="Calibri" pitchFamily="34" charset="-120"/>
              </a:rPr>
              <a:t>1 · THE INTERCONNECTION QUEUE</a:t>
            </a:r>
            <a:endParaRPr lang="en-US" sz="1400" dirty="0"/>
          </a:p>
        </p:txBody>
      </p:sp>
      <p:sp>
        <p:nvSpPr>
          <p:cNvPr id="6" name="Text 4"/>
          <p:cNvSpPr txBox="1"/>
          <p:nvPr/>
        </p:nvSpPr>
        <p:spPr>
          <a:xfrm>
            <a:off x="777240" y="2286000"/>
            <a:ext cx="4937760" cy="640080"/>
          </a:xfrm>
          <a:prstGeom prst="rect">
            <a:avLst/>
          </a:prstGeom>
          <a:noFill/>
          <a:ln/>
        </p:spPr>
        <p:txBody>
          <a:bodyPr wrap="square" lIns="0" tIns="0" rIns="0" bIns="0" rtlCol="0" anchor="ctr"/>
          <a:lstStyle/>
          <a:p>
            <a:pPr indent="0" marL="0">
              <a:buNone/>
            </a:pPr>
            <a:r>
              <a:rPr lang="en-US" sz="4000" b="1" dirty="0">
                <a:solidFill>
                  <a:srgbClr val="B87A18"/>
                </a:solidFill>
                <a:latin typeface="Cambria" pitchFamily="34" charset="0"/>
                <a:ea typeface="Cambria" pitchFamily="34" charset="-122"/>
                <a:cs typeface="Cambria" pitchFamily="34" charset="-120"/>
              </a:rPr>
              <a:t>4–5 years</a:t>
            </a:r>
            <a:endParaRPr lang="en-US" sz="4000" dirty="0"/>
          </a:p>
        </p:txBody>
      </p:sp>
      <p:sp>
        <p:nvSpPr>
          <p:cNvPr id="7" name="Text 5"/>
          <p:cNvSpPr txBox="1"/>
          <p:nvPr/>
        </p:nvSpPr>
        <p:spPr>
          <a:xfrm>
            <a:off x="777240" y="3063240"/>
            <a:ext cx="4937760" cy="2468880"/>
          </a:xfrm>
          <a:prstGeom prst="rect">
            <a:avLst/>
          </a:prstGeom>
          <a:noFill/>
          <a:ln/>
        </p:spPr>
        <p:txBody>
          <a:bodyPr wrap="square" lIns="0" tIns="0" rIns="0" bIns="0" rtlCol="0" anchor="t"/>
          <a:lstStyle/>
          <a:p>
            <a:pPr indent="0" marL="0">
              <a:lnSpc>
                <a:spcPct val="115000"/>
              </a:lnSpc>
              <a:buNone/>
            </a:pPr>
            <a:r>
              <a:rPr lang="en-US" sz="1250" dirty="0">
                <a:solidFill>
                  <a:srgbClr val="5A6B7D"/>
                </a:solidFill>
                <a:latin typeface="Calibri" pitchFamily="34" charset="0"/>
                <a:ea typeface="Calibri" pitchFamily="34" charset="-122"/>
                <a:cs typeface="Calibri" pitchFamily="34" charset="-120"/>
              </a:rPr>
              <a:t>To plug a big facility into the grid you file a request and wait while utilities study whether the grid can handle you.
</a:t>
            </a:r>
            <a:pPr indent="0" marL="0">
              <a:lnSpc>
                <a:spcPct val="115000"/>
              </a:lnSpc>
              <a:buNone/>
            </a:pPr>
            <a:r>
              <a:rPr lang="en-US" sz="1250" b="1" dirty="0">
                <a:solidFill>
                  <a:srgbClr val="1A2430"/>
                </a:solidFill>
                <a:latin typeface="Calibri" pitchFamily="34" charset="0"/>
                <a:ea typeface="Calibri" pitchFamily="34" charset="-122"/>
                <a:cs typeface="Calibri" pitchFamily="34" charset="-120"/>
              </a:rPr>
              <a:t>~410 GW of large projects waiting (April) — 87% of them data centres. Nearly 5× the entire Texas grid's peak demand, standing in line.</a:t>
            </a:r>
            <a:endParaRPr lang="en-US" sz="1250" dirty="0"/>
          </a:p>
        </p:txBody>
      </p:sp>
      <p:sp>
        <p:nvSpPr>
          <p:cNvPr id="8" name="Shape 6"/>
          <p:cNvSpPr/>
          <p:nvPr/>
        </p:nvSpPr>
        <p:spPr>
          <a:xfrm>
            <a:off x="6217920" y="1645920"/>
            <a:ext cx="5440680" cy="4114800"/>
          </a:xfrm>
          <a:prstGeom prst="roundRect">
            <a:avLst>
              <a:gd name="adj" fmla="val 1778"/>
            </a:avLst>
          </a:prstGeom>
          <a:solidFill>
            <a:srgbClr val="F4F7FA"/>
          </a:solidFill>
          <a:ln w="12700">
            <a:solidFill>
              <a:srgbClr val="DDE5EC"/>
            </a:solidFill>
            <a:prstDash val="solid"/>
          </a:ln>
        </p:spPr>
      </p:sp>
      <p:sp>
        <p:nvSpPr>
          <p:cNvPr id="9" name="Text 7"/>
          <p:cNvSpPr txBox="1"/>
          <p:nvPr/>
        </p:nvSpPr>
        <p:spPr>
          <a:xfrm>
            <a:off x="6492240" y="1874520"/>
            <a:ext cx="4937760" cy="320040"/>
          </a:xfrm>
          <a:prstGeom prst="rect">
            <a:avLst/>
          </a:prstGeom>
          <a:noFill/>
          <a:ln/>
        </p:spPr>
        <p:txBody>
          <a:bodyPr wrap="square" lIns="0" tIns="0" rIns="0" bIns="0" rtlCol="0" anchor="ctr"/>
          <a:lstStyle/>
          <a:p>
            <a:pPr indent="0" marL="0">
              <a:buNone/>
            </a:pPr>
            <a:r>
              <a:rPr lang="en-US" sz="1400" b="1" dirty="0">
                <a:solidFill>
                  <a:srgbClr val="13202F"/>
                </a:solidFill>
                <a:latin typeface="Calibri" pitchFamily="34" charset="0"/>
                <a:ea typeface="Calibri" pitchFamily="34" charset="-122"/>
                <a:cs typeface="Calibri" pitchFamily="34" charset="-120"/>
              </a:rPr>
              <a:t>2 · THE TRANSFORMER</a:t>
            </a:r>
            <a:endParaRPr lang="en-US" sz="1400" dirty="0"/>
          </a:p>
        </p:txBody>
      </p:sp>
      <p:sp>
        <p:nvSpPr>
          <p:cNvPr id="10" name="Text 8"/>
          <p:cNvSpPr txBox="1"/>
          <p:nvPr/>
        </p:nvSpPr>
        <p:spPr>
          <a:xfrm>
            <a:off x="6492240" y="2286000"/>
            <a:ext cx="4937760" cy="640080"/>
          </a:xfrm>
          <a:prstGeom prst="rect">
            <a:avLst/>
          </a:prstGeom>
          <a:noFill/>
          <a:ln/>
        </p:spPr>
        <p:txBody>
          <a:bodyPr wrap="square" lIns="0" tIns="0" rIns="0" bIns="0" rtlCol="0" anchor="ctr"/>
          <a:lstStyle/>
          <a:p>
            <a:pPr indent="0" marL="0">
              <a:buNone/>
            </a:pPr>
            <a:r>
              <a:rPr lang="en-US" sz="4000" b="1" dirty="0">
                <a:solidFill>
                  <a:srgbClr val="B87A18"/>
                </a:solidFill>
                <a:latin typeface="Cambria" pitchFamily="34" charset="0"/>
                <a:ea typeface="Cambria" pitchFamily="34" charset="-122"/>
                <a:cs typeface="Cambria" pitchFamily="34" charset="-120"/>
              </a:rPr>
              <a:t>2.5–4 years</a:t>
            </a:r>
            <a:endParaRPr lang="en-US" sz="4000" dirty="0"/>
          </a:p>
        </p:txBody>
      </p:sp>
      <p:sp>
        <p:nvSpPr>
          <p:cNvPr id="11" name="Text 9"/>
          <p:cNvSpPr txBox="1"/>
          <p:nvPr/>
        </p:nvSpPr>
        <p:spPr>
          <a:xfrm>
            <a:off x="6492240" y="3063240"/>
            <a:ext cx="4937760" cy="2468880"/>
          </a:xfrm>
          <a:prstGeom prst="rect">
            <a:avLst/>
          </a:prstGeom>
          <a:noFill/>
          <a:ln/>
        </p:spPr>
        <p:txBody>
          <a:bodyPr wrap="square" lIns="0" tIns="0" rIns="0" bIns="0" rtlCol="0" anchor="t"/>
          <a:lstStyle/>
          <a:p>
            <a:pPr indent="0" marL="0">
              <a:lnSpc>
                <a:spcPct val="115000"/>
              </a:lnSpc>
              <a:buNone/>
            </a:pPr>
            <a:r>
              <a:rPr lang="en-US" sz="1250" dirty="0">
                <a:solidFill>
                  <a:srgbClr val="5A6B7D"/>
                </a:solidFill>
                <a:latin typeface="Calibri" pitchFamily="34" charset="0"/>
                <a:ea typeface="Calibri" pitchFamily="34" charset="-122"/>
                <a:cs typeface="Calibri" pitchFamily="34" charset="-120"/>
              </a:rPr>
              <a:t>The large power transformer — the giant grey box stepping voltage down — used to take about a year to order. Prices up nearly 80%.
</a:t>
            </a:r>
            <a:pPr indent="0" marL="0">
              <a:lnSpc>
                <a:spcPct val="115000"/>
              </a:lnSpc>
              <a:buNone/>
            </a:pPr>
            <a:r>
              <a:rPr lang="en-US" sz="1250" b="1" dirty="0">
                <a:solidFill>
                  <a:srgbClr val="1A2430"/>
                </a:solidFill>
                <a:latin typeface="Calibri" pitchFamily="34" charset="0"/>
                <a:ea typeface="Calibri" pitchFamily="34" charset="-122"/>
                <a:cs typeface="Calibri" pitchFamily="34" charset="-120"/>
              </a:rPr>
              <a:t>You can have your chips in six months. The grey box that powers them: 2029.</a:t>
            </a:r>
            <a:endParaRPr lang="en-US" sz="1250" dirty="0"/>
          </a:p>
        </p:txBody>
      </p:sp>
      <p:sp>
        <p:nvSpPr>
          <p:cNvPr id="12" name="Text 10"/>
          <p:cNvSpPr txBox="1"/>
          <p:nvPr/>
        </p:nvSpPr>
        <p:spPr>
          <a:xfrm>
            <a:off x="502920" y="5943600"/>
            <a:ext cx="11155680" cy="548640"/>
          </a:xfrm>
          <a:prstGeom prst="rect">
            <a:avLst/>
          </a:prstGeom>
          <a:noFill/>
          <a:ln/>
        </p:spPr>
        <p:txBody>
          <a:bodyPr wrap="square" lIns="0" tIns="0" rIns="0" bIns="0" rtlCol="0" anchor="ctr"/>
          <a:lstStyle/>
          <a:p>
            <a:pPr indent="0" marL="0">
              <a:lnSpc>
                <a:spcPct val="110000"/>
              </a:lnSpc>
              <a:buNone/>
            </a:pPr>
            <a:r>
              <a:rPr lang="en-US" sz="1300" b="1" dirty="0">
                <a:solidFill>
                  <a:srgbClr val="B04A3A"/>
                </a:solidFill>
                <a:latin typeface="Calibri" pitchFamily="34" charset="0"/>
                <a:ea typeface="Calibri" pitchFamily="34" charset="-122"/>
                <a:cs typeface="Calibri" pitchFamily="34" charset="-120"/>
              </a:rPr>
              <a:t>So what do you do if every month of waiting costs you the API race? You stop waiting for the grid. You go around it: BEHIND-THE-METER power — generate on site, never touch the public queue.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3 · THE BRIDGE</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You can't wait four years — here's the menu</a:t>
            </a:r>
            <a:endParaRPr lang="en-US" sz="3000" dirty="0"/>
          </a:p>
        </p:txBody>
      </p:sp>
      <p:sp>
        <p:nvSpPr>
          <p:cNvPr id="4" name="Text 2"/>
          <p:cNvSpPr txBox="1"/>
          <p:nvPr/>
        </p:nvSpPr>
        <p:spPr>
          <a:xfrm>
            <a:off x="502920" y="1554480"/>
            <a:ext cx="11155680" cy="685800"/>
          </a:xfrm>
          <a:prstGeom prst="rect">
            <a:avLst/>
          </a:prstGeom>
          <a:noFill/>
          <a:ln/>
        </p:spPr>
        <p:txBody>
          <a:bodyPr wrap="square" lIns="0" tIns="0" rIns="0" bIns="0" rtlCol="0" anchor="ctr"/>
          <a:lstStyle/>
          <a:p>
            <a:pPr indent="0" marL="0">
              <a:lnSpc>
                <a:spcPct val="115000"/>
              </a:lnSpc>
              <a:buNone/>
            </a:pPr>
            <a:r>
              <a:rPr lang="en-US" sz="1400" b="1" dirty="0">
                <a:solidFill>
                  <a:srgbClr val="1A2430"/>
                </a:solidFill>
                <a:latin typeface="Calibri" pitchFamily="34" charset="0"/>
                <a:ea typeface="Calibri" pitchFamily="34" charset="-122"/>
                <a:cs typeface="Calibri" pitchFamily="34" charset="-120"/>
              </a:rPr>
              <a:t>“Behind the meter” </a:t>
            </a:r>
            <a:pPr indent="0" marL="0">
              <a:lnSpc>
                <a:spcPct val="115000"/>
              </a:lnSpc>
              <a:buNone/>
            </a:pPr>
            <a:r>
              <a:rPr lang="en-US" sz="1400" dirty="0">
                <a:solidFill>
                  <a:srgbClr val="5A6B7D"/>
                </a:solidFill>
                <a:latin typeface="Calibri" pitchFamily="34" charset="0"/>
                <a:ea typeface="Calibri" pitchFamily="34" charset="-122"/>
                <a:cs typeface="Calibri" pitchFamily="34" charset="-120"/>
              </a:rPr>
              <a:t>= generating power on your own site, on your side of the utility's meter — so you never join the public queue at all. These are the options, ranked by how fast you can actually have them:</a:t>
            </a:r>
            <a:endParaRPr lang="en-US" sz="1400" dirty="0"/>
          </a:p>
        </p:txBody>
      </p:sp>
      <p:sp>
        <p:nvSpPr>
          <p:cNvPr id="5" name="Shape 3"/>
          <p:cNvSpPr/>
          <p:nvPr/>
        </p:nvSpPr>
        <p:spPr>
          <a:xfrm>
            <a:off x="502920" y="2331720"/>
            <a:ext cx="11155680" cy="658368"/>
          </a:xfrm>
          <a:prstGeom prst="roundRect">
            <a:avLst>
              <a:gd name="adj" fmla="val 6944"/>
            </a:avLst>
          </a:prstGeom>
          <a:solidFill>
            <a:srgbClr val="F4F7FA"/>
          </a:solidFill>
          <a:ln w="9525">
            <a:solidFill>
              <a:srgbClr val="DDE5EC"/>
            </a:solidFill>
            <a:prstDash val="solid"/>
          </a:ln>
        </p:spPr>
      </p:sp>
      <p:sp>
        <p:nvSpPr>
          <p:cNvPr id="6" name="Text 4"/>
          <p:cNvSpPr txBox="1"/>
          <p:nvPr/>
        </p:nvSpPr>
        <p:spPr>
          <a:xfrm>
            <a:off x="685800" y="2331720"/>
            <a:ext cx="1234440" cy="658368"/>
          </a:xfrm>
          <a:prstGeom prst="rect">
            <a:avLst/>
          </a:prstGeom>
          <a:noFill/>
          <a:ln/>
        </p:spPr>
        <p:txBody>
          <a:bodyPr wrap="square" lIns="0" tIns="0" rIns="0" bIns="0" rtlCol="0" anchor="ctr"/>
          <a:lstStyle/>
          <a:p>
            <a:pPr indent="0" marL="0">
              <a:buNone/>
            </a:pPr>
            <a:r>
              <a:rPr lang="en-US" sz="1300" b="1" dirty="0">
                <a:solidFill>
                  <a:srgbClr val="B87A18"/>
                </a:solidFill>
                <a:latin typeface="Cambria" pitchFamily="34" charset="0"/>
                <a:ea typeface="Cambria" pitchFamily="34" charset="-122"/>
                <a:cs typeface="Cambria" pitchFamily="34" charset="-120"/>
              </a:rPr>
              <a:t>12–18 mo</a:t>
            </a:r>
            <a:endParaRPr lang="en-US" sz="1300" dirty="0"/>
          </a:p>
        </p:txBody>
      </p:sp>
      <p:sp>
        <p:nvSpPr>
          <p:cNvPr id="7" name="Text 5"/>
          <p:cNvSpPr txBox="1"/>
          <p:nvPr/>
        </p:nvSpPr>
        <p:spPr>
          <a:xfrm>
            <a:off x="2011680" y="2331720"/>
            <a:ext cx="1920240" cy="658368"/>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Fuel cells</a:t>
            </a:r>
            <a:endParaRPr lang="en-US" sz="1200" dirty="0"/>
          </a:p>
        </p:txBody>
      </p:sp>
      <p:sp>
        <p:nvSpPr>
          <p:cNvPr id="8" name="Text 6"/>
          <p:cNvSpPr txBox="1"/>
          <p:nvPr/>
        </p:nvSpPr>
        <p:spPr>
          <a:xfrm>
            <a:off x="4069080" y="2386584"/>
            <a:ext cx="5120640" cy="566928"/>
          </a:xfrm>
          <a:prstGeom prst="rect">
            <a:avLst/>
          </a:prstGeom>
          <a:noFill/>
          <a:ln/>
        </p:spPr>
        <p:txBody>
          <a:bodyPr wrap="square" lIns="0" tIns="0" rIns="0" bIns="0" rtlCol="0" anchor="ctr"/>
          <a:lstStyle/>
          <a:p>
            <a:pPr indent="0" marL="0">
              <a:lnSpc>
                <a:spcPct val="102000"/>
              </a:lnSpc>
              <a:buNone/>
            </a:pPr>
            <a:r>
              <a:rPr lang="en-US" sz="950" dirty="0">
                <a:solidFill>
                  <a:srgbClr val="5A6B7D"/>
                </a:solidFill>
                <a:latin typeface="Calibri" pitchFamily="34" charset="0"/>
                <a:ea typeface="Calibri" pitchFamily="34" charset="-122"/>
                <a:cs typeface="Calibri" pitchFamily="34" charset="-120"/>
              </a:rPr>
              <a:t>A box on your site that converts natural gas into electricity chemically — no combustion, no grid needed. Fastest real option.</a:t>
            </a:r>
            <a:endParaRPr lang="en-US" sz="950" dirty="0"/>
          </a:p>
        </p:txBody>
      </p:sp>
      <p:sp>
        <p:nvSpPr>
          <p:cNvPr id="9" name="Text 7"/>
          <p:cNvSpPr txBox="1"/>
          <p:nvPr/>
        </p:nvSpPr>
        <p:spPr>
          <a:xfrm>
            <a:off x="9326880" y="2386584"/>
            <a:ext cx="2148840" cy="566928"/>
          </a:xfrm>
          <a:prstGeom prst="rect">
            <a:avLst/>
          </a:prstGeom>
          <a:noFill/>
          <a:ln/>
        </p:spPr>
        <p:txBody>
          <a:bodyPr wrap="square" lIns="0" tIns="0" rIns="0" bIns="0" rtlCol="0" anchor="ctr"/>
          <a:lstStyle/>
          <a:p>
            <a:pPr indent="0" marL="0">
              <a:lnSpc>
                <a:spcPct val="102000"/>
              </a:lnSpc>
              <a:buNone/>
            </a:pPr>
            <a:r>
              <a:rPr lang="en-US" sz="950" i="1" dirty="0">
                <a:solidFill>
                  <a:srgbClr val="1A2430"/>
                </a:solidFill>
                <a:latin typeface="Calibri" pitchFamily="34" charset="0"/>
                <a:ea typeface="Calibri" pitchFamily="34" charset="-122"/>
                <a:cs typeface="Calibri" pitchFamily="34" charset="-120"/>
              </a:rPr>
              <a:t>Bloom Energy</a:t>
            </a:r>
            <a:endParaRPr lang="en-US" sz="950" dirty="0"/>
          </a:p>
        </p:txBody>
      </p:sp>
      <p:sp>
        <p:nvSpPr>
          <p:cNvPr id="10" name="Shape 8"/>
          <p:cNvSpPr/>
          <p:nvPr/>
        </p:nvSpPr>
        <p:spPr>
          <a:xfrm>
            <a:off x="502920" y="3081528"/>
            <a:ext cx="11155680" cy="658368"/>
          </a:xfrm>
          <a:prstGeom prst="roundRect">
            <a:avLst>
              <a:gd name="adj" fmla="val 6944"/>
            </a:avLst>
          </a:prstGeom>
          <a:solidFill>
            <a:srgbClr val="D8E6F2"/>
          </a:solidFill>
          <a:ln w="9525">
            <a:solidFill>
              <a:srgbClr val="DDE5EC"/>
            </a:solidFill>
            <a:prstDash val="solid"/>
          </a:ln>
        </p:spPr>
      </p:sp>
      <p:sp>
        <p:nvSpPr>
          <p:cNvPr id="11" name="Text 9"/>
          <p:cNvSpPr txBox="1"/>
          <p:nvPr/>
        </p:nvSpPr>
        <p:spPr>
          <a:xfrm>
            <a:off x="685800" y="3081528"/>
            <a:ext cx="1234440" cy="658368"/>
          </a:xfrm>
          <a:prstGeom prst="rect">
            <a:avLst/>
          </a:prstGeom>
          <a:noFill/>
          <a:ln/>
        </p:spPr>
        <p:txBody>
          <a:bodyPr wrap="square" lIns="0" tIns="0" rIns="0" bIns="0" rtlCol="0" anchor="ctr"/>
          <a:lstStyle/>
          <a:p>
            <a:pPr indent="0" marL="0">
              <a:buNone/>
            </a:pPr>
            <a:r>
              <a:rPr lang="en-US" sz="1300" b="1" dirty="0">
                <a:solidFill>
                  <a:srgbClr val="B87A18"/>
                </a:solidFill>
                <a:latin typeface="Cambria" pitchFamily="34" charset="0"/>
                <a:ea typeface="Cambria" pitchFamily="34" charset="-122"/>
                <a:cs typeface="Cambria" pitchFamily="34" charset="-120"/>
              </a:rPr>
              <a:t>~2–3 yrs</a:t>
            </a:r>
            <a:endParaRPr lang="en-US" sz="1300" dirty="0"/>
          </a:p>
        </p:txBody>
      </p:sp>
      <p:sp>
        <p:nvSpPr>
          <p:cNvPr id="12" name="Text 10"/>
          <p:cNvSpPr txBox="1"/>
          <p:nvPr/>
        </p:nvSpPr>
        <p:spPr>
          <a:xfrm>
            <a:off x="2011680" y="3081528"/>
            <a:ext cx="1920240" cy="658368"/>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Gas turbines</a:t>
            </a:r>
            <a:endParaRPr lang="en-US" sz="1200" dirty="0"/>
          </a:p>
        </p:txBody>
      </p:sp>
      <p:sp>
        <p:nvSpPr>
          <p:cNvPr id="13" name="Text 11"/>
          <p:cNvSpPr txBox="1"/>
          <p:nvPr/>
        </p:nvSpPr>
        <p:spPr>
          <a:xfrm>
            <a:off x="4069080" y="3136392"/>
            <a:ext cx="5120640" cy="566928"/>
          </a:xfrm>
          <a:prstGeom prst="rect">
            <a:avLst/>
          </a:prstGeom>
          <a:noFill/>
          <a:ln/>
        </p:spPr>
        <p:txBody>
          <a:bodyPr wrap="square" lIns="0" tIns="0" rIns="0" bIns="0" rtlCol="0" anchor="ctr"/>
          <a:lstStyle/>
          <a:p>
            <a:pPr indent="0" marL="0">
              <a:lnSpc>
                <a:spcPct val="102000"/>
              </a:lnSpc>
              <a:buNone/>
            </a:pPr>
            <a:r>
              <a:rPr lang="en-US" sz="950" dirty="0">
                <a:solidFill>
                  <a:srgbClr val="5A6B7D"/>
                </a:solidFill>
                <a:latin typeface="Calibri" pitchFamily="34" charset="0"/>
                <a:ea typeface="Calibri" pitchFamily="34" charset="-122"/>
                <a:cs typeface="Calibri" pitchFamily="34" charset="-120"/>
              </a:rPr>
              <a:t>Jet-engine-like machines that burn gas to spin a generator. The only option buildable at SCALE before 2030 — which is why they're the workhorse.</a:t>
            </a:r>
            <a:endParaRPr lang="en-US" sz="950" dirty="0"/>
          </a:p>
        </p:txBody>
      </p:sp>
      <p:sp>
        <p:nvSpPr>
          <p:cNvPr id="14" name="Text 12"/>
          <p:cNvSpPr txBox="1"/>
          <p:nvPr/>
        </p:nvSpPr>
        <p:spPr>
          <a:xfrm>
            <a:off x="9326880" y="3136392"/>
            <a:ext cx="2148840" cy="566928"/>
          </a:xfrm>
          <a:prstGeom prst="rect">
            <a:avLst/>
          </a:prstGeom>
          <a:noFill/>
          <a:ln/>
        </p:spPr>
        <p:txBody>
          <a:bodyPr wrap="square" lIns="0" tIns="0" rIns="0" bIns="0" rtlCol="0" anchor="ctr"/>
          <a:lstStyle/>
          <a:p>
            <a:pPr indent="0" marL="0">
              <a:lnSpc>
                <a:spcPct val="102000"/>
              </a:lnSpc>
              <a:buNone/>
            </a:pPr>
            <a:r>
              <a:rPr lang="en-US" sz="950" i="1" dirty="0">
                <a:solidFill>
                  <a:srgbClr val="1A2430"/>
                </a:solidFill>
                <a:latin typeface="Calibri" pitchFamily="34" charset="0"/>
                <a:ea typeface="Calibri" pitchFamily="34" charset="-122"/>
                <a:cs typeface="Calibri" pitchFamily="34" charset="-120"/>
              </a:rPr>
              <a:t>GE Vernova · Siemens Energy (they sell the machines, not the power)</a:t>
            </a:r>
            <a:endParaRPr lang="en-US" sz="950" dirty="0"/>
          </a:p>
        </p:txBody>
      </p:sp>
      <p:sp>
        <p:nvSpPr>
          <p:cNvPr id="15" name="Shape 13"/>
          <p:cNvSpPr/>
          <p:nvPr/>
        </p:nvSpPr>
        <p:spPr>
          <a:xfrm>
            <a:off x="502920" y="3831336"/>
            <a:ext cx="11155680" cy="658368"/>
          </a:xfrm>
          <a:prstGeom prst="roundRect">
            <a:avLst>
              <a:gd name="adj" fmla="val 6944"/>
            </a:avLst>
          </a:prstGeom>
          <a:solidFill>
            <a:srgbClr val="F4F7FA"/>
          </a:solidFill>
          <a:ln w="9525">
            <a:solidFill>
              <a:srgbClr val="DDE5EC"/>
            </a:solidFill>
            <a:prstDash val="solid"/>
          </a:ln>
        </p:spPr>
      </p:sp>
      <p:sp>
        <p:nvSpPr>
          <p:cNvPr id="16" name="Text 14"/>
          <p:cNvSpPr txBox="1"/>
          <p:nvPr/>
        </p:nvSpPr>
        <p:spPr>
          <a:xfrm>
            <a:off x="685800" y="3831336"/>
            <a:ext cx="1234440" cy="658368"/>
          </a:xfrm>
          <a:prstGeom prst="rect">
            <a:avLst/>
          </a:prstGeom>
          <a:noFill/>
          <a:ln/>
        </p:spPr>
        <p:txBody>
          <a:bodyPr wrap="square" lIns="0" tIns="0" rIns="0" bIns="0" rtlCol="0" anchor="ctr"/>
          <a:lstStyle/>
          <a:p>
            <a:pPr indent="0" marL="0">
              <a:buNone/>
            </a:pPr>
            <a:r>
              <a:rPr lang="en-US" sz="1300" b="1" dirty="0">
                <a:solidFill>
                  <a:srgbClr val="B87A18"/>
                </a:solidFill>
                <a:latin typeface="Cambria" pitchFamily="34" charset="0"/>
                <a:ea typeface="Cambria" pitchFamily="34" charset="-122"/>
                <a:cs typeface="Cambria" pitchFamily="34" charset="-120"/>
              </a:rPr>
              <a:t>By 2027</a:t>
            </a:r>
            <a:endParaRPr lang="en-US" sz="1300" dirty="0"/>
          </a:p>
        </p:txBody>
      </p:sp>
      <p:sp>
        <p:nvSpPr>
          <p:cNvPr id="17" name="Text 15"/>
          <p:cNvSpPr txBox="1"/>
          <p:nvPr/>
        </p:nvSpPr>
        <p:spPr>
          <a:xfrm>
            <a:off x="2011680" y="3831336"/>
            <a:ext cx="1920240" cy="658368"/>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Restarted nuclear</a:t>
            </a:r>
            <a:endParaRPr lang="en-US" sz="1200" dirty="0"/>
          </a:p>
        </p:txBody>
      </p:sp>
      <p:sp>
        <p:nvSpPr>
          <p:cNvPr id="18" name="Text 16"/>
          <p:cNvSpPr txBox="1"/>
          <p:nvPr/>
        </p:nvSpPr>
        <p:spPr>
          <a:xfrm>
            <a:off x="4069080" y="3886200"/>
            <a:ext cx="5120640" cy="566928"/>
          </a:xfrm>
          <a:prstGeom prst="rect">
            <a:avLst/>
          </a:prstGeom>
          <a:noFill/>
          <a:ln/>
        </p:spPr>
        <p:txBody>
          <a:bodyPr wrap="square" lIns="0" tIns="0" rIns="0" bIns="0" rtlCol="0" anchor="ctr"/>
          <a:lstStyle/>
          <a:p>
            <a:pPr indent="0" marL="0">
              <a:lnSpc>
                <a:spcPct val="102000"/>
              </a:lnSpc>
              <a:buNone/>
            </a:pPr>
            <a:r>
              <a:rPr lang="en-US" sz="950" dirty="0">
                <a:solidFill>
                  <a:srgbClr val="5A6B7D"/>
                </a:solidFill>
                <a:latin typeface="Calibri" pitchFamily="34" charset="0"/>
                <a:ea typeface="Calibri" pitchFamily="34" charset="-122"/>
                <a:cs typeface="Calibri" pitchFamily="34" charset="-120"/>
              </a:rPr>
              <a:t>Pay to bring an EXISTING reactor back online and contract its output for decades. The only carbon-free source that runs 24/7 — but no new plants can be built this decade.</a:t>
            </a:r>
            <a:endParaRPr lang="en-US" sz="950" dirty="0"/>
          </a:p>
        </p:txBody>
      </p:sp>
      <p:sp>
        <p:nvSpPr>
          <p:cNvPr id="19" name="Text 17"/>
          <p:cNvSpPr txBox="1"/>
          <p:nvPr/>
        </p:nvSpPr>
        <p:spPr>
          <a:xfrm>
            <a:off x="9326880" y="3886200"/>
            <a:ext cx="2148840" cy="566928"/>
          </a:xfrm>
          <a:prstGeom prst="rect">
            <a:avLst/>
          </a:prstGeom>
          <a:noFill/>
          <a:ln/>
        </p:spPr>
        <p:txBody>
          <a:bodyPr wrap="square" lIns="0" tIns="0" rIns="0" bIns="0" rtlCol="0" anchor="ctr"/>
          <a:lstStyle/>
          <a:p>
            <a:pPr indent="0" marL="0">
              <a:lnSpc>
                <a:spcPct val="102000"/>
              </a:lnSpc>
              <a:buNone/>
            </a:pPr>
            <a:r>
              <a:rPr lang="en-US" sz="950" i="1" dirty="0">
                <a:solidFill>
                  <a:srgbClr val="1A2430"/>
                </a:solidFill>
                <a:latin typeface="Calibri" pitchFamily="34" charset="0"/>
                <a:ea typeface="Calibri" pitchFamily="34" charset="-122"/>
                <a:cs typeface="Calibri" pitchFamily="34" charset="-120"/>
              </a:rPr>
              <a:t>Constellation · Vistra (they sell the power)</a:t>
            </a:r>
            <a:endParaRPr lang="en-US" sz="950" dirty="0"/>
          </a:p>
        </p:txBody>
      </p:sp>
      <p:sp>
        <p:nvSpPr>
          <p:cNvPr id="20" name="Shape 18"/>
          <p:cNvSpPr/>
          <p:nvPr/>
        </p:nvSpPr>
        <p:spPr>
          <a:xfrm>
            <a:off x="502920" y="4581144"/>
            <a:ext cx="11155680" cy="658368"/>
          </a:xfrm>
          <a:prstGeom prst="roundRect">
            <a:avLst>
              <a:gd name="adj" fmla="val 6944"/>
            </a:avLst>
          </a:prstGeom>
          <a:solidFill>
            <a:srgbClr val="F4F7FA"/>
          </a:solidFill>
          <a:ln w="9525">
            <a:solidFill>
              <a:srgbClr val="DDE5EC"/>
            </a:solidFill>
            <a:prstDash val="solid"/>
          </a:ln>
        </p:spPr>
      </p:sp>
      <p:sp>
        <p:nvSpPr>
          <p:cNvPr id="21" name="Text 19"/>
          <p:cNvSpPr txBox="1"/>
          <p:nvPr/>
        </p:nvSpPr>
        <p:spPr>
          <a:xfrm>
            <a:off x="685800" y="4581144"/>
            <a:ext cx="1234440" cy="658368"/>
          </a:xfrm>
          <a:prstGeom prst="rect">
            <a:avLst/>
          </a:prstGeom>
          <a:noFill/>
          <a:ln/>
        </p:spPr>
        <p:txBody>
          <a:bodyPr wrap="square" lIns="0" tIns="0" rIns="0" bIns="0" rtlCol="0" anchor="ctr"/>
          <a:lstStyle/>
          <a:p>
            <a:pPr indent="0" marL="0">
              <a:buNone/>
            </a:pPr>
            <a:r>
              <a:rPr lang="en-US" sz="1300" b="1" dirty="0">
                <a:solidFill>
                  <a:srgbClr val="B87A18"/>
                </a:solidFill>
                <a:latin typeface="Cambria" pitchFamily="34" charset="0"/>
                <a:ea typeface="Cambria" pitchFamily="34" charset="-122"/>
                <a:cs typeface="Cambria" pitchFamily="34" charset="-120"/>
              </a:rPr>
              <a:t>Standby</a:t>
            </a:r>
            <a:endParaRPr lang="en-US" sz="1300" dirty="0"/>
          </a:p>
        </p:txBody>
      </p:sp>
      <p:sp>
        <p:nvSpPr>
          <p:cNvPr id="22" name="Text 20"/>
          <p:cNvSpPr txBox="1"/>
          <p:nvPr/>
        </p:nvSpPr>
        <p:spPr>
          <a:xfrm>
            <a:off x="2011680" y="4581144"/>
            <a:ext cx="1920240" cy="658368"/>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Diesel backup</a:t>
            </a:r>
            <a:endParaRPr lang="en-US" sz="1200" dirty="0"/>
          </a:p>
        </p:txBody>
      </p:sp>
      <p:sp>
        <p:nvSpPr>
          <p:cNvPr id="23" name="Text 21"/>
          <p:cNvSpPr txBox="1"/>
          <p:nvPr/>
        </p:nvSpPr>
        <p:spPr>
          <a:xfrm>
            <a:off x="4069080" y="4636008"/>
            <a:ext cx="5120640" cy="566928"/>
          </a:xfrm>
          <a:prstGeom prst="rect">
            <a:avLst/>
          </a:prstGeom>
          <a:noFill/>
          <a:ln/>
        </p:spPr>
        <p:txBody>
          <a:bodyPr wrap="square" lIns="0" tIns="0" rIns="0" bIns="0" rtlCol="0" anchor="ctr"/>
          <a:lstStyle/>
          <a:p>
            <a:pPr indent="0" marL="0">
              <a:lnSpc>
                <a:spcPct val="102000"/>
              </a:lnSpc>
              <a:buNone/>
            </a:pPr>
            <a:r>
              <a:rPr lang="en-US" sz="950" dirty="0">
                <a:solidFill>
                  <a:srgbClr val="5A6B7D"/>
                </a:solidFill>
                <a:latin typeface="Calibri" pitchFamily="34" charset="0"/>
                <a:ea typeface="Calibri" pitchFamily="34" charset="-122"/>
                <a:cs typeface="Calibri" pitchFamily="34" charset="-120"/>
              </a:rPr>
              <a:t>Emergency generators for the few hours a year the grid fails. Not a power source — an insurance policy.</a:t>
            </a:r>
            <a:endParaRPr lang="en-US" sz="950" dirty="0"/>
          </a:p>
        </p:txBody>
      </p:sp>
      <p:sp>
        <p:nvSpPr>
          <p:cNvPr id="24" name="Text 22"/>
          <p:cNvSpPr txBox="1"/>
          <p:nvPr/>
        </p:nvSpPr>
        <p:spPr>
          <a:xfrm>
            <a:off x="9326880" y="4636008"/>
            <a:ext cx="2148840" cy="566928"/>
          </a:xfrm>
          <a:prstGeom prst="rect">
            <a:avLst/>
          </a:prstGeom>
          <a:noFill/>
          <a:ln/>
        </p:spPr>
        <p:txBody>
          <a:bodyPr wrap="square" lIns="0" tIns="0" rIns="0" bIns="0" rtlCol="0" anchor="ctr"/>
          <a:lstStyle/>
          <a:p>
            <a:pPr indent="0" marL="0">
              <a:lnSpc>
                <a:spcPct val="102000"/>
              </a:lnSpc>
              <a:buNone/>
            </a:pPr>
            <a:r>
              <a:rPr lang="en-US" sz="950" i="1" dirty="0">
                <a:solidFill>
                  <a:srgbClr val="1A2430"/>
                </a:solidFill>
                <a:latin typeface="Calibri" pitchFamily="34" charset="0"/>
                <a:ea typeface="Calibri" pitchFamily="34" charset="-122"/>
                <a:cs typeface="Calibri" pitchFamily="34" charset="-120"/>
              </a:rPr>
              <a:t>Caterpillar · Cummins</a:t>
            </a:r>
            <a:endParaRPr lang="en-US" sz="950" dirty="0"/>
          </a:p>
        </p:txBody>
      </p:sp>
      <p:sp>
        <p:nvSpPr>
          <p:cNvPr id="25" name="Shape 23"/>
          <p:cNvSpPr/>
          <p:nvPr/>
        </p:nvSpPr>
        <p:spPr>
          <a:xfrm>
            <a:off x="502920" y="5330952"/>
            <a:ext cx="11155680" cy="658368"/>
          </a:xfrm>
          <a:prstGeom prst="roundRect">
            <a:avLst>
              <a:gd name="adj" fmla="val 6944"/>
            </a:avLst>
          </a:prstGeom>
          <a:solidFill>
            <a:srgbClr val="F4F7FA"/>
          </a:solidFill>
          <a:ln w="9525">
            <a:solidFill>
              <a:srgbClr val="DDE5EC"/>
            </a:solidFill>
            <a:prstDash val="solid"/>
          </a:ln>
        </p:spPr>
      </p:sp>
      <p:sp>
        <p:nvSpPr>
          <p:cNvPr id="26" name="Text 24"/>
          <p:cNvSpPr txBox="1"/>
          <p:nvPr/>
        </p:nvSpPr>
        <p:spPr>
          <a:xfrm>
            <a:off x="685800" y="5330952"/>
            <a:ext cx="1234440" cy="658368"/>
          </a:xfrm>
          <a:prstGeom prst="rect">
            <a:avLst/>
          </a:prstGeom>
          <a:noFill/>
          <a:ln/>
        </p:spPr>
        <p:txBody>
          <a:bodyPr wrap="square" lIns="0" tIns="0" rIns="0" bIns="0" rtlCol="0" anchor="ctr"/>
          <a:lstStyle/>
          <a:p>
            <a:pPr indent="0" marL="0">
              <a:buNone/>
            </a:pPr>
            <a:r>
              <a:rPr lang="en-US" sz="1300" b="1" dirty="0">
                <a:solidFill>
                  <a:srgbClr val="B87A18"/>
                </a:solidFill>
                <a:latin typeface="Cambria" pitchFamily="34" charset="0"/>
                <a:ea typeface="Cambria" pitchFamily="34" charset="-122"/>
                <a:cs typeface="Cambria" pitchFamily="34" charset="-120"/>
              </a:rPr>
              <a:t>2030s</a:t>
            </a:r>
            <a:endParaRPr lang="en-US" sz="1300" dirty="0"/>
          </a:p>
        </p:txBody>
      </p:sp>
      <p:sp>
        <p:nvSpPr>
          <p:cNvPr id="27" name="Text 25"/>
          <p:cNvSpPr txBox="1"/>
          <p:nvPr/>
        </p:nvSpPr>
        <p:spPr>
          <a:xfrm>
            <a:off x="2011680" y="5330952"/>
            <a:ext cx="1920240" cy="658368"/>
          </a:xfrm>
          <a:prstGeom prst="rect">
            <a:avLst/>
          </a:prstGeom>
          <a:noFill/>
          <a:ln/>
        </p:spPr>
        <p:txBody>
          <a:bodyPr wrap="square" lIns="0" tIns="0" rIns="0" bIns="0" rtlCol="0" anchor="ctr"/>
          <a:lstStyle/>
          <a:p>
            <a:pPr indent="0" marL="0">
              <a:buNone/>
            </a:pPr>
            <a:r>
              <a:rPr lang="en-US" sz="1200" b="1" dirty="0">
                <a:solidFill>
                  <a:srgbClr val="13202F"/>
                </a:solidFill>
                <a:latin typeface="Calibri" pitchFamily="34" charset="0"/>
                <a:ea typeface="Calibri" pitchFamily="34" charset="-122"/>
                <a:cs typeface="Calibri" pitchFamily="34" charset="-120"/>
              </a:rPr>
              <a:t>Small modular reactors</a:t>
            </a:r>
            <a:endParaRPr lang="en-US" sz="1200" dirty="0"/>
          </a:p>
        </p:txBody>
      </p:sp>
      <p:sp>
        <p:nvSpPr>
          <p:cNvPr id="28" name="Text 26"/>
          <p:cNvSpPr txBox="1"/>
          <p:nvPr/>
        </p:nvSpPr>
        <p:spPr>
          <a:xfrm>
            <a:off x="4069080" y="5385816"/>
            <a:ext cx="5120640" cy="566928"/>
          </a:xfrm>
          <a:prstGeom prst="rect">
            <a:avLst/>
          </a:prstGeom>
          <a:noFill/>
          <a:ln/>
        </p:spPr>
        <p:txBody>
          <a:bodyPr wrap="square" lIns="0" tIns="0" rIns="0" bIns="0" rtlCol="0" anchor="ctr"/>
          <a:lstStyle/>
          <a:p>
            <a:pPr indent="0" marL="0">
              <a:lnSpc>
                <a:spcPct val="102000"/>
              </a:lnSpc>
              <a:buNone/>
            </a:pPr>
            <a:r>
              <a:rPr lang="en-US" sz="950" dirty="0">
                <a:solidFill>
                  <a:srgbClr val="5A6B7D"/>
                </a:solidFill>
                <a:latin typeface="Calibri" pitchFamily="34" charset="0"/>
                <a:ea typeface="Calibri" pitchFamily="34" charset="-122"/>
                <a:cs typeface="Calibri" pitchFamily="34" charset="-120"/>
              </a:rPr>
              <a:t>Factory-built mini reactors. Promising, but pre-revenue today — a bet on the next decade, not this one.</a:t>
            </a:r>
            <a:endParaRPr lang="en-US" sz="950" dirty="0"/>
          </a:p>
        </p:txBody>
      </p:sp>
      <p:sp>
        <p:nvSpPr>
          <p:cNvPr id="29" name="Text 27"/>
          <p:cNvSpPr txBox="1"/>
          <p:nvPr/>
        </p:nvSpPr>
        <p:spPr>
          <a:xfrm>
            <a:off x="9326880" y="5385816"/>
            <a:ext cx="2148840" cy="566928"/>
          </a:xfrm>
          <a:prstGeom prst="rect">
            <a:avLst/>
          </a:prstGeom>
          <a:noFill/>
          <a:ln/>
        </p:spPr>
        <p:txBody>
          <a:bodyPr wrap="square" lIns="0" tIns="0" rIns="0" bIns="0" rtlCol="0" anchor="ctr"/>
          <a:lstStyle/>
          <a:p>
            <a:pPr indent="0" marL="0">
              <a:lnSpc>
                <a:spcPct val="102000"/>
              </a:lnSpc>
              <a:buNone/>
            </a:pPr>
            <a:r>
              <a:rPr lang="en-US" sz="950" i="1" dirty="0">
                <a:solidFill>
                  <a:srgbClr val="1A2430"/>
                </a:solidFill>
                <a:latin typeface="Calibri" pitchFamily="34" charset="0"/>
                <a:ea typeface="Calibri" pitchFamily="34" charset="-122"/>
                <a:cs typeface="Calibri" pitchFamily="34" charset="-120"/>
              </a:rPr>
              <a:t>Oklo · NuScale</a:t>
            </a:r>
            <a:endParaRPr lang="en-US" sz="950" dirty="0"/>
          </a:p>
        </p:txBody>
      </p:sp>
      <p:sp>
        <p:nvSpPr>
          <p:cNvPr id="30" name="Text 28"/>
          <p:cNvSpPr txBox="1"/>
          <p:nvPr/>
        </p:nvSpPr>
        <p:spPr>
          <a:xfrm>
            <a:off x="502920" y="6126480"/>
            <a:ext cx="11155680" cy="365760"/>
          </a:xfrm>
          <a:prstGeom prst="rect">
            <a:avLst/>
          </a:prstGeom>
          <a:noFill/>
          <a:ln/>
        </p:spPr>
        <p:txBody>
          <a:bodyPr wrap="square" lIns="0" tIns="0" rIns="0" bIns="0" rtlCol="0" anchor="ctr"/>
          <a:lstStyle/>
          <a:p>
            <a:pPr indent="0" marL="0">
              <a:buNone/>
            </a:pPr>
            <a:r>
              <a:rPr lang="en-US" sz="1200" b="1" i="1" dirty="0">
                <a:solidFill>
                  <a:srgbClr val="13202F"/>
                </a:solidFill>
                <a:latin typeface="Calibri" pitchFamily="34" charset="0"/>
                <a:ea typeface="Calibri" pitchFamily="34" charset="-122"/>
                <a:cs typeface="Calibri" pitchFamily="34" charset="-120"/>
              </a:rPr>
              <a:t>Next slide: how the market prices each of these sellers — and which claims deserve skepticism.</a:t>
            </a:r>
            <a:endParaRPr lang="en-US" sz="1200" dirty="0"/>
          </a:p>
        </p:txBody>
      </p:sp>
      <p:sp>
        <p:nvSpPr>
          <p:cNvPr id="32" name="Text 29"/>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3 · WHO GETS PAID</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The power players, from most dramatic to most dependable</a:t>
            </a:r>
            <a:endParaRPr lang="en-US" sz="3000" dirty="0"/>
          </a:p>
        </p:txBody>
      </p:sp>
      <p:sp>
        <p:nvSpPr>
          <p:cNvPr id="4" name="Shape 2"/>
          <p:cNvSpPr/>
          <p:nvPr/>
        </p:nvSpPr>
        <p:spPr>
          <a:xfrm>
            <a:off x="502920" y="1554480"/>
            <a:ext cx="5486400" cy="1463040"/>
          </a:xfrm>
          <a:prstGeom prst="roundRect">
            <a:avLst>
              <a:gd name="adj" fmla="val 3750"/>
            </a:avLst>
          </a:prstGeom>
          <a:solidFill>
            <a:srgbClr val="F4F7FA"/>
          </a:solidFill>
          <a:ln w="9525">
            <a:solidFill>
              <a:srgbClr val="DDE5EC"/>
            </a:solidFill>
            <a:prstDash val="solid"/>
          </a:ln>
        </p:spPr>
      </p:sp>
      <p:sp>
        <p:nvSpPr>
          <p:cNvPr id="5" name="Text 3"/>
          <p:cNvSpPr txBox="1"/>
          <p:nvPr/>
        </p:nvSpPr>
        <p:spPr>
          <a:xfrm>
            <a:off x="649224" y="164592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Constellation Energy</a:t>
            </a:r>
            <a:pPr indent="0" marL="0">
              <a:buNone/>
            </a:pPr>
            <a:r>
              <a:rPr lang="en-US" sz="1000" i="1" dirty="0">
                <a:solidFill>
                  <a:srgbClr val="B87A18"/>
                </a:solidFill>
                <a:latin typeface="Calibri" pitchFamily="34" charset="0"/>
                <a:ea typeface="Calibri" pitchFamily="34" charset="-122"/>
                <a:cs typeface="Calibri" pitchFamily="34" charset="-120"/>
              </a:rPr>
              <a:t>   nuclear resurrection</a:t>
            </a:r>
            <a:endParaRPr lang="en-US" sz="1350" dirty="0"/>
          </a:p>
        </p:txBody>
      </p:sp>
      <p:sp>
        <p:nvSpPr>
          <p:cNvPr id="6" name="Text 4"/>
          <p:cNvSpPr txBox="1"/>
          <p:nvPr/>
        </p:nvSpPr>
        <p:spPr>
          <a:xfrm>
            <a:off x="649224" y="1920240"/>
            <a:ext cx="5193792" cy="10058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20-yr Microsoft deal to restart Three Mile Island (835 MW, back H2 2027, ~$1.6bn + $1bn federal loan; MSFT buys every MW). Largest US nuclear fleet (~22 GW). Nuclear = the only carbon-free 24/7 source, and no new conventional plant can be built this decade — existing reactors are irreplaceable. Peer: Vistra (37 GW nuclear + gas).</a:t>
            </a:r>
            <a:endParaRPr lang="en-US" sz="1050" dirty="0"/>
          </a:p>
        </p:txBody>
      </p:sp>
      <p:sp>
        <p:nvSpPr>
          <p:cNvPr id="7" name="Shape 5"/>
          <p:cNvSpPr/>
          <p:nvPr/>
        </p:nvSpPr>
        <p:spPr>
          <a:xfrm>
            <a:off x="6172200" y="1554480"/>
            <a:ext cx="5486400" cy="1463040"/>
          </a:xfrm>
          <a:prstGeom prst="roundRect">
            <a:avLst>
              <a:gd name="adj" fmla="val 3750"/>
            </a:avLst>
          </a:prstGeom>
          <a:solidFill>
            <a:srgbClr val="F4F7FA"/>
          </a:solidFill>
          <a:ln w="9525">
            <a:solidFill>
              <a:srgbClr val="DDE5EC"/>
            </a:solidFill>
            <a:prstDash val="solid"/>
          </a:ln>
        </p:spPr>
      </p:sp>
      <p:sp>
        <p:nvSpPr>
          <p:cNvPr id="8" name="Text 6"/>
          <p:cNvSpPr txBox="1"/>
          <p:nvPr/>
        </p:nvSpPr>
        <p:spPr>
          <a:xfrm>
            <a:off x="6318504" y="164592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Oklo · NuScale</a:t>
            </a:r>
            <a:pPr indent="0" marL="0">
              <a:buNone/>
            </a:pPr>
            <a:r>
              <a:rPr lang="en-US" sz="1000" i="1" dirty="0">
                <a:solidFill>
                  <a:srgbClr val="B04A3A"/>
                </a:solidFill>
                <a:latin typeface="Calibri" pitchFamily="34" charset="0"/>
                <a:ea typeface="Calibri" pitchFamily="34" charset="-122"/>
                <a:cs typeface="Calibri" pitchFamily="34" charset="-120"/>
              </a:rPr>
              <a:t>   SMR lottery tickets</a:t>
            </a:r>
            <a:endParaRPr lang="en-US" sz="1350" dirty="0"/>
          </a:p>
        </p:txBody>
      </p:sp>
      <p:sp>
        <p:nvSpPr>
          <p:cNvPr id="9" name="Text 7"/>
          <p:cNvSpPr txBox="1"/>
          <p:nvPr/>
        </p:nvSpPr>
        <p:spPr>
          <a:xfrm>
            <a:off x="6318504" y="1920240"/>
            <a:ext cx="5193792" cy="10058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Pre-revenue; first commercial electron ~2030 at earliest. Oklo (Altman-backed, 14 GW signed pipeline) lacks final design approval; NuScale: ~$31m revenue vs ~$356m loss. Both down 65–78% from late-2025 peaks. “Not a business yet — an option on the 2030s.”</a:t>
            </a:r>
            <a:endParaRPr lang="en-US" sz="1050" dirty="0"/>
          </a:p>
        </p:txBody>
      </p:sp>
      <p:sp>
        <p:nvSpPr>
          <p:cNvPr id="10" name="Shape 8"/>
          <p:cNvSpPr/>
          <p:nvPr/>
        </p:nvSpPr>
        <p:spPr>
          <a:xfrm>
            <a:off x="502920" y="3154680"/>
            <a:ext cx="5486400" cy="1463040"/>
          </a:xfrm>
          <a:prstGeom prst="roundRect">
            <a:avLst>
              <a:gd name="adj" fmla="val 3750"/>
            </a:avLst>
          </a:prstGeom>
          <a:solidFill>
            <a:srgbClr val="F4F7FA"/>
          </a:solidFill>
          <a:ln w="9525">
            <a:solidFill>
              <a:srgbClr val="DDE5EC"/>
            </a:solidFill>
            <a:prstDash val="solid"/>
          </a:ln>
        </p:spPr>
      </p:sp>
      <p:sp>
        <p:nvSpPr>
          <p:cNvPr id="11" name="Text 9"/>
          <p:cNvSpPr txBox="1"/>
          <p:nvPr/>
        </p:nvSpPr>
        <p:spPr>
          <a:xfrm>
            <a:off x="649224" y="324612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Bloom Energy</a:t>
            </a:r>
            <a:pPr indent="0" marL="0">
              <a:buNone/>
            </a:pPr>
            <a:r>
              <a:rPr lang="en-US" sz="1000" i="1" dirty="0">
                <a:solidFill>
                  <a:srgbClr val="B04A3A"/>
                </a:solidFill>
                <a:latin typeface="Calibri" pitchFamily="34" charset="0"/>
                <a:ea typeface="Calibri" pitchFamily="34" charset="-122"/>
                <a:cs typeface="Calibri" pitchFamily="34" charset="-120"/>
              </a:rPr>
              <a:t>   fastest power in the West — with an asterisk</a:t>
            </a:r>
            <a:endParaRPr lang="en-US" sz="1350" dirty="0"/>
          </a:p>
        </p:txBody>
      </p:sp>
      <p:sp>
        <p:nvSpPr>
          <p:cNvPr id="12" name="Text 10"/>
          <p:cNvSpPr txBox="1"/>
          <p:nvPr/>
        </p:nvSpPr>
        <p:spPr>
          <a:xfrm>
            <a:off x="649224" y="3520440"/>
            <a:ext cx="5193792" cy="10058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Solid-oxide fuel cells: gas → electricity chemically, deployable behind the meter in 12–18 months. $7.65bn of DC contracts in nine days; stock ~4× in 2025. BUT a short-seller report (Hunterbrook — weigh the source) claims the marketed ~$20bn backlog is ~40× binding obligations (peers ~2×), and scandium supply is China-licensed. Company rejects the claims. When backlog and SEC filings disagree 40×, burden of proof is on the company.</a:t>
            </a:r>
            <a:endParaRPr lang="en-US" sz="1050" dirty="0"/>
          </a:p>
        </p:txBody>
      </p:sp>
      <p:sp>
        <p:nvSpPr>
          <p:cNvPr id="13" name="Shape 11"/>
          <p:cNvSpPr/>
          <p:nvPr/>
        </p:nvSpPr>
        <p:spPr>
          <a:xfrm>
            <a:off x="6172200" y="3154680"/>
            <a:ext cx="5486400" cy="1463040"/>
          </a:xfrm>
          <a:prstGeom prst="roundRect">
            <a:avLst>
              <a:gd name="adj" fmla="val 3750"/>
            </a:avLst>
          </a:prstGeom>
          <a:solidFill>
            <a:srgbClr val="D8E6F2"/>
          </a:solidFill>
          <a:ln w="9525">
            <a:solidFill>
              <a:srgbClr val="DDE5EC"/>
            </a:solidFill>
            <a:prstDash val="solid"/>
          </a:ln>
        </p:spPr>
      </p:sp>
      <p:sp>
        <p:nvSpPr>
          <p:cNvPr id="14" name="Text 12"/>
          <p:cNvSpPr txBox="1"/>
          <p:nvPr/>
        </p:nvSpPr>
        <p:spPr>
          <a:xfrm>
            <a:off x="6318504" y="324612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GE Vernova · Siemens Energy</a:t>
            </a:r>
            <a:pPr indent="0" marL="0">
              <a:buNone/>
            </a:pPr>
            <a:r>
              <a:rPr lang="en-US" sz="1000" i="1" dirty="0">
                <a:solidFill>
                  <a:srgbClr val="B87A18"/>
                </a:solidFill>
                <a:latin typeface="Calibri" pitchFamily="34" charset="0"/>
                <a:ea typeface="Calibri" pitchFamily="34" charset="-122"/>
                <a:cs typeface="Calibri" pitchFamily="34" charset="-120"/>
              </a:rPr>
              <a:t>   the arms dealers — sold out through 2030</a:t>
            </a:r>
            <a:endParaRPr lang="en-US" sz="1350" dirty="0"/>
          </a:p>
        </p:txBody>
      </p:sp>
      <p:sp>
        <p:nvSpPr>
          <p:cNvPr id="15" name="Text 13"/>
          <p:cNvSpPr txBox="1"/>
          <p:nvPr/>
        </p:nvSpPr>
        <p:spPr>
          <a:xfrm>
            <a:off x="6318504" y="3520440"/>
            <a:ext cx="5193792" cy="10058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Giant gas turbines = the realistic #1 near-term AI power source, because gas is the only thing buildable at scale before 2030. GE Vernova: slots SOLD OUT through the decade, ~$163bn backlog, $2.4bn of DC electrification orders in Q1 2026 alone (more than all of 2025), now a ~$300bn company. Siemens Energy is the only global rival at scale.</a:t>
            </a:r>
            <a:endParaRPr lang="en-US" sz="1050" dirty="0"/>
          </a:p>
        </p:txBody>
      </p:sp>
      <p:sp>
        <p:nvSpPr>
          <p:cNvPr id="16" name="Shape 14"/>
          <p:cNvSpPr/>
          <p:nvPr/>
        </p:nvSpPr>
        <p:spPr>
          <a:xfrm>
            <a:off x="502920" y="4754880"/>
            <a:ext cx="5486400" cy="1234440"/>
          </a:xfrm>
          <a:prstGeom prst="roundRect">
            <a:avLst>
              <a:gd name="adj" fmla="val 4444"/>
            </a:avLst>
          </a:prstGeom>
          <a:solidFill>
            <a:srgbClr val="F4F7FA"/>
          </a:solidFill>
          <a:ln w="9525">
            <a:solidFill>
              <a:srgbClr val="DDE5EC"/>
            </a:solidFill>
            <a:prstDash val="solid"/>
          </a:ln>
        </p:spPr>
      </p:sp>
      <p:sp>
        <p:nvSpPr>
          <p:cNvPr id="17" name="Text 15"/>
          <p:cNvSpPr txBox="1"/>
          <p:nvPr/>
        </p:nvSpPr>
        <p:spPr>
          <a:xfrm>
            <a:off x="649224" y="484632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Vertiv · Schneider · Eaton</a:t>
            </a:r>
            <a:pPr indent="0" marL="0">
              <a:buNone/>
            </a:pPr>
            <a:r>
              <a:rPr lang="en-US" sz="1000" i="1" dirty="0">
                <a:solidFill>
                  <a:srgbClr val="B87A18"/>
                </a:solidFill>
                <a:latin typeface="Calibri" pitchFamily="34" charset="0"/>
                <a:ea typeface="Calibri" pitchFamily="34" charset="-122"/>
                <a:cs typeface="Calibri" pitchFamily="34" charset="-120"/>
              </a:rPr>
              <a:t>   the layer nobody thinks about</a:t>
            </a:r>
            <a:endParaRPr lang="en-US" sz="1350" dirty="0"/>
          </a:p>
        </p:txBody>
      </p:sp>
      <p:sp>
        <p:nvSpPr>
          <p:cNvPr id="18" name="Text 16"/>
          <p:cNvSpPr txBox="1"/>
          <p:nvPr/>
        </p:nvSpPr>
        <p:spPr>
          <a:xfrm>
            <a:off x="649224" y="5120640"/>
            <a:ext cx="5193792" cy="7772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Switchgear, busways, UPS — the giant battery that catches the load instantly if the grid blinks (a half-second outage can kill a month-long training run). Eaton electrical backlog +48% y/y; Vertiv backlog doubled to $15bn, joined S&amp;P 500 in March. Shovels for every miner, regardless of who wins.</a:t>
            </a:r>
            <a:endParaRPr lang="en-US" sz="1050" dirty="0"/>
          </a:p>
        </p:txBody>
      </p:sp>
      <p:sp>
        <p:nvSpPr>
          <p:cNvPr id="19" name="Shape 17"/>
          <p:cNvSpPr/>
          <p:nvPr/>
        </p:nvSpPr>
        <p:spPr>
          <a:xfrm>
            <a:off x="6172200" y="4754880"/>
            <a:ext cx="5486400" cy="1234440"/>
          </a:xfrm>
          <a:prstGeom prst="roundRect">
            <a:avLst>
              <a:gd name="adj" fmla="val 4444"/>
            </a:avLst>
          </a:prstGeom>
          <a:solidFill>
            <a:srgbClr val="F4F7FA"/>
          </a:solidFill>
          <a:ln w="9525">
            <a:solidFill>
              <a:srgbClr val="DDE5EC"/>
            </a:solidFill>
            <a:prstDash val="solid"/>
          </a:ln>
        </p:spPr>
      </p:sp>
      <p:sp>
        <p:nvSpPr>
          <p:cNvPr id="20" name="Text 18"/>
          <p:cNvSpPr txBox="1"/>
          <p:nvPr/>
        </p:nvSpPr>
        <p:spPr>
          <a:xfrm>
            <a:off x="6318504" y="484632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Caterpillar · Cummins</a:t>
            </a:r>
            <a:pPr indent="0" marL="0">
              <a:buNone/>
            </a:pPr>
            <a:r>
              <a:rPr lang="en-US" sz="1000" i="1" dirty="0">
                <a:solidFill>
                  <a:srgbClr val="B87A18"/>
                </a:solidFill>
                <a:latin typeface="Calibri" pitchFamily="34" charset="0"/>
                <a:ea typeface="Calibri" pitchFamily="34" charset="-122"/>
                <a:cs typeface="Calibri" pitchFamily="34" charset="-120"/>
              </a:rPr>
              <a:t>   last line of defence</a:t>
            </a:r>
            <a:endParaRPr lang="en-US" sz="1350" dirty="0"/>
          </a:p>
        </p:txBody>
      </p:sp>
      <p:sp>
        <p:nvSpPr>
          <p:cNvPr id="21" name="Text 19"/>
          <p:cNvSpPr txBox="1"/>
          <p:nvPr/>
        </p:nvSpPr>
        <p:spPr>
          <a:xfrm>
            <a:off x="6318504" y="5120640"/>
            <a:ext cx="5193792" cy="7772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Rows of school-bus-sized diesel backup generators, idling for the one hour a year the grid fails. Analysts see Caterpillar's DC generator business tripling by 2030.</a:t>
            </a:r>
            <a:endParaRPr lang="en-US" sz="1050" dirty="0"/>
          </a:p>
        </p:txBody>
      </p:sp>
      <p:sp>
        <p:nvSpPr>
          <p:cNvPr id="23" name="Text 20"/>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3 · THE UNCOMFORTABLE PART</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Data centres bid against households</a:t>
            </a:r>
            <a:endParaRPr lang="en-US" sz="3000" dirty="0"/>
          </a:p>
        </p:txBody>
      </p:sp>
      <p:sp>
        <p:nvSpPr>
          <p:cNvPr id="4" name="Shape 2"/>
          <p:cNvSpPr/>
          <p:nvPr/>
        </p:nvSpPr>
        <p:spPr>
          <a:xfrm>
            <a:off x="502920" y="1737360"/>
            <a:ext cx="3566160" cy="1737360"/>
          </a:xfrm>
          <a:prstGeom prst="roundRect">
            <a:avLst>
              <a:gd name="adj" fmla="val 3684"/>
            </a:avLst>
          </a:prstGeom>
          <a:solidFill>
            <a:srgbClr val="D8E6F2"/>
          </a:solidFill>
          <a:ln/>
        </p:spPr>
      </p:sp>
      <p:sp>
        <p:nvSpPr>
          <p:cNvPr id="5" name="Text 3"/>
          <p:cNvSpPr txBox="1"/>
          <p:nvPr/>
        </p:nvSpPr>
        <p:spPr>
          <a:xfrm>
            <a:off x="667512" y="1847088"/>
            <a:ext cx="3236976" cy="903427"/>
          </a:xfrm>
          <a:prstGeom prst="rect">
            <a:avLst/>
          </a:prstGeom>
          <a:noFill/>
          <a:ln/>
        </p:spPr>
        <p:txBody>
          <a:bodyPr wrap="square" lIns="0" tIns="0" rIns="0" bIns="0" rtlCol="0" anchor="ctr"/>
          <a:lstStyle/>
          <a:p>
            <a:pPr algn="l" indent="0" marL="0">
              <a:buNone/>
            </a:pPr>
            <a:r>
              <a:rPr lang="en-US" sz="4000" b="1" dirty="0">
                <a:solidFill>
                  <a:srgbClr val="13202F"/>
                </a:solidFill>
                <a:latin typeface="Cambria" pitchFamily="34" charset="0"/>
                <a:ea typeface="Cambria" pitchFamily="34" charset="-122"/>
                <a:cs typeface="Cambria" pitchFamily="34" charset="-120"/>
              </a:rPr>
              <a:t>+$9bn</a:t>
            </a:r>
            <a:endParaRPr lang="en-US" sz="4000" dirty="0"/>
          </a:p>
        </p:txBody>
      </p:sp>
      <p:sp>
        <p:nvSpPr>
          <p:cNvPr id="6" name="Text 4"/>
          <p:cNvSpPr txBox="1"/>
          <p:nvPr/>
        </p:nvSpPr>
        <p:spPr>
          <a:xfrm>
            <a:off x="667512" y="2692908"/>
            <a:ext cx="3236976" cy="729691"/>
          </a:xfrm>
          <a:prstGeom prst="rect">
            <a:avLst/>
          </a:prstGeom>
          <a:noFill/>
          <a:ln/>
        </p:spPr>
        <p:txBody>
          <a:bodyPr wrap="square" lIns="0" tIns="0" rIns="0" bIns="0" rtlCol="0" anchor="t"/>
          <a:lstStyle/>
          <a:p>
            <a:pPr algn="l" indent="0" marL="0">
              <a:buNone/>
            </a:pPr>
            <a:r>
              <a:rPr lang="en-US" sz="1100" dirty="0">
                <a:solidFill>
                  <a:srgbClr val="5A6B7D"/>
                </a:solidFill>
                <a:latin typeface="Calibri" pitchFamily="34" charset="0"/>
                <a:ea typeface="Calibri" pitchFamily="34" charset="-122"/>
                <a:cs typeface="Calibri" pitchFamily="34" charset="-120"/>
              </a:rPr>
              <a:t>Added by data centre demand to the latest PJM capacity auction (13-state grid, Illinois to Virginia)</a:t>
            </a:r>
            <a:endParaRPr lang="en-US" sz="1100" dirty="0"/>
          </a:p>
        </p:txBody>
      </p:sp>
      <p:sp>
        <p:nvSpPr>
          <p:cNvPr id="7" name="Shape 5"/>
          <p:cNvSpPr/>
          <p:nvPr/>
        </p:nvSpPr>
        <p:spPr>
          <a:xfrm>
            <a:off x="4297680" y="1737360"/>
            <a:ext cx="3566160" cy="1737360"/>
          </a:xfrm>
          <a:prstGeom prst="roundRect">
            <a:avLst>
              <a:gd name="adj" fmla="val 3684"/>
            </a:avLst>
          </a:prstGeom>
          <a:solidFill>
            <a:srgbClr val="D8E6F2"/>
          </a:solidFill>
          <a:ln/>
        </p:spPr>
      </p:sp>
      <p:sp>
        <p:nvSpPr>
          <p:cNvPr id="8" name="Text 6"/>
          <p:cNvSpPr txBox="1"/>
          <p:nvPr/>
        </p:nvSpPr>
        <p:spPr>
          <a:xfrm>
            <a:off x="4462272" y="1847088"/>
            <a:ext cx="3236976" cy="903427"/>
          </a:xfrm>
          <a:prstGeom prst="rect">
            <a:avLst/>
          </a:prstGeom>
          <a:noFill/>
          <a:ln/>
        </p:spPr>
        <p:txBody>
          <a:bodyPr wrap="square" lIns="0" tIns="0" rIns="0" bIns="0" rtlCol="0" anchor="ctr"/>
          <a:lstStyle/>
          <a:p>
            <a:pPr algn="l" indent="0" marL="0">
              <a:buNone/>
            </a:pPr>
            <a:r>
              <a:rPr lang="en-US" sz="3600" b="1" dirty="0">
                <a:solidFill>
                  <a:srgbClr val="13202F"/>
                </a:solidFill>
                <a:latin typeface="Cambria" pitchFamily="34" charset="0"/>
                <a:ea typeface="Cambria" pitchFamily="34" charset="-122"/>
                <a:cs typeface="Cambria" pitchFamily="34" charset="-120"/>
              </a:rPr>
              <a:t>$16–18/mo</a:t>
            </a:r>
            <a:endParaRPr lang="en-US" sz="3600" dirty="0"/>
          </a:p>
        </p:txBody>
      </p:sp>
      <p:sp>
        <p:nvSpPr>
          <p:cNvPr id="9" name="Text 7"/>
          <p:cNvSpPr txBox="1"/>
          <p:nvPr/>
        </p:nvSpPr>
        <p:spPr>
          <a:xfrm>
            <a:off x="4462272" y="2692908"/>
            <a:ext cx="3236976" cy="729691"/>
          </a:xfrm>
          <a:prstGeom prst="rect">
            <a:avLst/>
          </a:prstGeom>
          <a:noFill/>
          <a:ln/>
        </p:spPr>
        <p:txBody>
          <a:bodyPr wrap="square" lIns="0" tIns="0" rIns="0" bIns="0" rtlCol="0" anchor="t"/>
          <a:lstStyle/>
          <a:p>
            <a:pPr algn="l" indent="0" marL="0">
              <a:buNone/>
            </a:pPr>
            <a:r>
              <a:rPr lang="en-US" sz="1100" dirty="0">
                <a:solidFill>
                  <a:srgbClr val="5A6B7D"/>
                </a:solidFill>
                <a:latin typeface="Calibri" pitchFamily="34" charset="0"/>
                <a:ea typeface="Calibri" pitchFamily="34" charset="-122"/>
                <a:cs typeface="Calibri" pitchFamily="34" charset="-120"/>
              </a:rPr>
              <a:t>Residential bill increases in parts of Ohio and Maryland</a:t>
            </a:r>
            <a:endParaRPr lang="en-US" sz="1100" dirty="0"/>
          </a:p>
        </p:txBody>
      </p:sp>
      <p:sp>
        <p:nvSpPr>
          <p:cNvPr id="10" name="Shape 8"/>
          <p:cNvSpPr/>
          <p:nvPr/>
        </p:nvSpPr>
        <p:spPr>
          <a:xfrm>
            <a:off x="8092440" y="1737360"/>
            <a:ext cx="3566160" cy="1737360"/>
          </a:xfrm>
          <a:prstGeom prst="roundRect">
            <a:avLst>
              <a:gd name="adj" fmla="val 3684"/>
            </a:avLst>
          </a:prstGeom>
          <a:solidFill>
            <a:srgbClr val="13202F"/>
          </a:solidFill>
          <a:ln/>
        </p:spPr>
      </p:sp>
      <p:sp>
        <p:nvSpPr>
          <p:cNvPr id="11" name="Text 9"/>
          <p:cNvSpPr txBox="1"/>
          <p:nvPr/>
        </p:nvSpPr>
        <p:spPr>
          <a:xfrm>
            <a:off x="8257032" y="1847088"/>
            <a:ext cx="3236976" cy="903427"/>
          </a:xfrm>
          <a:prstGeom prst="rect">
            <a:avLst/>
          </a:prstGeom>
          <a:noFill/>
          <a:ln/>
        </p:spPr>
        <p:txBody>
          <a:bodyPr wrap="square" lIns="0" tIns="0" rIns="0" bIns="0" rtlCol="0" anchor="ctr"/>
          <a:lstStyle/>
          <a:p>
            <a:pPr algn="l" indent="0" marL="0">
              <a:buNone/>
            </a:pPr>
            <a:r>
              <a:rPr lang="en-US" sz="2600" b="1" dirty="0">
                <a:solidFill>
                  <a:srgbClr val="F0A431"/>
                </a:solidFill>
                <a:latin typeface="Cambria" pitchFamily="34" charset="0"/>
                <a:ea typeface="Cambria" pitchFamily="34" charset="-122"/>
                <a:cs typeface="Cambria" pitchFamily="34" charset="-120"/>
              </a:rPr>
              <a:t>Moratoriums</a:t>
            </a:r>
            <a:endParaRPr lang="en-US" sz="2600" dirty="0"/>
          </a:p>
        </p:txBody>
      </p:sp>
      <p:sp>
        <p:nvSpPr>
          <p:cNvPr id="12" name="Text 10"/>
          <p:cNvSpPr txBox="1"/>
          <p:nvPr/>
        </p:nvSpPr>
        <p:spPr>
          <a:xfrm>
            <a:off x="8257032" y="2692908"/>
            <a:ext cx="3236976" cy="729691"/>
          </a:xfrm>
          <a:prstGeom prst="rect">
            <a:avLst/>
          </a:prstGeom>
          <a:noFill/>
          <a:ln/>
        </p:spPr>
        <p:txBody>
          <a:bodyPr wrap="square" lIns="0" tIns="0" rIns="0" bIns="0" rtlCol="0" anchor="t"/>
          <a:lstStyle/>
          <a:p>
            <a:pPr algn="l" indent="0" marL="0">
              <a:buNone/>
            </a:pPr>
            <a:r>
              <a:rPr lang="en-US" sz="1100" dirty="0">
                <a:solidFill>
                  <a:srgbClr val="D8E6F2"/>
                </a:solidFill>
                <a:latin typeface="Calibri" pitchFamily="34" charset="0"/>
                <a:ea typeface="Calibri" pitchFamily="34" charset="-122"/>
                <a:cs typeface="Calibri" pitchFamily="34" charset="-120"/>
              </a:rPr>
              <a:t>Being proposed as communities notice — a genuine political risk to the buildout</a:t>
            </a:r>
            <a:endParaRPr lang="en-US" sz="1100" dirty="0"/>
          </a:p>
        </p:txBody>
      </p:sp>
      <p:sp>
        <p:nvSpPr>
          <p:cNvPr id="13" name="Text 11"/>
          <p:cNvSpPr txBox="1"/>
          <p:nvPr/>
        </p:nvSpPr>
        <p:spPr>
          <a:xfrm>
            <a:off x="502920" y="3840480"/>
            <a:ext cx="11155680" cy="914400"/>
          </a:xfrm>
          <a:prstGeom prst="rect">
            <a:avLst/>
          </a:prstGeom>
          <a:noFill/>
          <a:ln/>
        </p:spPr>
        <p:txBody>
          <a:bodyPr wrap="square" lIns="0" tIns="0" rIns="0" bIns="0" rtlCol="0" anchor="ctr"/>
          <a:lstStyle/>
          <a:p>
            <a:pPr indent="0" marL="0">
              <a:lnSpc>
                <a:spcPct val="120000"/>
              </a:lnSpc>
              <a:buNone/>
            </a:pPr>
            <a:r>
              <a:rPr lang="en-US" sz="1500" b="1" dirty="0">
                <a:solidFill>
                  <a:srgbClr val="1A2430"/>
                </a:solidFill>
                <a:latin typeface="Calibri" pitchFamily="34" charset="0"/>
                <a:ea typeface="Calibri" pitchFamily="34" charset="-122"/>
                <a:cs typeface="Calibri" pitchFamily="34" charset="-120"/>
              </a:rPr>
              <a:t>Why it matters: </a:t>
            </a:r>
            <a:pPr indent="0" marL="0">
              <a:lnSpc>
                <a:spcPct val="120000"/>
              </a:lnSpc>
              <a:buNone/>
            </a:pPr>
            <a:r>
              <a:rPr lang="en-US" sz="1500" dirty="0">
                <a:solidFill>
                  <a:srgbClr val="5A6B7D"/>
                </a:solidFill>
                <a:latin typeface="Calibri" pitchFamily="34" charset="0"/>
                <a:ea typeface="Calibri" pitchFamily="34" charset="-122"/>
                <a:cs typeface="Calibri" pitchFamily="34" charset="-120"/>
              </a:rPr>
              <a:t>because data centres bid for scarce power, they bid against households. Any honest map of this industry includes political backlash as a real constraint on the buildout — a demand-side cap that has nothing to do with supply chains.</a:t>
            </a:r>
            <a:endParaRPr lang="en-US" sz="1500" dirty="0"/>
          </a:p>
        </p:txBody>
      </p:sp>
      <p:sp>
        <p:nvSpPr>
          <p:cNvPr id="14" name="Shape 12"/>
          <p:cNvSpPr/>
          <p:nvPr/>
        </p:nvSpPr>
        <p:spPr>
          <a:xfrm>
            <a:off x="502920" y="4937760"/>
            <a:ext cx="11155680" cy="1051560"/>
          </a:xfrm>
          <a:prstGeom prst="roundRect">
            <a:avLst>
              <a:gd name="adj" fmla="val 6087"/>
            </a:avLst>
          </a:prstGeom>
          <a:solidFill>
            <a:srgbClr val="D8E6F2"/>
          </a:solidFill>
          <a:ln/>
        </p:spPr>
      </p:sp>
      <p:sp>
        <p:nvSpPr>
          <p:cNvPr id="15" name="Text 13"/>
          <p:cNvSpPr txBox="1"/>
          <p:nvPr/>
        </p:nvSpPr>
        <p:spPr>
          <a:xfrm>
            <a:off x="777240" y="5074920"/>
            <a:ext cx="10607040" cy="777240"/>
          </a:xfrm>
          <a:prstGeom prst="rect">
            <a:avLst/>
          </a:prstGeom>
          <a:noFill/>
          <a:ln/>
        </p:spPr>
        <p:txBody>
          <a:bodyPr wrap="square" lIns="0" tIns="0" rIns="0" bIns="0" rtlCol="0" anchor="ctr"/>
          <a:lstStyle/>
          <a:p>
            <a:pPr indent="0" marL="0">
              <a:lnSpc>
                <a:spcPct val="115000"/>
              </a:lnSpc>
              <a:buNone/>
            </a:pPr>
            <a:r>
              <a:rPr lang="en-US" sz="1400" b="1" dirty="0">
                <a:solidFill>
                  <a:srgbClr val="13202F"/>
                </a:solidFill>
                <a:latin typeface="Calibri" pitchFamily="34" charset="0"/>
                <a:ea typeface="Calibri" pitchFamily="34" charset="-122"/>
                <a:cs typeface="Calibri" pitchFamily="34" charset="-120"/>
              </a:rPr>
              <a:t>Transition: the factory now has power. 120 kW flows into a single rack — and physics says every one of those watts becomes HEAT.</a:t>
            </a:r>
            <a:endParaRPr lang="en-US" sz="1400" dirty="0"/>
          </a:p>
        </p:txBody>
      </p:sp>
      <p:sp>
        <p:nvSpPr>
          <p:cNvPr id="17" name="Text 14"/>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02F"/>
        </a:solidFill>
      </p:bgPr>
    </p:bg>
    <p:spTree>
      <p:nvGrpSpPr>
        <p:cNvPr id="1" name=""/>
        <p:cNvGrpSpPr/>
        <p:nvPr/>
      </p:nvGrpSpPr>
      <p:grpSpPr>
        <a:xfrm>
          <a:off x="0" y="0"/>
          <a:ext cx="0" cy="0"/>
          <a:chOff x="0" y="0"/>
          <a:chExt cx="0" cy="0"/>
        </a:xfrm>
      </p:grpSpPr>
      <p:sp>
        <p:nvSpPr>
          <p:cNvPr id="2" name="Text 0"/>
          <p:cNvSpPr txBox="1"/>
          <p:nvPr/>
        </p:nvSpPr>
        <p:spPr>
          <a:xfrm>
            <a:off x="731520" y="2011680"/>
            <a:ext cx="10698480" cy="365760"/>
          </a:xfrm>
          <a:prstGeom prst="rect">
            <a:avLst/>
          </a:prstGeom>
          <a:noFill/>
          <a:ln/>
        </p:spPr>
        <p:txBody>
          <a:bodyPr wrap="square" lIns="0" tIns="0" rIns="0" bIns="0" rtlCol="0" anchor="ctr"/>
          <a:lstStyle/>
          <a:p>
            <a:pPr indent="0" marL="0">
              <a:buNone/>
            </a:pPr>
            <a:r>
              <a:rPr lang="en-US" sz="1400" b="1" spc="400" kern="0" dirty="0">
                <a:solidFill>
                  <a:srgbClr val="F0A431"/>
                </a:solidFill>
                <a:latin typeface="Calibri" pitchFamily="34" charset="0"/>
                <a:ea typeface="Calibri" pitchFamily="34" charset="-122"/>
                <a:cs typeface="Calibri" pitchFamily="34" charset="-120"/>
              </a:rPr>
              <a:t>ACT 4</a:t>
            </a:r>
            <a:endParaRPr lang="en-US" sz="1400" dirty="0"/>
          </a:p>
        </p:txBody>
      </p:sp>
      <p:sp>
        <p:nvSpPr>
          <p:cNvPr id="3" name="Text 1"/>
          <p:cNvSpPr txBox="1"/>
          <p:nvPr/>
        </p:nvSpPr>
        <p:spPr>
          <a:xfrm>
            <a:off x="731520" y="2423160"/>
            <a:ext cx="1069848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Cooling: the war against heat</a:t>
            </a:r>
            <a:endParaRPr lang="en-US" sz="4400" dirty="0"/>
          </a:p>
        </p:txBody>
      </p:sp>
      <p:sp>
        <p:nvSpPr>
          <p:cNvPr id="4" name="Text 2"/>
          <p:cNvSpPr txBox="1"/>
          <p:nvPr/>
        </p:nvSpPr>
        <p:spPr>
          <a:xfrm>
            <a:off x="731520" y="3886200"/>
            <a:ext cx="9601200" cy="1463040"/>
          </a:xfrm>
          <a:prstGeom prst="rect">
            <a:avLst/>
          </a:prstGeom>
          <a:noFill/>
          <a:ln/>
        </p:spPr>
        <p:txBody>
          <a:bodyPr wrap="square" lIns="0" tIns="0" rIns="0" bIns="0" rtlCol="0" anchor="ctr"/>
          <a:lstStyle/>
          <a:p>
            <a:pPr indent="0" marL="0">
              <a:lnSpc>
                <a:spcPct val="115000"/>
              </a:lnSpc>
              <a:buNone/>
            </a:pPr>
            <a:r>
              <a:rPr lang="en-US" sz="1600" dirty="0">
                <a:solidFill>
                  <a:srgbClr val="D8E6F2"/>
                </a:solidFill>
                <a:latin typeface="Calibri" pitchFamily="34" charset="0"/>
                <a:ea typeface="Calibri" pitchFamily="34" charset="-122"/>
                <a:cs typeface="Calibri" pitchFamily="34" charset="-120"/>
              </a:rPr>
              <a:t>Electricity doesn't get consumed making tokens — it gets converted almost entirely into heat. Cooling isn't a support function. Cooling is half the job.</a:t>
            </a:r>
            <a:endParaRPr lang="en-US" sz="1600" dirty="0"/>
          </a:p>
        </p:txBody>
      </p:sp>
      <p:sp>
        <p:nvSpPr>
          <p:cNvPr id="5" name="Text 3"/>
          <p:cNvSpPr txBox="1"/>
          <p:nvPr/>
        </p:nvSpPr>
        <p:spPr>
          <a:xfrm>
            <a:off x="8778240" y="640080"/>
            <a:ext cx="3017520" cy="3017520"/>
          </a:xfrm>
          <a:prstGeom prst="rect">
            <a:avLst/>
          </a:prstGeom>
          <a:noFill/>
          <a:ln/>
        </p:spPr>
        <p:txBody>
          <a:bodyPr wrap="square" lIns="0" tIns="0" rIns="0" bIns="0" rtlCol="0" anchor="ctr"/>
          <a:lstStyle/>
          <a:p>
            <a:pPr algn="r" indent="0" marL="0">
              <a:buNone/>
            </a:pPr>
            <a:r>
              <a:rPr lang="en-US" sz="16000" b="1" dirty="0">
                <a:solidFill>
                  <a:srgbClr val="1C2E42"/>
                </a:solidFill>
                <a:latin typeface="Cambria" pitchFamily="34" charset="0"/>
                <a:ea typeface="Cambria" pitchFamily="34" charset="-122"/>
                <a:cs typeface="Cambria" pitchFamily="34" charset="-120"/>
              </a:rPr>
              <a:t>4</a:t>
            </a:r>
            <a:endParaRPr lang="en-US" sz="16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4 · COOLING</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The biggest plumbing change in data centre history</a:t>
            </a:r>
            <a:endParaRPr lang="en-US" sz="3000" dirty="0"/>
          </a:p>
        </p:txBody>
      </p:sp>
      <p:sp>
        <p:nvSpPr>
          <p:cNvPr id="4" name="Shape 2"/>
          <p:cNvSpPr/>
          <p:nvPr/>
        </p:nvSpPr>
        <p:spPr>
          <a:xfrm>
            <a:off x="502920" y="1600200"/>
            <a:ext cx="3566160" cy="1417320"/>
          </a:xfrm>
          <a:prstGeom prst="roundRect">
            <a:avLst>
              <a:gd name="adj" fmla="val 4516"/>
            </a:avLst>
          </a:prstGeom>
          <a:solidFill>
            <a:srgbClr val="D8E6F2"/>
          </a:solidFill>
          <a:ln/>
        </p:spPr>
      </p:sp>
      <p:sp>
        <p:nvSpPr>
          <p:cNvPr id="5" name="Text 3"/>
          <p:cNvSpPr txBox="1"/>
          <p:nvPr/>
        </p:nvSpPr>
        <p:spPr>
          <a:xfrm>
            <a:off x="667512" y="1709928"/>
            <a:ext cx="3236976" cy="737006"/>
          </a:xfrm>
          <a:prstGeom prst="rect">
            <a:avLst/>
          </a:prstGeom>
          <a:noFill/>
          <a:ln/>
        </p:spPr>
        <p:txBody>
          <a:bodyPr wrap="square" lIns="0" tIns="0" rIns="0" bIns="0" rtlCol="0" anchor="ctr"/>
          <a:lstStyle/>
          <a:p>
            <a:pPr algn="l" indent="0" marL="0">
              <a:buNone/>
            </a:pPr>
            <a:r>
              <a:rPr lang="en-US" sz="3000" b="1" dirty="0">
                <a:solidFill>
                  <a:srgbClr val="13202F"/>
                </a:solidFill>
                <a:latin typeface="Cambria" pitchFamily="34" charset="0"/>
                <a:ea typeface="Cambria" pitchFamily="34" charset="-122"/>
                <a:cs typeface="Cambria" pitchFamily="34" charset="-120"/>
              </a:rPr>
              <a:t>&gt;1,000 W</a:t>
            </a:r>
            <a:endParaRPr lang="en-US" sz="3000" dirty="0"/>
          </a:p>
        </p:txBody>
      </p:sp>
      <p:sp>
        <p:nvSpPr>
          <p:cNvPr id="6" name="Text 4"/>
          <p:cNvSpPr txBox="1"/>
          <p:nvPr/>
        </p:nvSpPr>
        <p:spPr>
          <a:xfrm>
            <a:off x="667512" y="2379726"/>
            <a:ext cx="3236976" cy="595274"/>
          </a:xfrm>
          <a:prstGeom prst="rect">
            <a:avLst/>
          </a:prstGeom>
          <a:noFill/>
          <a:ln/>
        </p:spPr>
        <p:txBody>
          <a:bodyPr wrap="square" lIns="0" tIns="0" rIns="0" bIns="0" rtlCol="0" anchor="t"/>
          <a:lstStyle/>
          <a:p>
            <a:pPr algn="l" indent="0" marL="0">
              <a:buNone/>
            </a:pPr>
            <a:r>
              <a:rPr lang="en-US" sz="1100" dirty="0">
                <a:solidFill>
                  <a:srgbClr val="5A6B7D"/>
                </a:solidFill>
                <a:latin typeface="Calibri" pitchFamily="34" charset="0"/>
                <a:ea typeface="Calibri" pitchFamily="34" charset="-122"/>
                <a:cs typeface="Calibri" pitchFamily="34" charset="-120"/>
              </a:rPr>
              <a:t>Heat from ONE flagship AI chip — a postcard-sized space heater</a:t>
            </a:r>
            <a:endParaRPr lang="en-US" sz="1100" dirty="0"/>
          </a:p>
        </p:txBody>
      </p:sp>
      <p:sp>
        <p:nvSpPr>
          <p:cNvPr id="7" name="Shape 5"/>
          <p:cNvSpPr/>
          <p:nvPr/>
        </p:nvSpPr>
        <p:spPr>
          <a:xfrm>
            <a:off x="4297680" y="1600200"/>
            <a:ext cx="3566160" cy="1417320"/>
          </a:xfrm>
          <a:prstGeom prst="roundRect">
            <a:avLst>
              <a:gd name="adj" fmla="val 4516"/>
            </a:avLst>
          </a:prstGeom>
          <a:solidFill>
            <a:srgbClr val="D8E6F2"/>
          </a:solidFill>
          <a:ln/>
        </p:spPr>
      </p:sp>
      <p:sp>
        <p:nvSpPr>
          <p:cNvPr id="8" name="Text 6"/>
          <p:cNvSpPr txBox="1"/>
          <p:nvPr/>
        </p:nvSpPr>
        <p:spPr>
          <a:xfrm>
            <a:off x="4462272" y="1709928"/>
            <a:ext cx="3236976" cy="737006"/>
          </a:xfrm>
          <a:prstGeom prst="rect">
            <a:avLst/>
          </a:prstGeom>
          <a:noFill/>
          <a:ln/>
        </p:spPr>
        <p:txBody>
          <a:bodyPr wrap="square" lIns="0" tIns="0" rIns="0" bIns="0" rtlCol="0" anchor="ctr"/>
          <a:lstStyle/>
          <a:p>
            <a:pPr algn="l" indent="0" marL="0">
              <a:buNone/>
            </a:pPr>
            <a:r>
              <a:rPr lang="en-US" sz="3000" b="1" dirty="0">
                <a:solidFill>
                  <a:srgbClr val="13202F"/>
                </a:solidFill>
                <a:latin typeface="Cambria" pitchFamily="34" charset="0"/>
                <a:ea typeface="Cambria" pitchFamily="34" charset="-122"/>
                <a:cs typeface="Cambria" pitchFamily="34" charset="-120"/>
              </a:rPr>
              <a:t>120 kW</a:t>
            </a:r>
            <a:endParaRPr lang="en-US" sz="3000" dirty="0"/>
          </a:p>
        </p:txBody>
      </p:sp>
      <p:sp>
        <p:nvSpPr>
          <p:cNvPr id="9" name="Text 7"/>
          <p:cNvSpPr txBox="1"/>
          <p:nvPr/>
        </p:nvSpPr>
        <p:spPr>
          <a:xfrm>
            <a:off x="4462272" y="2379726"/>
            <a:ext cx="3236976" cy="595274"/>
          </a:xfrm>
          <a:prstGeom prst="rect">
            <a:avLst/>
          </a:prstGeom>
          <a:noFill/>
          <a:ln/>
        </p:spPr>
        <p:txBody>
          <a:bodyPr wrap="square" lIns="0" tIns="0" rIns="0" bIns="0" rtlCol="0" anchor="t"/>
          <a:lstStyle/>
          <a:p>
            <a:pPr algn="l" indent="0" marL="0">
              <a:buNone/>
            </a:pPr>
            <a:r>
              <a:rPr lang="en-US" sz="1100" dirty="0">
                <a:solidFill>
                  <a:srgbClr val="5A6B7D"/>
                </a:solidFill>
                <a:latin typeface="Calibri" pitchFamily="34" charset="0"/>
                <a:ea typeface="Calibri" pitchFamily="34" charset="-122"/>
                <a:cs typeface="Calibri" pitchFamily="34" charset="-120"/>
              </a:rPr>
              <a:t>One rack = ~80 space heaters in a cabinet</a:t>
            </a:r>
            <a:endParaRPr lang="en-US" sz="1100" dirty="0"/>
          </a:p>
        </p:txBody>
      </p:sp>
      <p:sp>
        <p:nvSpPr>
          <p:cNvPr id="10" name="Shape 8"/>
          <p:cNvSpPr/>
          <p:nvPr/>
        </p:nvSpPr>
        <p:spPr>
          <a:xfrm>
            <a:off x="8092440" y="1600200"/>
            <a:ext cx="3566160" cy="1417320"/>
          </a:xfrm>
          <a:prstGeom prst="roundRect">
            <a:avLst>
              <a:gd name="adj" fmla="val 4516"/>
            </a:avLst>
          </a:prstGeom>
          <a:solidFill>
            <a:srgbClr val="2E8C97"/>
          </a:solidFill>
          <a:ln/>
        </p:spPr>
      </p:sp>
      <p:sp>
        <p:nvSpPr>
          <p:cNvPr id="11" name="Text 9"/>
          <p:cNvSpPr txBox="1"/>
          <p:nvPr/>
        </p:nvSpPr>
        <p:spPr>
          <a:xfrm>
            <a:off x="8257032" y="1709928"/>
            <a:ext cx="3236976" cy="737006"/>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3,000×</a:t>
            </a:r>
            <a:endParaRPr lang="en-US" sz="3000" dirty="0"/>
          </a:p>
        </p:txBody>
      </p:sp>
      <p:sp>
        <p:nvSpPr>
          <p:cNvPr id="12" name="Text 10"/>
          <p:cNvSpPr txBox="1"/>
          <p:nvPr/>
        </p:nvSpPr>
        <p:spPr>
          <a:xfrm>
            <a:off x="8257032" y="2379726"/>
            <a:ext cx="3236976" cy="595274"/>
          </a:xfrm>
          <a:prstGeom prst="rect">
            <a:avLst/>
          </a:prstGeom>
          <a:noFill/>
          <a:ln/>
        </p:spPr>
        <p:txBody>
          <a:bodyPr wrap="square" lIns="0" tIns="0" rIns="0" bIns="0" rtlCol="0" anchor="t"/>
          <a:lstStyle/>
          <a:p>
            <a:pPr algn="l" indent="0" marL="0">
              <a:buNone/>
            </a:pPr>
            <a:r>
              <a:rPr lang="en-US" sz="1100" dirty="0">
                <a:solidFill>
                  <a:srgbClr val="D8E6F2"/>
                </a:solidFill>
                <a:latin typeface="Calibri" pitchFamily="34" charset="0"/>
                <a:ea typeface="Calibri" pitchFamily="34" charset="-122"/>
                <a:cs typeface="Calibri" pitchFamily="34" charset="-120"/>
              </a:rPr>
              <a:t>Water carries heat ~3,000× more effectively than air per unit volume</a:t>
            </a:r>
            <a:endParaRPr lang="en-US" sz="1100" dirty="0"/>
          </a:p>
        </p:txBody>
      </p:sp>
      <p:sp>
        <p:nvSpPr>
          <p:cNvPr id="13" name="Text 11"/>
          <p:cNvSpPr txBox="1"/>
          <p:nvPr/>
        </p:nvSpPr>
        <p:spPr>
          <a:xfrm>
            <a:off x="502920" y="3200400"/>
            <a:ext cx="11155680" cy="777240"/>
          </a:xfrm>
          <a:prstGeom prst="rect">
            <a:avLst/>
          </a:prstGeom>
          <a:noFill/>
          <a:ln/>
        </p:spPr>
        <p:txBody>
          <a:bodyPr wrap="square" lIns="0" tIns="0" rIns="0" bIns="0" rtlCol="0" anchor="ctr"/>
          <a:lstStyle/>
          <a:p>
            <a:pPr indent="0" marL="0">
              <a:lnSpc>
                <a:spcPct val="115000"/>
              </a:lnSpc>
              <a:buNone/>
            </a:pPr>
            <a:r>
              <a:rPr lang="en-US" sz="1350" b="1" dirty="0">
                <a:solidFill>
                  <a:srgbClr val="1A2430"/>
                </a:solidFill>
                <a:latin typeface="Calibri" pitchFamily="34" charset="0"/>
                <a:ea typeface="Calibri" pitchFamily="34" charset="-122"/>
                <a:cs typeface="Calibri" pitchFamily="34" charset="-120"/>
              </a:rPr>
              <a:t>Air is dead above ~30–50 kW/rack </a:t>
            </a:r>
            <a:pPr indent="0" marL="0">
              <a:lnSpc>
                <a:spcPct val="115000"/>
              </a:lnSpc>
              <a:buNone/>
            </a:pPr>
            <a:r>
              <a:rPr lang="en-US" sz="1350" dirty="0">
                <a:solidFill>
                  <a:srgbClr val="5A6B7D"/>
                </a:solidFill>
                <a:latin typeface="Calibri" pitchFamily="34" charset="0"/>
                <a:ea typeface="Calibri" pitchFamily="34" charset="-122"/>
                <a:cs typeface="Calibri" pitchFamily="34" charset="-120"/>
              </a:rPr>
              <a:t>— and we just passed that line permanently. Air simply cannot carry heat away fast enough from a 120 kW rack; you'd need hurricane-force winds through the servers. So the industry is switching from air to liquid.</a:t>
            </a:r>
            <a:endParaRPr lang="en-US" sz="1350" dirty="0"/>
          </a:p>
        </p:txBody>
      </p:sp>
      <p:sp>
        <p:nvSpPr>
          <p:cNvPr id="14" name="Shape 12"/>
          <p:cNvSpPr/>
          <p:nvPr/>
        </p:nvSpPr>
        <p:spPr>
          <a:xfrm>
            <a:off x="502920" y="4114800"/>
            <a:ext cx="3566160" cy="1691640"/>
          </a:xfrm>
          <a:prstGeom prst="roundRect">
            <a:avLst>
              <a:gd name="adj" fmla="val 3784"/>
            </a:avLst>
          </a:prstGeom>
          <a:solidFill>
            <a:srgbClr val="F4F7FA"/>
          </a:solidFill>
          <a:ln w="9525">
            <a:solidFill>
              <a:srgbClr val="DDE5EC"/>
            </a:solidFill>
            <a:prstDash val="solid"/>
          </a:ln>
        </p:spPr>
      </p:sp>
      <p:sp>
        <p:nvSpPr>
          <p:cNvPr id="15" name="Text 13"/>
          <p:cNvSpPr txBox="1"/>
          <p:nvPr/>
        </p:nvSpPr>
        <p:spPr>
          <a:xfrm>
            <a:off x="667512" y="4251960"/>
            <a:ext cx="3246120" cy="502920"/>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Rear-door heat exchanger</a:t>
            </a:r>
            <a:endParaRPr lang="en-US" sz="1250" dirty="0"/>
          </a:p>
        </p:txBody>
      </p:sp>
      <p:sp>
        <p:nvSpPr>
          <p:cNvPr id="16" name="Text 14"/>
          <p:cNvSpPr txBox="1"/>
          <p:nvPr/>
        </p:nvSpPr>
        <p:spPr>
          <a:xfrm>
            <a:off x="667512" y="4754880"/>
            <a:ext cx="3246120" cy="960120"/>
          </a:xfrm>
          <a:prstGeom prst="rect">
            <a:avLst/>
          </a:prstGeom>
          <a:noFill/>
          <a:ln/>
        </p:spPr>
        <p:txBody>
          <a:bodyPr wrap="square" lIns="0" tIns="0" rIns="0" bIns="0" rtlCol="0" anchor="t"/>
          <a:lstStyle/>
          <a:p>
            <a:pPr indent="0" marL="0">
              <a:lnSpc>
                <a:spcPct val="110000"/>
              </a:lnSpc>
              <a:buNone/>
            </a:pPr>
            <a:r>
              <a:rPr lang="en-US" sz="1050" dirty="0">
                <a:solidFill>
                  <a:srgbClr val="5A6B7D"/>
                </a:solidFill>
                <a:latin typeface="Calibri" pitchFamily="34" charset="0"/>
                <a:ea typeface="Calibri" pitchFamily="34" charset="-122"/>
                <a:cs typeface="Calibri" pitchFamily="34" charset="-120"/>
              </a:rPr>
              <a:t>Water-cooled radiator bolted to the back of the rack. A transitional patch.</a:t>
            </a:r>
            <a:endParaRPr lang="en-US" sz="1050" dirty="0"/>
          </a:p>
        </p:txBody>
      </p:sp>
      <p:sp>
        <p:nvSpPr>
          <p:cNvPr id="17" name="Shape 15"/>
          <p:cNvSpPr/>
          <p:nvPr/>
        </p:nvSpPr>
        <p:spPr>
          <a:xfrm>
            <a:off x="4297680" y="4114800"/>
            <a:ext cx="3566160" cy="1691640"/>
          </a:xfrm>
          <a:prstGeom prst="roundRect">
            <a:avLst>
              <a:gd name="adj" fmla="val 3784"/>
            </a:avLst>
          </a:prstGeom>
          <a:solidFill>
            <a:srgbClr val="2E8C97"/>
          </a:solidFill>
          <a:ln w="9525">
            <a:solidFill>
              <a:srgbClr val="DDE5EC"/>
            </a:solidFill>
            <a:prstDash val="solid"/>
          </a:ln>
        </p:spPr>
      </p:sp>
      <p:sp>
        <p:nvSpPr>
          <p:cNvPr id="18" name="Text 16"/>
          <p:cNvSpPr txBox="1"/>
          <p:nvPr/>
        </p:nvSpPr>
        <p:spPr>
          <a:xfrm>
            <a:off x="4462272" y="4251960"/>
            <a:ext cx="3246120" cy="50292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Direct-to-chip (2026 mainstream)</a:t>
            </a:r>
            <a:endParaRPr lang="en-US" sz="1250" dirty="0"/>
          </a:p>
        </p:txBody>
      </p:sp>
      <p:sp>
        <p:nvSpPr>
          <p:cNvPr id="19" name="Text 17"/>
          <p:cNvSpPr txBox="1"/>
          <p:nvPr/>
        </p:nvSpPr>
        <p:spPr>
          <a:xfrm>
            <a:off x="4462272" y="4754880"/>
            <a:ext cx="3246120" cy="960120"/>
          </a:xfrm>
          <a:prstGeom prst="rect">
            <a:avLst/>
          </a:prstGeom>
          <a:noFill/>
          <a:ln/>
        </p:spPr>
        <p:txBody>
          <a:bodyPr wrap="square" lIns="0" tIns="0" rIns="0" bIns="0" rtlCol="0" anchor="t"/>
          <a:lstStyle/>
          <a:p>
            <a:pPr indent="0" marL="0">
              <a:lnSpc>
                <a:spcPct val="110000"/>
              </a:lnSpc>
              <a:buNone/>
            </a:pPr>
            <a:r>
              <a:rPr lang="en-US" sz="1050" dirty="0">
                <a:solidFill>
                  <a:srgbClr val="D8E6F2"/>
                </a:solidFill>
                <a:latin typeface="Calibri" pitchFamily="34" charset="0"/>
                <a:ea typeface="Calibri" pitchFamily="34" charset="-122"/>
                <a:cs typeface="Calibri" pitchFamily="34" charset="-120"/>
              </a:rPr>
              <a:t>Cold plate with liquid channels sits ON each chip, hosed to a CDU — the coolant distribution unit, the rack's heart. Nvidia flagship racks REQUIRE it, not offer it.</a:t>
            </a:r>
            <a:endParaRPr lang="en-US" sz="1050" dirty="0"/>
          </a:p>
        </p:txBody>
      </p:sp>
      <p:sp>
        <p:nvSpPr>
          <p:cNvPr id="20" name="Shape 18"/>
          <p:cNvSpPr/>
          <p:nvPr/>
        </p:nvSpPr>
        <p:spPr>
          <a:xfrm>
            <a:off x="8092440" y="4114800"/>
            <a:ext cx="3566160" cy="1691640"/>
          </a:xfrm>
          <a:prstGeom prst="roundRect">
            <a:avLst>
              <a:gd name="adj" fmla="val 3784"/>
            </a:avLst>
          </a:prstGeom>
          <a:solidFill>
            <a:srgbClr val="F4F7FA"/>
          </a:solidFill>
          <a:ln w="9525">
            <a:solidFill>
              <a:srgbClr val="DDE5EC"/>
            </a:solidFill>
            <a:prstDash val="solid"/>
          </a:ln>
        </p:spPr>
      </p:sp>
      <p:sp>
        <p:nvSpPr>
          <p:cNvPr id="21" name="Text 19"/>
          <p:cNvSpPr txBox="1"/>
          <p:nvPr/>
        </p:nvSpPr>
        <p:spPr>
          <a:xfrm>
            <a:off x="8257032" y="4251960"/>
            <a:ext cx="3246120" cy="502920"/>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Immersion</a:t>
            </a:r>
            <a:endParaRPr lang="en-US" sz="1250" dirty="0"/>
          </a:p>
        </p:txBody>
      </p:sp>
      <p:sp>
        <p:nvSpPr>
          <p:cNvPr id="22" name="Text 20"/>
          <p:cNvSpPr txBox="1"/>
          <p:nvPr/>
        </p:nvSpPr>
        <p:spPr>
          <a:xfrm>
            <a:off x="8257032" y="4754880"/>
            <a:ext cx="3246120" cy="960120"/>
          </a:xfrm>
          <a:prstGeom prst="rect">
            <a:avLst/>
          </a:prstGeom>
          <a:noFill/>
          <a:ln/>
        </p:spPr>
        <p:txBody>
          <a:bodyPr wrap="square" lIns="0" tIns="0" rIns="0" bIns="0" rtlCol="0" anchor="t"/>
          <a:lstStyle/>
          <a:p>
            <a:pPr indent="0" marL="0">
              <a:lnSpc>
                <a:spcPct val="110000"/>
              </a:lnSpc>
              <a:buNone/>
            </a:pPr>
            <a:r>
              <a:rPr lang="en-US" sz="1050" dirty="0">
                <a:solidFill>
                  <a:srgbClr val="5A6B7D"/>
                </a:solidFill>
                <a:latin typeface="Calibri" pitchFamily="34" charset="0"/>
                <a:ea typeface="Calibri" pitchFamily="34" charset="-122"/>
                <a:cs typeface="Calibri" pitchFamily="34" charset="-120"/>
              </a:rPr>
              <a:t>Dunk entire servers in tanks of non-conductive fluid — deep-frying a computer that never burns.</a:t>
            </a:r>
            <a:endParaRPr lang="en-US" sz="1050" dirty="0"/>
          </a:p>
        </p:txBody>
      </p:sp>
      <p:sp>
        <p:nvSpPr>
          <p:cNvPr id="23" name="Text 21"/>
          <p:cNvSpPr txBox="1"/>
          <p:nvPr/>
        </p:nvSpPr>
        <p:spPr>
          <a:xfrm>
            <a:off x="502920" y="5943600"/>
            <a:ext cx="11155680" cy="548640"/>
          </a:xfrm>
          <a:prstGeom prst="rect">
            <a:avLst/>
          </a:prstGeom>
          <a:noFill/>
          <a:ln/>
        </p:spPr>
        <p:txBody>
          <a:bodyPr wrap="square" lIns="0" tIns="0" rIns="0" bIns="0" rtlCol="0" anchor="ctr"/>
          <a:lstStyle/>
          <a:p>
            <a:pPr indent="0" marL="0">
              <a:lnSpc>
                <a:spcPct val="110000"/>
              </a:lnSpc>
              <a:buNone/>
            </a:pPr>
            <a:r>
              <a:rPr lang="en-US" sz="1050" dirty="0">
                <a:solidFill>
                  <a:srgbClr val="5A6B7D"/>
                </a:solidFill>
                <a:latin typeface="Calibri" pitchFamily="34" charset="0"/>
                <a:ea typeface="Calibri" pitchFamily="34" charset="-122"/>
                <a:cs typeface="Calibri" pitchFamily="34" charset="-120"/>
              </a:rPr>
              <a:t>PUE (power usage effectiveness) = total power in ÷ power reaching the computers. Old data centres ~2.0; modern liquid-cooled ~1.1. That gap × a gigawatt × electricity prices = real money.  ·  Water use (evaporating millions of gallons) is becoming a permitting fight in dry regions — it decides where facilities get built.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4 · WHO GETS PAID</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Cooling: the clearest picks-and-shovels lane in the stack</a:t>
            </a:r>
            <a:endParaRPr lang="en-US" sz="3000" dirty="0"/>
          </a:p>
        </p:txBody>
      </p:sp>
      <p:sp>
        <p:nvSpPr>
          <p:cNvPr id="4" name="Shape 2"/>
          <p:cNvSpPr/>
          <p:nvPr/>
        </p:nvSpPr>
        <p:spPr>
          <a:xfrm>
            <a:off x="502920" y="1645920"/>
            <a:ext cx="5486400" cy="1554480"/>
          </a:xfrm>
          <a:prstGeom prst="roundRect">
            <a:avLst>
              <a:gd name="adj" fmla="val 3529"/>
            </a:avLst>
          </a:prstGeom>
          <a:solidFill>
            <a:srgbClr val="D8E6F2"/>
          </a:solidFill>
          <a:ln w="9525">
            <a:solidFill>
              <a:srgbClr val="DDE5EC"/>
            </a:solidFill>
            <a:prstDash val="solid"/>
          </a:ln>
        </p:spPr>
      </p:sp>
      <p:sp>
        <p:nvSpPr>
          <p:cNvPr id="5" name="Text 3"/>
          <p:cNvSpPr txBox="1"/>
          <p:nvPr/>
        </p:nvSpPr>
        <p:spPr>
          <a:xfrm>
            <a:off x="649224" y="173736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Vertiv</a:t>
            </a:r>
            <a:pPr indent="0" marL="0">
              <a:buNone/>
            </a:pPr>
            <a:r>
              <a:rPr lang="en-US" sz="1000" i="1" dirty="0">
                <a:solidFill>
                  <a:srgbClr val="B87A18"/>
                </a:solidFill>
                <a:latin typeface="Calibri" pitchFamily="34" charset="0"/>
                <a:ea typeface="Calibri" pitchFamily="34" charset="-122"/>
                <a:cs typeface="Calibri" pitchFamily="34" charset="-120"/>
              </a:rPr>
              <a:t>   market leader — both sides</a:t>
            </a:r>
            <a:endParaRPr lang="en-US" sz="1350" dirty="0"/>
          </a:p>
        </p:txBody>
      </p:sp>
      <p:sp>
        <p:nvSpPr>
          <p:cNvPr id="6" name="Text 4"/>
          <p:cNvSpPr txBox="1"/>
          <p:nvPr/>
        </p:nvSpPr>
        <p:spPr>
          <a:xfrm>
            <a:off x="649224" y="2011680"/>
            <a:ext cx="5193792" cy="109728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The rare company selling BOTH the power gear and the liquid cooling — a one-stop shop growing revenue ~28%/yr at ~20% margins.</a:t>
            </a:r>
            <a:endParaRPr lang="en-US" sz="1050" dirty="0"/>
          </a:p>
        </p:txBody>
      </p:sp>
      <p:sp>
        <p:nvSpPr>
          <p:cNvPr id="7" name="Shape 5"/>
          <p:cNvSpPr/>
          <p:nvPr/>
        </p:nvSpPr>
        <p:spPr>
          <a:xfrm>
            <a:off x="6172200" y="1645920"/>
            <a:ext cx="5486400" cy="1554480"/>
          </a:xfrm>
          <a:prstGeom prst="roundRect">
            <a:avLst>
              <a:gd name="adj" fmla="val 3529"/>
            </a:avLst>
          </a:prstGeom>
          <a:solidFill>
            <a:srgbClr val="F4F7FA"/>
          </a:solidFill>
          <a:ln w="9525">
            <a:solidFill>
              <a:srgbClr val="DDE5EC"/>
            </a:solidFill>
            <a:prstDash val="solid"/>
          </a:ln>
        </p:spPr>
      </p:sp>
      <p:sp>
        <p:nvSpPr>
          <p:cNvPr id="8" name="Text 6"/>
          <p:cNvSpPr txBox="1"/>
          <p:nvPr/>
        </p:nvSpPr>
        <p:spPr>
          <a:xfrm>
            <a:off x="6318504" y="173736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Eaton · Schneider Electric</a:t>
            </a:r>
            <a:pPr indent="0" marL="0">
              <a:buNone/>
            </a:pPr>
            <a:r>
              <a:rPr lang="en-US" sz="1000" i="1" dirty="0">
                <a:solidFill>
                  <a:srgbClr val="B87A18"/>
                </a:solidFill>
                <a:latin typeface="Calibri" pitchFamily="34" charset="0"/>
                <a:ea typeface="Calibri" pitchFamily="34" charset="-122"/>
                <a:cs typeface="Calibri" pitchFamily="34" charset="-120"/>
              </a:rPr>
              <a:t>   the tell</a:t>
            </a:r>
            <a:endParaRPr lang="en-US" sz="1350" dirty="0"/>
          </a:p>
        </p:txBody>
      </p:sp>
      <p:sp>
        <p:nvSpPr>
          <p:cNvPr id="9" name="Text 7"/>
          <p:cNvSpPr txBox="1"/>
          <p:nvPr/>
        </p:nvSpPr>
        <p:spPr>
          <a:xfrm>
            <a:off x="6318504" y="2011680"/>
            <a:ext cx="5193792" cy="109728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Within months of each other, both electrical giants BOUGHT their way into liquid cooling — Eaton paid ~$9.5bn for Boyd Thermal; Schneider bought Motivair. When two disciplined industrials pay up for the same niche, they are telling you what they think every future data centre looks like.</a:t>
            </a:r>
            <a:endParaRPr lang="en-US" sz="1050" dirty="0"/>
          </a:p>
        </p:txBody>
      </p:sp>
      <p:sp>
        <p:nvSpPr>
          <p:cNvPr id="10" name="Shape 8"/>
          <p:cNvSpPr/>
          <p:nvPr/>
        </p:nvSpPr>
        <p:spPr>
          <a:xfrm>
            <a:off x="502920" y="3337560"/>
            <a:ext cx="5486400" cy="1325880"/>
          </a:xfrm>
          <a:prstGeom prst="roundRect">
            <a:avLst>
              <a:gd name="adj" fmla="val 4138"/>
            </a:avLst>
          </a:prstGeom>
          <a:solidFill>
            <a:srgbClr val="F4F7FA"/>
          </a:solidFill>
          <a:ln w="9525">
            <a:solidFill>
              <a:srgbClr val="DDE5EC"/>
            </a:solidFill>
            <a:prstDash val="solid"/>
          </a:ln>
        </p:spPr>
      </p:sp>
      <p:sp>
        <p:nvSpPr>
          <p:cNvPr id="11" name="Text 9"/>
          <p:cNvSpPr txBox="1"/>
          <p:nvPr/>
        </p:nvSpPr>
        <p:spPr>
          <a:xfrm>
            <a:off x="649224" y="342900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nVent · CoolIT Systems</a:t>
            </a:r>
            <a:pPr indent="0" marL="0">
              <a:buNone/>
            </a:pPr>
            <a:r>
              <a:rPr lang="en-US" sz="1000" i="1" dirty="0">
                <a:solidFill>
                  <a:srgbClr val="B87A18"/>
                </a:solidFill>
                <a:latin typeface="Calibri" pitchFamily="34" charset="0"/>
                <a:ea typeface="Calibri" pitchFamily="34" charset="-122"/>
                <a:cs typeface="Calibri" pitchFamily="34" charset="-120"/>
              </a:rPr>
              <a:t>   the specialists</a:t>
            </a:r>
            <a:endParaRPr lang="en-US" sz="1350" dirty="0"/>
          </a:p>
        </p:txBody>
      </p:sp>
      <p:sp>
        <p:nvSpPr>
          <p:cNvPr id="12" name="Text 10"/>
          <p:cNvSpPr txBox="1"/>
          <p:nvPr/>
        </p:nvSpPr>
        <p:spPr>
          <a:xfrm>
            <a:off x="649224" y="3703320"/>
            <a:ext cx="5193792" cy="86868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nVent: cooling loops and enclosures. CoolIT (private): the cold plates shipping inside many brand-name servers.</a:t>
            </a:r>
            <a:endParaRPr lang="en-US" sz="1050" dirty="0"/>
          </a:p>
        </p:txBody>
      </p:sp>
      <p:sp>
        <p:nvSpPr>
          <p:cNvPr id="13" name="Shape 11"/>
          <p:cNvSpPr/>
          <p:nvPr/>
        </p:nvSpPr>
        <p:spPr>
          <a:xfrm>
            <a:off x="6172200" y="3337560"/>
            <a:ext cx="5486400" cy="1325880"/>
          </a:xfrm>
          <a:prstGeom prst="roundRect">
            <a:avLst>
              <a:gd name="adj" fmla="val 4138"/>
            </a:avLst>
          </a:prstGeom>
          <a:solidFill>
            <a:srgbClr val="F4F7FA"/>
          </a:solidFill>
          <a:ln w="9525">
            <a:solidFill>
              <a:srgbClr val="DDE5EC"/>
            </a:solidFill>
            <a:prstDash val="solid"/>
          </a:ln>
        </p:spPr>
      </p:sp>
      <p:sp>
        <p:nvSpPr>
          <p:cNvPr id="14" name="Text 12"/>
          <p:cNvSpPr txBox="1"/>
          <p:nvPr/>
        </p:nvSpPr>
        <p:spPr>
          <a:xfrm>
            <a:off x="6318504" y="342900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The market</a:t>
            </a:r>
            <a:pPr indent="0" marL="0">
              <a:buNone/>
            </a:pPr>
            <a:r>
              <a:rPr lang="en-US" sz="1000" i="1" dirty="0">
                <a:solidFill>
                  <a:srgbClr val="3E8E5A"/>
                </a:solidFill>
                <a:latin typeface="Calibri" pitchFamily="34" charset="0"/>
                <a:ea typeface="Calibri" pitchFamily="34" charset="-122"/>
                <a:cs typeface="Calibri" pitchFamily="34" charset="-120"/>
              </a:rPr>
              <a:t>   $5bn → $15–27bn</a:t>
            </a:r>
            <a:endParaRPr lang="en-US" sz="1350" dirty="0"/>
          </a:p>
        </p:txBody>
      </p:sp>
      <p:sp>
        <p:nvSpPr>
          <p:cNvPr id="15" name="Text 13"/>
          <p:cNvSpPr txBox="1"/>
          <p:nvPr/>
        </p:nvSpPr>
        <p:spPr>
          <a:xfrm>
            <a:off x="6318504" y="3703320"/>
            <a:ext cx="5193792" cy="86868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Liquid cooling was ~$5bn in 2025; forecasts put it at $15–27bn by the early 2030s.</a:t>
            </a:r>
            <a:endParaRPr lang="en-US" sz="1050" dirty="0"/>
          </a:p>
        </p:txBody>
      </p:sp>
      <p:sp>
        <p:nvSpPr>
          <p:cNvPr id="16" name="Shape 14"/>
          <p:cNvSpPr/>
          <p:nvPr/>
        </p:nvSpPr>
        <p:spPr>
          <a:xfrm>
            <a:off x="502920" y="4892040"/>
            <a:ext cx="11155680" cy="1051560"/>
          </a:xfrm>
          <a:prstGeom prst="roundRect">
            <a:avLst>
              <a:gd name="adj" fmla="val 6087"/>
            </a:avLst>
          </a:prstGeom>
          <a:solidFill>
            <a:srgbClr val="13202F"/>
          </a:solidFill>
          <a:ln/>
        </p:spPr>
      </p:sp>
      <p:sp>
        <p:nvSpPr>
          <p:cNvPr id="17" name="Text 15"/>
          <p:cNvSpPr txBox="1"/>
          <p:nvPr/>
        </p:nvSpPr>
        <p:spPr>
          <a:xfrm>
            <a:off x="777240" y="5029200"/>
            <a:ext cx="10607040" cy="777240"/>
          </a:xfrm>
          <a:prstGeom prst="rect">
            <a:avLst/>
          </a:prstGeom>
          <a:noFill/>
          <a:ln/>
        </p:spPr>
        <p:txBody>
          <a:bodyPr wrap="square" lIns="0" tIns="0" rIns="0" bIns="0" rtlCol="0" anchor="ctr"/>
          <a:lstStyle/>
          <a:p>
            <a:pPr indent="0" marL="0">
              <a:buNone/>
            </a:pPr>
            <a:r>
              <a:rPr lang="en-US" sz="1500" b="1" dirty="0">
                <a:solidFill>
                  <a:srgbClr val="F0A431"/>
                </a:solidFill>
                <a:latin typeface="Calibri" pitchFamily="34" charset="0"/>
                <a:ea typeface="Calibri" pitchFamily="34" charset="-122"/>
                <a:cs typeface="Calibri" pitchFamily="34" charset="-120"/>
              </a:rPr>
              <a:t>Why this lane is clean: it does not care whether Nvidia, AMD, or Google wins. Heat is heat.</a:t>
            </a:r>
            <a:endParaRPr lang="en-US" sz="1500" dirty="0"/>
          </a:p>
        </p:txBody>
      </p:sp>
      <p:sp>
        <p:nvSpPr>
          <p:cNvPr id="19" name="Text 16"/>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02F"/>
        </a:solidFill>
      </p:bgPr>
    </p:bg>
    <p:spTree>
      <p:nvGrpSpPr>
        <p:cNvPr id="1" name=""/>
        <p:cNvGrpSpPr/>
        <p:nvPr/>
      </p:nvGrpSpPr>
      <p:grpSpPr>
        <a:xfrm>
          <a:off x="0" y="0"/>
          <a:ext cx="0" cy="0"/>
          <a:chOff x="0" y="0"/>
          <a:chExt cx="0" cy="0"/>
        </a:xfrm>
      </p:grpSpPr>
      <p:sp>
        <p:nvSpPr>
          <p:cNvPr id="2" name="Text 0"/>
          <p:cNvSpPr txBox="1"/>
          <p:nvPr/>
        </p:nvSpPr>
        <p:spPr>
          <a:xfrm>
            <a:off x="731520" y="2011680"/>
            <a:ext cx="10698480" cy="365760"/>
          </a:xfrm>
          <a:prstGeom prst="rect">
            <a:avLst/>
          </a:prstGeom>
          <a:noFill/>
          <a:ln/>
        </p:spPr>
        <p:txBody>
          <a:bodyPr wrap="square" lIns="0" tIns="0" rIns="0" bIns="0" rtlCol="0" anchor="ctr"/>
          <a:lstStyle/>
          <a:p>
            <a:pPr indent="0" marL="0">
              <a:buNone/>
            </a:pPr>
            <a:r>
              <a:rPr lang="en-US" sz="1400" b="1" spc="400" kern="0" dirty="0">
                <a:solidFill>
                  <a:srgbClr val="F0A431"/>
                </a:solidFill>
                <a:latin typeface="Calibri" pitchFamily="34" charset="0"/>
                <a:ea typeface="Calibri" pitchFamily="34" charset="-122"/>
                <a:cs typeface="Calibri" pitchFamily="34" charset="-120"/>
              </a:rPr>
              <a:t>ACT 5</a:t>
            </a:r>
            <a:endParaRPr lang="en-US" sz="1400" dirty="0"/>
          </a:p>
        </p:txBody>
      </p:sp>
      <p:sp>
        <p:nvSpPr>
          <p:cNvPr id="3" name="Text 1"/>
          <p:cNvSpPr txBox="1"/>
          <p:nvPr/>
        </p:nvSpPr>
        <p:spPr>
          <a:xfrm>
            <a:off x="731520" y="2423160"/>
            <a:ext cx="1069848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Inside the AI server</a:t>
            </a:r>
            <a:endParaRPr lang="en-US" sz="4400" dirty="0"/>
          </a:p>
        </p:txBody>
      </p:sp>
      <p:sp>
        <p:nvSpPr>
          <p:cNvPr id="4" name="Text 2"/>
          <p:cNvSpPr txBox="1"/>
          <p:nvPr/>
        </p:nvSpPr>
        <p:spPr>
          <a:xfrm>
            <a:off x="731520" y="3886200"/>
            <a:ext cx="9601200" cy="1463040"/>
          </a:xfrm>
          <a:prstGeom prst="rect">
            <a:avLst/>
          </a:prstGeom>
          <a:noFill/>
          <a:ln/>
        </p:spPr>
        <p:txBody>
          <a:bodyPr wrap="square" lIns="0" tIns="0" rIns="0" bIns="0" rtlCol="0" anchor="ctr"/>
          <a:lstStyle/>
          <a:p>
            <a:pPr indent="0" marL="0">
              <a:lnSpc>
                <a:spcPct val="115000"/>
              </a:lnSpc>
              <a:buNone/>
            </a:pPr>
            <a:r>
              <a:rPr lang="en-US" sz="1600" dirty="0">
                <a:solidFill>
                  <a:srgbClr val="D8E6F2"/>
                </a:solidFill>
                <a:latin typeface="Calibri" pitchFamily="34" charset="0"/>
                <a:ea typeface="Calibri" pitchFamily="34" charset="-122"/>
                <a:cs typeface="Calibri" pitchFamily="34" charset="-120"/>
              </a:rPr>
              <a:t>The machine your question runs through: Nvidia's GB200 NVL72 — 72 GPUs wired so tightly they behave as one computer. A ton and a half, 120 kW, roughly $3 million.</a:t>
            </a:r>
            <a:endParaRPr lang="en-US" sz="1600" dirty="0"/>
          </a:p>
        </p:txBody>
      </p:sp>
      <p:sp>
        <p:nvSpPr>
          <p:cNvPr id="5" name="Text 3"/>
          <p:cNvSpPr txBox="1"/>
          <p:nvPr/>
        </p:nvSpPr>
        <p:spPr>
          <a:xfrm>
            <a:off x="8778240" y="640080"/>
            <a:ext cx="3017520" cy="3017520"/>
          </a:xfrm>
          <a:prstGeom prst="rect">
            <a:avLst/>
          </a:prstGeom>
          <a:noFill/>
          <a:ln/>
        </p:spPr>
        <p:txBody>
          <a:bodyPr wrap="square" lIns="0" tIns="0" rIns="0" bIns="0" rtlCol="0" anchor="ctr"/>
          <a:lstStyle/>
          <a:p>
            <a:pPr algn="r" indent="0" marL="0">
              <a:buNone/>
            </a:pPr>
            <a:r>
              <a:rPr lang="en-US" sz="16000" b="1" dirty="0">
                <a:solidFill>
                  <a:srgbClr val="1C2E42"/>
                </a:solidFill>
                <a:latin typeface="Cambria" pitchFamily="34" charset="0"/>
                <a:ea typeface="Cambria" pitchFamily="34" charset="-122"/>
                <a:cs typeface="Cambria" pitchFamily="34" charset="-120"/>
              </a:rPr>
              <a:t>5</a:t>
            </a:r>
            <a:endParaRPr lang="en-US" sz="16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5 · ANATOMY</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The kitchen: who does what inside the box</a:t>
            </a:r>
            <a:endParaRPr lang="en-US" sz="3000" dirty="0"/>
          </a:p>
        </p:txBody>
      </p:sp>
      <p:sp>
        <p:nvSpPr>
          <p:cNvPr id="4" name="Shape 2"/>
          <p:cNvSpPr/>
          <p:nvPr/>
        </p:nvSpPr>
        <p:spPr>
          <a:xfrm>
            <a:off x="502920" y="1600200"/>
            <a:ext cx="11155680" cy="1033272"/>
          </a:xfrm>
          <a:prstGeom prst="roundRect">
            <a:avLst>
              <a:gd name="adj" fmla="val 5310"/>
            </a:avLst>
          </a:prstGeom>
          <a:solidFill>
            <a:srgbClr val="F4F7FA"/>
          </a:solidFill>
          <a:ln w="9525">
            <a:solidFill>
              <a:srgbClr val="DDE5EC"/>
            </a:solidFill>
            <a:prstDash val="solid"/>
          </a:ln>
        </p:spPr>
      </p:sp>
      <p:sp>
        <p:nvSpPr>
          <p:cNvPr id="5" name="Text 3"/>
          <p:cNvSpPr txBox="1"/>
          <p:nvPr/>
        </p:nvSpPr>
        <p:spPr>
          <a:xfrm>
            <a:off x="777240" y="1719072"/>
            <a:ext cx="1737360" cy="411480"/>
          </a:xfrm>
          <a:prstGeom prst="rect">
            <a:avLst/>
          </a:prstGeom>
          <a:noFill/>
          <a:ln/>
        </p:spPr>
        <p:txBody>
          <a:bodyPr wrap="square" lIns="0" tIns="0" rIns="0" bIns="0" rtlCol="0" anchor="ctr"/>
          <a:lstStyle/>
          <a:p>
            <a:pPr indent="0" marL="0">
              <a:buNone/>
            </a:pPr>
            <a:r>
              <a:rPr lang="en-US" sz="1700" b="1" dirty="0">
                <a:solidFill>
                  <a:srgbClr val="13202F"/>
                </a:solidFill>
                <a:latin typeface="Cambria" pitchFamily="34" charset="0"/>
                <a:ea typeface="Cambria" pitchFamily="34" charset="-122"/>
                <a:cs typeface="Cambria" pitchFamily="34" charset="-120"/>
              </a:rPr>
              <a:t>CPU</a:t>
            </a:r>
            <a:endParaRPr lang="en-US" sz="1700" dirty="0"/>
          </a:p>
        </p:txBody>
      </p:sp>
      <p:sp>
        <p:nvSpPr>
          <p:cNvPr id="6" name="Text 4"/>
          <p:cNvSpPr txBox="1"/>
          <p:nvPr/>
        </p:nvSpPr>
        <p:spPr>
          <a:xfrm>
            <a:off x="777240" y="2130552"/>
            <a:ext cx="1737360" cy="365760"/>
          </a:xfrm>
          <a:prstGeom prst="rect">
            <a:avLst/>
          </a:prstGeom>
          <a:noFill/>
          <a:ln/>
        </p:spPr>
        <p:txBody>
          <a:bodyPr wrap="square" lIns="0" tIns="0" rIns="0" bIns="0" rtlCol="0" anchor="ctr"/>
          <a:lstStyle/>
          <a:p>
            <a:pPr indent="0" marL="0">
              <a:buNone/>
            </a:pPr>
            <a:r>
              <a:rPr lang="en-US" sz="1000" i="1" dirty="0">
                <a:solidFill>
                  <a:srgbClr val="B87A18"/>
                </a:solidFill>
                <a:latin typeface="Calibri" pitchFamily="34" charset="0"/>
                <a:ea typeface="Calibri" pitchFamily="34" charset="-122"/>
                <a:cs typeface="Calibri" pitchFamily="34" charset="-120"/>
              </a:rPr>
              <a:t>The head chef</a:t>
            </a:r>
            <a:endParaRPr lang="en-US" sz="1000" dirty="0"/>
          </a:p>
        </p:txBody>
      </p:sp>
      <p:sp>
        <p:nvSpPr>
          <p:cNvPr id="7" name="Text 5"/>
          <p:cNvSpPr txBox="1"/>
          <p:nvPr/>
        </p:nvSpPr>
        <p:spPr>
          <a:xfrm>
            <a:off x="2697480" y="1709928"/>
            <a:ext cx="8686800" cy="841248"/>
          </a:xfrm>
          <a:prstGeom prst="rect">
            <a:avLst/>
          </a:prstGeom>
          <a:noFill/>
          <a:ln/>
        </p:spPr>
        <p:txBody>
          <a:bodyPr wrap="square" lIns="0" tIns="0" rIns="0" bIns="0" rtlCol="0" anchor="t"/>
          <a:lstStyle/>
          <a:p>
            <a:pPr indent="0" marL="0">
              <a:lnSpc>
                <a:spcPct val="108000"/>
              </a:lnSpc>
              <a:buNone/>
            </a:pPr>
            <a:r>
              <a:rPr lang="en-US" sz="1100" dirty="0">
                <a:solidFill>
                  <a:srgbClr val="5A6B7D"/>
                </a:solidFill>
                <a:latin typeface="Calibri" pitchFamily="34" charset="0"/>
                <a:ea typeface="Calibri" pitchFamily="34" charset="-122"/>
                <a:cs typeface="Calibri" pitchFamily="34" charset="-120"/>
              </a:rPr>
              <a:t>Runs the OS, takes orders, coordinates. Brilliant at complex sequential work — but only a handful of them. The star of computing for decades (Intel's kingdom), now demoted to management.</a:t>
            </a:r>
            <a:endParaRPr lang="en-US" sz="1100" dirty="0"/>
          </a:p>
        </p:txBody>
      </p:sp>
      <p:sp>
        <p:nvSpPr>
          <p:cNvPr id="8" name="Shape 6"/>
          <p:cNvSpPr/>
          <p:nvPr/>
        </p:nvSpPr>
        <p:spPr>
          <a:xfrm>
            <a:off x="502920" y="2734056"/>
            <a:ext cx="11155680" cy="1033272"/>
          </a:xfrm>
          <a:prstGeom prst="roundRect">
            <a:avLst>
              <a:gd name="adj" fmla="val 5310"/>
            </a:avLst>
          </a:prstGeom>
          <a:solidFill>
            <a:srgbClr val="D8E6F2"/>
          </a:solidFill>
          <a:ln w="9525">
            <a:solidFill>
              <a:srgbClr val="DDE5EC"/>
            </a:solidFill>
            <a:prstDash val="solid"/>
          </a:ln>
        </p:spPr>
      </p:sp>
      <p:sp>
        <p:nvSpPr>
          <p:cNvPr id="9" name="Text 7"/>
          <p:cNvSpPr txBox="1"/>
          <p:nvPr/>
        </p:nvSpPr>
        <p:spPr>
          <a:xfrm>
            <a:off x="777240" y="2852928"/>
            <a:ext cx="1737360" cy="411480"/>
          </a:xfrm>
          <a:prstGeom prst="rect">
            <a:avLst/>
          </a:prstGeom>
          <a:noFill/>
          <a:ln/>
        </p:spPr>
        <p:txBody>
          <a:bodyPr wrap="square" lIns="0" tIns="0" rIns="0" bIns="0" rtlCol="0" anchor="ctr"/>
          <a:lstStyle/>
          <a:p>
            <a:pPr indent="0" marL="0">
              <a:buNone/>
            </a:pPr>
            <a:r>
              <a:rPr lang="en-US" sz="1700" b="1" dirty="0">
                <a:solidFill>
                  <a:srgbClr val="13202F"/>
                </a:solidFill>
                <a:latin typeface="Cambria" pitchFamily="34" charset="0"/>
                <a:ea typeface="Cambria" pitchFamily="34" charset="-122"/>
                <a:cs typeface="Cambria" pitchFamily="34" charset="-120"/>
              </a:rPr>
              <a:t>GPU</a:t>
            </a:r>
            <a:endParaRPr lang="en-US" sz="1700" dirty="0"/>
          </a:p>
        </p:txBody>
      </p:sp>
      <p:sp>
        <p:nvSpPr>
          <p:cNvPr id="10" name="Text 8"/>
          <p:cNvSpPr txBox="1"/>
          <p:nvPr/>
        </p:nvSpPr>
        <p:spPr>
          <a:xfrm>
            <a:off x="777240" y="3264408"/>
            <a:ext cx="1737360" cy="365760"/>
          </a:xfrm>
          <a:prstGeom prst="rect">
            <a:avLst/>
          </a:prstGeom>
          <a:noFill/>
          <a:ln/>
        </p:spPr>
        <p:txBody>
          <a:bodyPr wrap="square" lIns="0" tIns="0" rIns="0" bIns="0" rtlCol="0" anchor="ctr"/>
          <a:lstStyle/>
          <a:p>
            <a:pPr indent="0" marL="0">
              <a:buNone/>
            </a:pPr>
            <a:r>
              <a:rPr lang="en-US" sz="1000" i="1" dirty="0">
                <a:solidFill>
                  <a:srgbClr val="B87A18"/>
                </a:solidFill>
                <a:latin typeface="Calibri" pitchFamily="34" charset="0"/>
                <a:ea typeface="Calibri" pitchFamily="34" charset="-122"/>
                <a:cs typeface="Calibri" pitchFamily="34" charset="-120"/>
              </a:rPr>
              <a:t>10,000 line cooks</a:t>
            </a:r>
            <a:endParaRPr lang="en-US" sz="1000" dirty="0"/>
          </a:p>
        </p:txBody>
      </p:sp>
      <p:sp>
        <p:nvSpPr>
          <p:cNvPr id="11" name="Text 9"/>
          <p:cNvSpPr txBox="1"/>
          <p:nvPr/>
        </p:nvSpPr>
        <p:spPr>
          <a:xfrm>
            <a:off x="2697480" y="2843784"/>
            <a:ext cx="8686800" cy="841248"/>
          </a:xfrm>
          <a:prstGeom prst="rect">
            <a:avLst/>
          </a:prstGeom>
          <a:noFill/>
          <a:ln/>
        </p:spPr>
        <p:txBody>
          <a:bodyPr wrap="square" lIns="0" tIns="0" rIns="0" bIns="0" rtlCol="0" anchor="t"/>
          <a:lstStyle/>
          <a:p>
            <a:pPr indent="0" marL="0">
              <a:lnSpc>
                <a:spcPct val="108000"/>
              </a:lnSpc>
              <a:buNone/>
            </a:pPr>
            <a:r>
              <a:rPr lang="en-US" sz="1100" dirty="0">
                <a:solidFill>
                  <a:srgbClr val="5A6B7D"/>
                </a:solidFill>
                <a:latin typeface="Calibri" pitchFamily="34" charset="0"/>
                <a:ea typeface="Calibri" pitchFamily="34" charset="-122"/>
                <a:cs typeface="Calibri" pitchFamily="34" charset="-120"/>
              </a:rPr>
              <a:t>Thousands of small identical cores doing the same operation simultaneously. Neural-network math IS that kind of work: billions of identical multiply-adds. Gaming graphics and AI needing the same math — the accident of history behind Nvidia's empire.</a:t>
            </a:r>
            <a:endParaRPr lang="en-US" sz="1100" dirty="0"/>
          </a:p>
        </p:txBody>
      </p:sp>
      <p:sp>
        <p:nvSpPr>
          <p:cNvPr id="12" name="Shape 10"/>
          <p:cNvSpPr/>
          <p:nvPr/>
        </p:nvSpPr>
        <p:spPr>
          <a:xfrm>
            <a:off x="502920" y="3867912"/>
            <a:ext cx="11155680" cy="1033272"/>
          </a:xfrm>
          <a:prstGeom prst="roundRect">
            <a:avLst>
              <a:gd name="adj" fmla="val 5310"/>
            </a:avLst>
          </a:prstGeom>
          <a:solidFill>
            <a:srgbClr val="F4F7FA"/>
          </a:solidFill>
          <a:ln w="9525">
            <a:solidFill>
              <a:srgbClr val="DDE5EC"/>
            </a:solidFill>
            <a:prstDash val="solid"/>
          </a:ln>
        </p:spPr>
      </p:sp>
      <p:sp>
        <p:nvSpPr>
          <p:cNvPr id="13" name="Text 11"/>
          <p:cNvSpPr txBox="1"/>
          <p:nvPr/>
        </p:nvSpPr>
        <p:spPr>
          <a:xfrm>
            <a:off x="777240" y="3986784"/>
            <a:ext cx="1737360" cy="411480"/>
          </a:xfrm>
          <a:prstGeom prst="rect">
            <a:avLst/>
          </a:prstGeom>
          <a:noFill/>
          <a:ln/>
        </p:spPr>
        <p:txBody>
          <a:bodyPr wrap="square" lIns="0" tIns="0" rIns="0" bIns="0" rtlCol="0" anchor="ctr"/>
          <a:lstStyle/>
          <a:p>
            <a:pPr indent="0" marL="0">
              <a:buNone/>
            </a:pPr>
            <a:r>
              <a:rPr lang="en-US" sz="1700" b="1" dirty="0">
                <a:solidFill>
                  <a:srgbClr val="13202F"/>
                </a:solidFill>
                <a:latin typeface="Cambria" pitchFamily="34" charset="0"/>
                <a:ea typeface="Cambria" pitchFamily="34" charset="-122"/>
                <a:cs typeface="Cambria" pitchFamily="34" charset="-120"/>
              </a:rPr>
              <a:t>HBM</a:t>
            </a:r>
            <a:endParaRPr lang="en-US" sz="1700" dirty="0"/>
          </a:p>
        </p:txBody>
      </p:sp>
      <p:sp>
        <p:nvSpPr>
          <p:cNvPr id="14" name="Text 12"/>
          <p:cNvSpPr txBox="1"/>
          <p:nvPr/>
        </p:nvSpPr>
        <p:spPr>
          <a:xfrm>
            <a:off x="777240" y="4398264"/>
            <a:ext cx="1737360" cy="365760"/>
          </a:xfrm>
          <a:prstGeom prst="rect">
            <a:avLst/>
          </a:prstGeom>
          <a:noFill/>
          <a:ln/>
        </p:spPr>
        <p:txBody>
          <a:bodyPr wrap="square" lIns="0" tIns="0" rIns="0" bIns="0" rtlCol="0" anchor="ctr"/>
          <a:lstStyle/>
          <a:p>
            <a:pPr indent="0" marL="0">
              <a:buNone/>
            </a:pPr>
            <a:r>
              <a:rPr lang="en-US" sz="1000" i="1" dirty="0">
                <a:solidFill>
                  <a:srgbClr val="B87A18"/>
                </a:solidFill>
                <a:latin typeface="Calibri" pitchFamily="34" charset="0"/>
                <a:ea typeface="Calibri" pitchFamily="34" charset="-122"/>
                <a:cs typeface="Calibri" pitchFamily="34" charset="-120"/>
              </a:rPr>
              <a:t>The countertop</a:t>
            </a:r>
            <a:endParaRPr lang="en-US" sz="1000" dirty="0"/>
          </a:p>
        </p:txBody>
      </p:sp>
      <p:sp>
        <p:nvSpPr>
          <p:cNvPr id="15" name="Text 13"/>
          <p:cNvSpPr txBox="1"/>
          <p:nvPr/>
        </p:nvSpPr>
        <p:spPr>
          <a:xfrm>
            <a:off x="2697480" y="3977640"/>
            <a:ext cx="8686800" cy="841248"/>
          </a:xfrm>
          <a:prstGeom prst="rect">
            <a:avLst/>
          </a:prstGeom>
          <a:noFill/>
          <a:ln/>
        </p:spPr>
        <p:txBody>
          <a:bodyPr wrap="square" lIns="0" tIns="0" rIns="0" bIns="0" rtlCol="0" anchor="t"/>
          <a:lstStyle/>
          <a:p>
            <a:pPr indent="0" marL="0">
              <a:lnSpc>
                <a:spcPct val="108000"/>
              </a:lnSpc>
              <a:buNone/>
            </a:pPr>
            <a:r>
              <a:rPr lang="en-US" sz="1100" dirty="0">
                <a:solidFill>
                  <a:srgbClr val="5A6B7D"/>
                </a:solidFill>
                <a:latin typeface="Calibri" pitchFamily="34" charset="0"/>
                <a:ea typeface="Calibri" pitchFamily="34" charset="-122"/>
                <a:cs typeface="Calibri" pitchFamily="34" charset="-120"/>
              </a:rPr>
              <a:t>High-bandwidth memory, stacked beside the GPU. Holds what the cooks reach for constantly. So important it gets its own act (7).</a:t>
            </a:r>
            <a:endParaRPr lang="en-US" sz="1100" dirty="0"/>
          </a:p>
        </p:txBody>
      </p:sp>
      <p:sp>
        <p:nvSpPr>
          <p:cNvPr id="16" name="Shape 14"/>
          <p:cNvSpPr/>
          <p:nvPr/>
        </p:nvSpPr>
        <p:spPr>
          <a:xfrm>
            <a:off x="502920" y="5001768"/>
            <a:ext cx="11155680" cy="1033272"/>
          </a:xfrm>
          <a:prstGeom prst="roundRect">
            <a:avLst>
              <a:gd name="adj" fmla="val 5310"/>
            </a:avLst>
          </a:prstGeom>
          <a:solidFill>
            <a:srgbClr val="F4F7FA"/>
          </a:solidFill>
          <a:ln w="9525">
            <a:solidFill>
              <a:srgbClr val="DDE5EC"/>
            </a:solidFill>
            <a:prstDash val="solid"/>
          </a:ln>
        </p:spPr>
      </p:sp>
      <p:sp>
        <p:nvSpPr>
          <p:cNvPr id="17" name="Text 15"/>
          <p:cNvSpPr txBox="1"/>
          <p:nvPr/>
        </p:nvSpPr>
        <p:spPr>
          <a:xfrm>
            <a:off x="777240" y="5120640"/>
            <a:ext cx="1737360" cy="411480"/>
          </a:xfrm>
          <a:prstGeom prst="rect">
            <a:avLst/>
          </a:prstGeom>
          <a:noFill/>
          <a:ln/>
        </p:spPr>
        <p:txBody>
          <a:bodyPr wrap="square" lIns="0" tIns="0" rIns="0" bIns="0" rtlCol="0" anchor="ctr"/>
          <a:lstStyle/>
          <a:p>
            <a:pPr indent="0" marL="0">
              <a:buNone/>
            </a:pPr>
            <a:r>
              <a:rPr lang="en-US" sz="1700" b="1" dirty="0">
                <a:solidFill>
                  <a:srgbClr val="13202F"/>
                </a:solidFill>
                <a:latin typeface="Cambria" pitchFamily="34" charset="0"/>
                <a:ea typeface="Cambria" pitchFamily="34" charset="-122"/>
                <a:cs typeface="Cambria" pitchFamily="34" charset="-120"/>
              </a:rPr>
              <a:t>SSD / NIC / PSU</a:t>
            </a:r>
            <a:endParaRPr lang="en-US" sz="1700" dirty="0"/>
          </a:p>
        </p:txBody>
      </p:sp>
      <p:sp>
        <p:nvSpPr>
          <p:cNvPr id="18" name="Text 16"/>
          <p:cNvSpPr txBox="1"/>
          <p:nvPr/>
        </p:nvSpPr>
        <p:spPr>
          <a:xfrm>
            <a:off x="777240" y="5532120"/>
            <a:ext cx="1737360" cy="365760"/>
          </a:xfrm>
          <a:prstGeom prst="rect">
            <a:avLst/>
          </a:prstGeom>
          <a:noFill/>
          <a:ln/>
        </p:spPr>
        <p:txBody>
          <a:bodyPr wrap="square" lIns="0" tIns="0" rIns="0" bIns="0" rtlCol="0" anchor="ctr"/>
          <a:lstStyle/>
          <a:p>
            <a:pPr indent="0" marL="0">
              <a:buNone/>
            </a:pPr>
            <a:r>
              <a:rPr lang="en-US" sz="1000" i="1" dirty="0">
                <a:solidFill>
                  <a:srgbClr val="B87A18"/>
                </a:solidFill>
                <a:latin typeface="Calibri" pitchFamily="34" charset="0"/>
                <a:ea typeface="Calibri" pitchFamily="34" charset="-122"/>
                <a:cs typeface="Calibri" pitchFamily="34" charset="-120"/>
              </a:rPr>
              <a:t>Pantry, waiter, plumbing</a:t>
            </a:r>
            <a:endParaRPr lang="en-US" sz="1000" dirty="0"/>
          </a:p>
        </p:txBody>
      </p:sp>
      <p:sp>
        <p:nvSpPr>
          <p:cNvPr id="19" name="Text 17"/>
          <p:cNvSpPr txBox="1"/>
          <p:nvPr/>
        </p:nvSpPr>
        <p:spPr>
          <a:xfrm>
            <a:off x="2697480" y="5111496"/>
            <a:ext cx="8686800" cy="841248"/>
          </a:xfrm>
          <a:prstGeom prst="rect">
            <a:avLst/>
          </a:prstGeom>
          <a:noFill/>
          <a:ln/>
        </p:spPr>
        <p:txBody>
          <a:bodyPr wrap="square" lIns="0" tIns="0" rIns="0" bIns="0" rtlCol="0" anchor="t"/>
          <a:lstStyle/>
          <a:p>
            <a:pPr indent="0" marL="0">
              <a:lnSpc>
                <a:spcPct val="108000"/>
              </a:lnSpc>
              <a:buNone/>
            </a:pPr>
            <a:r>
              <a:rPr lang="en-US" sz="1100" dirty="0">
                <a:solidFill>
                  <a:srgbClr val="5A6B7D"/>
                </a:solidFill>
                <a:latin typeface="Calibri" pitchFamily="34" charset="0"/>
                <a:ea typeface="Calibri" pitchFamily="34" charset="-122"/>
                <a:cs typeface="Calibri" pitchFamily="34" charset="-120"/>
              </a:rPr>
              <a:t>SSD = pantry. NIC (network card) = waiter carrying dishes between kitchens. Power supplies and motherboard = plumbing and wiring.</a:t>
            </a:r>
            <a:endParaRPr lang="en-US" sz="1100" dirty="0"/>
          </a:p>
        </p:txBody>
      </p:sp>
      <p:sp>
        <p:nvSpPr>
          <p:cNvPr id="20" name="Text 18"/>
          <p:cNvSpPr txBox="1"/>
          <p:nvPr/>
        </p:nvSpPr>
        <p:spPr>
          <a:xfrm>
            <a:off x="502920" y="6035040"/>
            <a:ext cx="11155680" cy="365760"/>
          </a:xfrm>
          <a:prstGeom prst="rect">
            <a:avLst/>
          </a:prstGeom>
          <a:noFill/>
          <a:ln/>
        </p:spPr>
        <p:txBody>
          <a:bodyPr wrap="square" lIns="0" tIns="0" rIns="0" bIns="0" rtlCol="0" anchor="ctr"/>
          <a:lstStyle/>
          <a:p>
            <a:pPr indent="0" marL="0">
              <a:buNone/>
            </a:pPr>
            <a:r>
              <a:rPr lang="en-US" sz="1200" b="1" i="1" dirty="0">
                <a:solidFill>
                  <a:srgbClr val="13202F"/>
                </a:solidFill>
                <a:latin typeface="Calibri" pitchFamily="34" charset="0"/>
                <a:ea typeface="Calibri" pitchFamily="34" charset="-122"/>
                <a:cs typeface="Calibri" pitchFamily="34" charset="-120"/>
              </a:rPr>
              <a:t>Hold this model: the rest of the stack exists to feed the line cooks — with power, with data, and with each other's intermediate results.</a:t>
            </a:r>
            <a:endParaRPr lang="en-US" sz="1200" dirty="0"/>
          </a:p>
        </p:txBody>
      </p:sp>
      <p:sp>
        <p:nvSpPr>
          <p:cNvPr id="22" name="Text 19"/>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02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F0A431"/>
                </a:solidFill>
                <a:latin typeface="Calibri" pitchFamily="34" charset="0"/>
                <a:ea typeface="Calibri" pitchFamily="34" charset="-122"/>
                <a:cs typeface="Calibri" pitchFamily="34" charset="-120"/>
              </a:rPr>
              <a:t>ACT 5 · THE EMPIRE</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Nvidia: 75% hardware margins, and why they survive</a:t>
            </a:r>
            <a:endParaRPr lang="en-US" sz="3000" dirty="0"/>
          </a:p>
        </p:txBody>
      </p:sp>
      <p:sp>
        <p:nvSpPr>
          <p:cNvPr id="4" name="Shape 2"/>
          <p:cNvSpPr/>
          <p:nvPr/>
        </p:nvSpPr>
        <p:spPr>
          <a:xfrm>
            <a:off x="731520" y="1645920"/>
            <a:ext cx="3474720" cy="1371600"/>
          </a:xfrm>
          <a:prstGeom prst="roundRect">
            <a:avLst>
              <a:gd name="adj" fmla="val 4667"/>
            </a:avLst>
          </a:prstGeom>
          <a:solidFill>
            <a:srgbClr val="1C2E42"/>
          </a:solidFill>
          <a:ln/>
        </p:spPr>
      </p:sp>
      <p:sp>
        <p:nvSpPr>
          <p:cNvPr id="5" name="Text 3"/>
          <p:cNvSpPr txBox="1"/>
          <p:nvPr/>
        </p:nvSpPr>
        <p:spPr>
          <a:xfrm>
            <a:off x="896112" y="1755648"/>
            <a:ext cx="3145536" cy="713232"/>
          </a:xfrm>
          <a:prstGeom prst="rect">
            <a:avLst/>
          </a:prstGeom>
          <a:noFill/>
          <a:ln/>
        </p:spPr>
        <p:txBody>
          <a:bodyPr wrap="square" lIns="0" tIns="0" rIns="0" bIns="0" rtlCol="0" anchor="ctr"/>
          <a:lstStyle/>
          <a:p>
            <a:pPr algn="l" indent="0" marL="0">
              <a:buNone/>
            </a:pPr>
            <a:r>
              <a:rPr lang="en-US" sz="3000" b="1" dirty="0">
                <a:solidFill>
                  <a:srgbClr val="F0A431"/>
                </a:solidFill>
                <a:latin typeface="Cambria" pitchFamily="34" charset="0"/>
                <a:ea typeface="Cambria" pitchFamily="34" charset="-122"/>
                <a:cs typeface="Cambria" pitchFamily="34" charset="-120"/>
              </a:rPr>
              <a:t>$215.9bn</a:t>
            </a:r>
            <a:endParaRPr lang="en-US" sz="3000" dirty="0"/>
          </a:p>
        </p:txBody>
      </p:sp>
      <p:sp>
        <p:nvSpPr>
          <p:cNvPr id="6" name="Text 4"/>
          <p:cNvSpPr txBox="1"/>
          <p:nvPr/>
        </p:nvSpPr>
        <p:spPr>
          <a:xfrm>
            <a:off x="896112" y="2400300"/>
            <a:ext cx="3145536" cy="576072"/>
          </a:xfrm>
          <a:prstGeom prst="rect">
            <a:avLst/>
          </a:prstGeom>
          <a:noFill/>
          <a:ln/>
        </p:spPr>
        <p:txBody>
          <a:bodyPr wrap="square" lIns="0" tIns="0" rIns="0" bIns="0" rtlCol="0" anchor="t"/>
          <a:lstStyle/>
          <a:p>
            <a:pPr algn="l" indent="0" marL="0">
              <a:buNone/>
            </a:pPr>
            <a:r>
              <a:rPr lang="en-US" sz="1100" dirty="0">
                <a:solidFill>
                  <a:srgbClr val="D8E6F2"/>
                </a:solidFill>
                <a:latin typeface="Calibri" pitchFamily="34" charset="0"/>
                <a:ea typeface="Calibri" pitchFamily="34" charset="-122"/>
                <a:cs typeface="Calibri" pitchFamily="34" charset="-120"/>
              </a:rPr>
              <a:t>FY revenue, +65% — ~$194bn of it data centre</a:t>
            </a:r>
            <a:endParaRPr lang="en-US" sz="1100" dirty="0"/>
          </a:p>
        </p:txBody>
      </p:sp>
      <p:sp>
        <p:nvSpPr>
          <p:cNvPr id="7" name="Shape 5"/>
          <p:cNvSpPr/>
          <p:nvPr/>
        </p:nvSpPr>
        <p:spPr>
          <a:xfrm>
            <a:off x="4389120" y="1645920"/>
            <a:ext cx="3474720" cy="1371600"/>
          </a:xfrm>
          <a:prstGeom prst="roundRect">
            <a:avLst>
              <a:gd name="adj" fmla="val 4667"/>
            </a:avLst>
          </a:prstGeom>
          <a:solidFill>
            <a:srgbClr val="1C2E42"/>
          </a:solidFill>
          <a:ln/>
        </p:spPr>
      </p:sp>
      <p:sp>
        <p:nvSpPr>
          <p:cNvPr id="8" name="Text 6"/>
          <p:cNvSpPr txBox="1"/>
          <p:nvPr/>
        </p:nvSpPr>
        <p:spPr>
          <a:xfrm>
            <a:off x="4553712" y="1755648"/>
            <a:ext cx="3145536" cy="713232"/>
          </a:xfrm>
          <a:prstGeom prst="rect">
            <a:avLst/>
          </a:prstGeom>
          <a:noFill/>
          <a:ln/>
        </p:spPr>
        <p:txBody>
          <a:bodyPr wrap="square" lIns="0" tIns="0" rIns="0" bIns="0" rtlCol="0" anchor="ctr"/>
          <a:lstStyle/>
          <a:p>
            <a:pPr algn="l" indent="0" marL="0">
              <a:buNone/>
            </a:pPr>
            <a:r>
              <a:rPr lang="en-US" sz="3000" b="1" dirty="0">
                <a:solidFill>
                  <a:srgbClr val="F0A431"/>
                </a:solidFill>
                <a:latin typeface="Cambria" pitchFamily="34" charset="0"/>
                <a:ea typeface="Cambria" pitchFamily="34" charset="-122"/>
                <a:cs typeface="Cambria" pitchFamily="34" charset="-120"/>
              </a:rPr>
              <a:t>80–86%</a:t>
            </a:r>
            <a:endParaRPr lang="en-US" sz="3000" dirty="0"/>
          </a:p>
        </p:txBody>
      </p:sp>
      <p:sp>
        <p:nvSpPr>
          <p:cNvPr id="9" name="Text 7"/>
          <p:cNvSpPr txBox="1"/>
          <p:nvPr/>
        </p:nvSpPr>
        <p:spPr>
          <a:xfrm>
            <a:off x="4553712" y="2400300"/>
            <a:ext cx="3145536" cy="576072"/>
          </a:xfrm>
          <a:prstGeom prst="rect">
            <a:avLst/>
          </a:prstGeom>
          <a:noFill/>
          <a:ln/>
        </p:spPr>
        <p:txBody>
          <a:bodyPr wrap="square" lIns="0" tIns="0" rIns="0" bIns="0" rtlCol="0" anchor="t"/>
          <a:lstStyle/>
          <a:p>
            <a:pPr algn="l" indent="0" marL="0">
              <a:buNone/>
            </a:pPr>
            <a:r>
              <a:rPr lang="en-US" sz="1100" dirty="0">
                <a:solidFill>
                  <a:srgbClr val="D8E6F2"/>
                </a:solidFill>
                <a:latin typeface="Calibri" pitchFamily="34" charset="0"/>
                <a:ea typeface="Calibri" pitchFamily="34" charset="-122"/>
                <a:cs typeface="Calibri" pitchFamily="34" charset="-120"/>
              </a:rPr>
              <a:t>Share of the AI accelerator market</a:t>
            </a:r>
            <a:endParaRPr lang="en-US" sz="1100" dirty="0"/>
          </a:p>
        </p:txBody>
      </p:sp>
      <p:sp>
        <p:nvSpPr>
          <p:cNvPr id="10" name="Shape 8"/>
          <p:cNvSpPr/>
          <p:nvPr/>
        </p:nvSpPr>
        <p:spPr>
          <a:xfrm>
            <a:off x="8046720" y="1645920"/>
            <a:ext cx="3383280" cy="1371600"/>
          </a:xfrm>
          <a:prstGeom prst="roundRect">
            <a:avLst>
              <a:gd name="adj" fmla="val 4667"/>
            </a:avLst>
          </a:prstGeom>
          <a:solidFill>
            <a:srgbClr val="1C2E42"/>
          </a:solidFill>
          <a:ln/>
        </p:spPr>
      </p:sp>
      <p:sp>
        <p:nvSpPr>
          <p:cNvPr id="11" name="Text 9"/>
          <p:cNvSpPr txBox="1"/>
          <p:nvPr/>
        </p:nvSpPr>
        <p:spPr>
          <a:xfrm>
            <a:off x="8211312" y="1755648"/>
            <a:ext cx="3054096" cy="713232"/>
          </a:xfrm>
          <a:prstGeom prst="rect">
            <a:avLst/>
          </a:prstGeom>
          <a:noFill/>
          <a:ln/>
        </p:spPr>
        <p:txBody>
          <a:bodyPr wrap="square" lIns="0" tIns="0" rIns="0" bIns="0" rtlCol="0" anchor="ctr"/>
          <a:lstStyle/>
          <a:p>
            <a:pPr algn="l" indent="0" marL="0">
              <a:buNone/>
            </a:pPr>
            <a:r>
              <a:rPr lang="en-US" sz="3000" b="1" dirty="0">
                <a:solidFill>
                  <a:srgbClr val="F0A431"/>
                </a:solidFill>
                <a:latin typeface="Cambria" pitchFamily="34" charset="0"/>
                <a:ea typeface="Cambria" pitchFamily="34" charset="-122"/>
                <a:cs typeface="Cambria" pitchFamily="34" charset="-120"/>
              </a:rPr>
              <a:t>~75%</a:t>
            </a:r>
            <a:endParaRPr lang="en-US" sz="3000" dirty="0"/>
          </a:p>
        </p:txBody>
      </p:sp>
      <p:sp>
        <p:nvSpPr>
          <p:cNvPr id="12" name="Text 10"/>
          <p:cNvSpPr txBox="1"/>
          <p:nvPr/>
        </p:nvSpPr>
        <p:spPr>
          <a:xfrm>
            <a:off x="8211312" y="2400300"/>
            <a:ext cx="3054096" cy="576072"/>
          </a:xfrm>
          <a:prstGeom prst="rect">
            <a:avLst/>
          </a:prstGeom>
          <a:noFill/>
          <a:ln/>
        </p:spPr>
        <p:txBody>
          <a:bodyPr wrap="square" lIns="0" tIns="0" rIns="0" bIns="0" rtlCol="0" anchor="t"/>
          <a:lstStyle/>
          <a:p>
            <a:pPr algn="l" indent="0" marL="0">
              <a:buNone/>
            </a:pPr>
            <a:r>
              <a:rPr lang="en-US" sz="1100" dirty="0">
                <a:solidFill>
                  <a:srgbClr val="D8E6F2"/>
                </a:solidFill>
                <a:latin typeface="Calibri" pitchFamily="34" charset="0"/>
                <a:ea typeface="Calibri" pitchFamily="34" charset="-122"/>
                <a:cs typeface="Calibri" pitchFamily="34" charset="-120"/>
              </a:rPr>
              <a:t>Gross margin — on HARDWARE. Apple, most admired hardware co. in history: ~46%</a:t>
            </a:r>
            <a:endParaRPr lang="en-US" sz="1100" dirty="0"/>
          </a:p>
        </p:txBody>
      </p:sp>
      <p:sp>
        <p:nvSpPr>
          <p:cNvPr id="13" name="Text 11"/>
          <p:cNvSpPr txBox="1"/>
          <p:nvPr/>
        </p:nvSpPr>
        <p:spPr>
          <a:xfrm>
            <a:off x="731520" y="3246120"/>
            <a:ext cx="10698480" cy="1371600"/>
          </a:xfrm>
          <a:prstGeom prst="rect">
            <a:avLst/>
          </a:prstGeom>
          <a:noFill/>
          <a:ln/>
        </p:spPr>
        <p:txBody>
          <a:bodyPr wrap="square" lIns="0" tIns="0" rIns="0" bIns="0" rtlCol="0" anchor="ctr"/>
          <a:lstStyle/>
          <a:p>
            <a:pPr indent="0" marL="0">
              <a:lnSpc>
                <a:spcPct val="120000"/>
              </a:lnSpc>
              <a:buNone/>
            </a:pPr>
            <a:r>
              <a:rPr lang="en-US" sz="1450" dirty="0">
                <a:solidFill>
                  <a:srgbClr val="D8E6F2"/>
                </a:solidFill>
                <a:latin typeface="Calibri" pitchFamily="34" charset="0"/>
                <a:ea typeface="Calibri" pitchFamily="34" charset="-122"/>
                <a:cs typeface="Calibri" pitchFamily="34" charset="-120"/>
              </a:rPr>
              <a:t>First $5 trillion company (Oct). Roughly seven cents of every S&amp;P 500 dollar. How is 75% possible? Everyone says “best chips” — the real answer is </a:t>
            </a:r>
            <a:pPr indent="0" marL="0">
              <a:lnSpc>
                <a:spcPct val="120000"/>
              </a:lnSpc>
              <a:buNone/>
            </a:pPr>
            <a:r>
              <a:rPr lang="en-US" sz="1450" b="1" dirty="0">
                <a:solidFill>
                  <a:srgbClr val="F0A431"/>
                </a:solidFill>
                <a:latin typeface="Calibri" pitchFamily="34" charset="0"/>
                <a:ea typeface="Calibri" pitchFamily="34" charset="-122"/>
                <a:cs typeface="Calibri" pitchFamily="34" charset="-120"/>
              </a:rPr>
              <a:t>CUDA</a:t>
            </a:r>
            <a:pPr indent="0" marL="0">
              <a:lnSpc>
                <a:spcPct val="120000"/>
              </a:lnSpc>
              <a:buNone/>
            </a:pPr>
            <a:r>
              <a:rPr lang="en-US" sz="1450" dirty="0">
                <a:solidFill>
                  <a:srgbClr val="D8E6F2"/>
                </a:solidFill>
                <a:latin typeface="Calibri" pitchFamily="34" charset="0"/>
                <a:ea typeface="Calibri" pitchFamily="34" charset="-122"/>
                <a:cs typeface="Calibri" pitchFamily="34" charset="-120"/>
              </a:rPr>
              <a:t>: twenty years of software every AI developer on Earth was trained on. Nvidia doesn't only sell chips — it sells the only complete factory-floor system the world's engineers already know how to operate. Buying a competitor's chip means retraining your whole workforce.</a:t>
            </a:r>
            <a:endParaRPr lang="en-US" sz="1450" dirty="0"/>
          </a:p>
        </p:txBody>
      </p:sp>
      <p:sp>
        <p:nvSpPr>
          <p:cNvPr id="14" name="Shape 12"/>
          <p:cNvSpPr/>
          <p:nvPr/>
        </p:nvSpPr>
        <p:spPr>
          <a:xfrm>
            <a:off x="731520" y="4846320"/>
            <a:ext cx="10698480" cy="1097280"/>
          </a:xfrm>
          <a:prstGeom prst="roundRect">
            <a:avLst>
              <a:gd name="adj" fmla="val 5833"/>
            </a:avLst>
          </a:prstGeom>
          <a:solidFill>
            <a:srgbClr val="3A2A20"/>
          </a:solidFill>
          <a:ln/>
        </p:spPr>
      </p:sp>
      <p:sp>
        <p:nvSpPr>
          <p:cNvPr id="15" name="Text 13"/>
          <p:cNvSpPr txBox="1"/>
          <p:nvPr/>
        </p:nvSpPr>
        <p:spPr>
          <a:xfrm>
            <a:off x="1005840" y="4983480"/>
            <a:ext cx="10149840" cy="822960"/>
          </a:xfrm>
          <a:prstGeom prst="rect">
            <a:avLst/>
          </a:prstGeom>
          <a:noFill/>
          <a:ln/>
        </p:spPr>
        <p:txBody>
          <a:bodyPr wrap="square" lIns="0" tIns="0" rIns="0" bIns="0" rtlCol="0" anchor="ctr"/>
          <a:lstStyle/>
          <a:p>
            <a:pPr indent="0" marL="0">
              <a:lnSpc>
                <a:spcPct val="115000"/>
              </a:lnSpc>
              <a:buNone/>
            </a:pPr>
            <a:r>
              <a:rPr lang="en-US" sz="1400" b="1" dirty="0">
                <a:solidFill>
                  <a:srgbClr val="F0A431"/>
                </a:solidFill>
                <a:latin typeface="Calibri" pitchFamily="34" charset="0"/>
                <a:ea typeface="Calibri" pitchFamily="34" charset="-122"/>
                <a:cs typeface="Calibri" pitchFamily="34" charset="-120"/>
              </a:rPr>
              <a:t>THE BEAR CASE:  </a:t>
            </a:r>
            <a:pPr indent="0" marL="0">
              <a:lnSpc>
                <a:spcPct val="115000"/>
              </a:lnSpc>
              <a:buNone/>
            </a:pPr>
            <a:r>
              <a:rPr lang="en-US" sz="1400" dirty="0">
                <a:solidFill>
                  <a:srgbClr val="D8E6F2"/>
                </a:solidFill>
                <a:latin typeface="Calibri" pitchFamily="34" charset="0"/>
                <a:ea typeface="Calibri" pitchFamily="34" charset="-122"/>
                <a:cs typeface="Calibri" pitchFamily="34" charset="-120"/>
              </a:rPr>
              <a:t>about 40% of revenue comes from just four customers — and all four are building their own chips to replace it.</a:t>
            </a:r>
            <a:endParaRPr lang="en-US" sz="1400" dirty="0"/>
          </a:p>
        </p:txBody>
      </p:sp>
      <p:sp>
        <p:nvSpPr>
          <p:cNvPr id="17" name="Text 14"/>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5A6B7D"/>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5 · THE REST OF THE FLOOR</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Challengers, the quiet assassin, and the assemblers</a:t>
            </a:r>
            <a:endParaRPr lang="en-US" sz="3000" dirty="0"/>
          </a:p>
        </p:txBody>
      </p:sp>
      <p:sp>
        <p:nvSpPr>
          <p:cNvPr id="4" name="Shape 2"/>
          <p:cNvSpPr/>
          <p:nvPr/>
        </p:nvSpPr>
        <p:spPr>
          <a:xfrm>
            <a:off x="502920" y="1600200"/>
            <a:ext cx="5486400" cy="1463040"/>
          </a:xfrm>
          <a:prstGeom prst="roundRect">
            <a:avLst>
              <a:gd name="adj" fmla="val 3750"/>
            </a:avLst>
          </a:prstGeom>
          <a:solidFill>
            <a:srgbClr val="F4F7FA"/>
          </a:solidFill>
          <a:ln w="9525">
            <a:solidFill>
              <a:srgbClr val="DDE5EC"/>
            </a:solidFill>
            <a:prstDash val="solid"/>
          </a:ln>
        </p:spPr>
      </p:sp>
      <p:sp>
        <p:nvSpPr>
          <p:cNvPr id="5" name="Text 3"/>
          <p:cNvSpPr txBox="1"/>
          <p:nvPr/>
        </p:nvSpPr>
        <p:spPr>
          <a:xfrm>
            <a:off x="649224" y="169164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AMD</a:t>
            </a:r>
            <a:pPr indent="0" marL="0">
              <a:buNone/>
            </a:pPr>
            <a:r>
              <a:rPr lang="en-US" sz="1000" i="1" dirty="0">
                <a:solidFill>
                  <a:srgbClr val="B87A18"/>
                </a:solidFill>
                <a:latin typeface="Calibri" pitchFamily="34" charset="0"/>
                <a:ea typeface="Calibri" pitchFamily="34" charset="-122"/>
                <a:cs typeface="Calibri" pitchFamily="34" charset="-120"/>
              </a:rPr>
              <a:t>   the challenger</a:t>
            </a:r>
            <a:endParaRPr lang="en-US" sz="1350" dirty="0"/>
          </a:p>
        </p:txBody>
      </p:sp>
      <p:sp>
        <p:nvSpPr>
          <p:cNvPr id="6" name="Text 4"/>
          <p:cNvSpPr txBox="1"/>
          <p:nvPr/>
        </p:nvSpPr>
        <p:spPr>
          <a:xfrm>
            <a:off x="649224" y="1965960"/>
            <a:ext cx="5193792" cy="10058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Instinct GPUs genuinely competitive on inference — more memory/chip, est. 25–40% better tokens-per-dollar. The problem was never silicon, it's software: ROCm now hits 90–95% of Nvidia performance, but “90% as good with more friction” is a hard pitch with a $100m training run on the line. ~5–7% share; watchable, improving, still a distant second. Intel: barely in the race — the kitchen stopped being about head chefs.</a:t>
            </a:r>
            <a:endParaRPr lang="en-US" sz="1050" dirty="0"/>
          </a:p>
        </p:txBody>
      </p:sp>
      <p:sp>
        <p:nvSpPr>
          <p:cNvPr id="7" name="Shape 5"/>
          <p:cNvSpPr/>
          <p:nvPr/>
        </p:nvSpPr>
        <p:spPr>
          <a:xfrm>
            <a:off x="6172200" y="1600200"/>
            <a:ext cx="5486400" cy="1463040"/>
          </a:xfrm>
          <a:prstGeom prst="roundRect">
            <a:avLst>
              <a:gd name="adj" fmla="val 3750"/>
            </a:avLst>
          </a:prstGeom>
          <a:solidFill>
            <a:srgbClr val="D8E6F2"/>
          </a:solidFill>
          <a:ln w="9525">
            <a:solidFill>
              <a:srgbClr val="DDE5EC"/>
            </a:solidFill>
            <a:prstDash val="solid"/>
          </a:ln>
        </p:spPr>
      </p:sp>
      <p:sp>
        <p:nvSpPr>
          <p:cNvPr id="8" name="Text 6"/>
          <p:cNvSpPr txBox="1"/>
          <p:nvPr/>
        </p:nvSpPr>
        <p:spPr>
          <a:xfrm>
            <a:off x="6318504" y="169164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Broadcom</a:t>
            </a:r>
            <a:pPr indent="0" marL="0">
              <a:buNone/>
            </a:pPr>
            <a:r>
              <a:rPr lang="en-US" sz="1000" i="1" dirty="0">
                <a:solidFill>
                  <a:srgbClr val="B87A18"/>
                </a:solidFill>
                <a:latin typeface="Calibri" pitchFamily="34" charset="0"/>
                <a:ea typeface="Calibri" pitchFamily="34" charset="-122"/>
                <a:cs typeface="Calibri" pitchFamily="34" charset="-120"/>
              </a:rPr>
              <a:t>   the quiet assassin</a:t>
            </a:r>
            <a:endParaRPr lang="en-US" sz="1350" dirty="0"/>
          </a:p>
        </p:txBody>
      </p:sp>
      <p:sp>
        <p:nvSpPr>
          <p:cNvPr id="9" name="Text 7"/>
          <p:cNvSpPr txBox="1"/>
          <p:nvPr/>
        </p:nvSpPr>
        <p:spPr>
          <a:xfrm>
            <a:off x="6318504" y="1965960"/>
            <a:ext cx="5193792" cy="10058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The plot twist retail misses: hyperscalers CANNOT build their own chips alone — frontier chip design takes a decade of IP. Broadcom co-designs Google's TPU, Meta's training chip, reportedly OpenAI's. &gt;60% of custom silicon; AI revenue +106% last quarter; $73bn backlog; line of sight to $100bn AI revenue in 2027. Nvidia sells finished kitchens; Broadcom helps the biggest chains build their own — and takes a cut either way.</a:t>
            </a:r>
            <a:endParaRPr lang="en-US" sz="1050" dirty="0"/>
          </a:p>
        </p:txBody>
      </p:sp>
      <p:sp>
        <p:nvSpPr>
          <p:cNvPr id="10" name="Shape 8"/>
          <p:cNvSpPr/>
          <p:nvPr/>
        </p:nvSpPr>
        <p:spPr>
          <a:xfrm>
            <a:off x="502920" y="3200400"/>
            <a:ext cx="5486400" cy="1463040"/>
          </a:xfrm>
          <a:prstGeom prst="roundRect">
            <a:avLst>
              <a:gd name="adj" fmla="val 3750"/>
            </a:avLst>
          </a:prstGeom>
          <a:solidFill>
            <a:srgbClr val="F4F7FA"/>
          </a:solidFill>
          <a:ln w="9525">
            <a:solidFill>
              <a:srgbClr val="DDE5EC"/>
            </a:solidFill>
            <a:prstDash val="solid"/>
          </a:ln>
        </p:spPr>
      </p:sp>
      <p:sp>
        <p:nvSpPr>
          <p:cNvPr id="11" name="Text 9"/>
          <p:cNvSpPr txBox="1"/>
          <p:nvPr/>
        </p:nvSpPr>
        <p:spPr>
          <a:xfrm>
            <a:off x="649224" y="329184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Supermicro · Dell · HPE</a:t>
            </a:r>
            <a:pPr indent="0" marL="0">
              <a:buNone/>
            </a:pPr>
            <a:r>
              <a:rPr lang="en-US" sz="1000" i="1" dirty="0">
                <a:solidFill>
                  <a:srgbClr val="B87A18"/>
                </a:solidFill>
                <a:latin typeface="Calibri" pitchFamily="34" charset="0"/>
                <a:ea typeface="Calibri" pitchFamily="34" charset="-122"/>
                <a:cs typeface="Calibri" pitchFamily="34" charset="-120"/>
              </a:rPr>
              <a:t>   the branded assemblers</a:t>
            </a:r>
            <a:endParaRPr lang="en-US" sz="1350" dirty="0"/>
          </a:p>
        </p:txBody>
      </p:sp>
      <p:sp>
        <p:nvSpPr>
          <p:cNvPr id="12" name="Text 10"/>
          <p:cNvSpPr txBox="1"/>
          <p:nvPr/>
        </p:nvSpPr>
        <p:spPr>
          <a:xfrm>
            <a:off x="649224" y="3566160"/>
            <a:ext cx="5193792" cy="10058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Supermicro: integrates full liquid-cooled racks faster than anyone; revenue +123% last quarter, &gt;90% AI — at 6–10% gross margin. Dell: &gt;$64bn AI server orders, $43bn backlog — server margins under 9%. HPE: supercomputing and sovereign-AI deals.</a:t>
            </a:r>
            <a:endParaRPr lang="en-US" sz="1050" dirty="0"/>
          </a:p>
        </p:txBody>
      </p:sp>
      <p:sp>
        <p:nvSpPr>
          <p:cNvPr id="13" name="Shape 11"/>
          <p:cNvSpPr/>
          <p:nvPr/>
        </p:nvSpPr>
        <p:spPr>
          <a:xfrm>
            <a:off x="6172200" y="3200400"/>
            <a:ext cx="5486400" cy="1463040"/>
          </a:xfrm>
          <a:prstGeom prst="roundRect">
            <a:avLst>
              <a:gd name="adj" fmla="val 3750"/>
            </a:avLst>
          </a:prstGeom>
          <a:solidFill>
            <a:srgbClr val="F4F7FA"/>
          </a:solidFill>
          <a:ln w="9525">
            <a:solidFill>
              <a:srgbClr val="DDE5EC"/>
            </a:solidFill>
            <a:prstDash val="solid"/>
          </a:ln>
        </p:spPr>
      </p:sp>
      <p:sp>
        <p:nvSpPr>
          <p:cNvPr id="14" name="Text 12"/>
          <p:cNvSpPr txBox="1"/>
          <p:nvPr/>
        </p:nvSpPr>
        <p:spPr>
          <a:xfrm>
            <a:off x="6318504" y="329184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Foxconn · Quanta · Wiwynn · Celestica</a:t>
            </a:r>
            <a:pPr indent="0" marL="0">
              <a:buNone/>
            </a:pPr>
            <a:r>
              <a:rPr lang="en-US" sz="1000" i="1" dirty="0">
                <a:solidFill>
                  <a:srgbClr val="B87A18"/>
                </a:solidFill>
                <a:latin typeface="Calibri" pitchFamily="34" charset="0"/>
                <a:ea typeface="Calibri" pitchFamily="34" charset="-122"/>
                <a:cs typeface="Calibri" pitchFamily="34" charset="-120"/>
              </a:rPr>
              <a:t>   the invisible giants</a:t>
            </a:r>
            <a:endParaRPr lang="en-US" sz="1350" dirty="0"/>
          </a:p>
        </p:txBody>
      </p:sp>
      <p:sp>
        <p:nvSpPr>
          <p:cNvPr id="15" name="Text 13"/>
          <p:cNvSpPr txBox="1"/>
          <p:nvPr/>
        </p:nvSpPr>
        <p:spPr>
          <a:xfrm>
            <a:off x="6318504" y="3566160"/>
            <a:ext cx="5193792" cy="10058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Taiwanese ODMs — original design manufacturers — beneath the brands. Foxconn alone assembles ~40% of the world's AI racks.</a:t>
            </a:r>
            <a:endParaRPr lang="en-US" sz="1050" dirty="0"/>
          </a:p>
        </p:txBody>
      </p:sp>
      <p:sp>
        <p:nvSpPr>
          <p:cNvPr id="16" name="Shape 14"/>
          <p:cNvSpPr/>
          <p:nvPr/>
        </p:nvSpPr>
        <p:spPr>
          <a:xfrm>
            <a:off x="502920" y="4892040"/>
            <a:ext cx="11155680" cy="1097280"/>
          </a:xfrm>
          <a:prstGeom prst="roundRect">
            <a:avLst>
              <a:gd name="adj" fmla="val 5833"/>
            </a:avLst>
          </a:prstGeom>
          <a:solidFill>
            <a:srgbClr val="13202F"/>
          </a:solidFill>
          <a:ln/>
        </p:spPr>
      </p:sp>
      <p:sp>
        <p:nvSpPr>
          <p:cNvPr id="17" name="Text 15"/>
          <p:cNvSpPr txBox="1"/>
          <p:nvPr/>
        </p:nvSpPr>
        <p:spPr>
          <a:xfrm>
            <a:off x="777240" y="5029200"/>
            <a:ext cx="10607040" cy="822960"/>
          </a:xfrm>
          <a:prstGeom prst="rect">
            <a:avLst/>
          </a:prstGeom>
          <a:noFill/>
          <a:ln/>
        </p:spPr>
        <p:txBody>
          <a:bodyPr wrap="square" lIns="0" tIns="0" rIns="0" bIns="0" rtlCol="0" anchor="ctr"/>
          <a:lstStyle/>
          <a:p>
            <a:pPr indent="0" marL="0">
              <a:lnSpc>
                <a:spcPct val="115000"/>
              </a:lnSpc>
              <a:buNone/>
            </a:pPr>
            <a:r>
              <a:rPr lang="en-US" sz="1350" b="1" dirty="0">
                <a:solidFill>
                  <a:srgbClr val="FFFFFF"/>
                </a:solidFill>
                <a:latin typeface="Calibri" pitchFamily="34" charset="0"/>
                <a:ea typeface="Calibri" pitchFamily="34" charset="-122"/>
                <a:cs typeface="Calibri" pitchFamily="34" charset="-120"/>
              </a:rPr>
              <a:t>The margin lesson: the same rack passes through many hands. Nvidia keeps ~75 points on the silicon; the company that physically screws it together keeps 6–10. In hardware, profit lives in whatever is SCARCE. Chips and software are scarce. Assembly is not.</a:t>
            </a:r>
            <a:endParaRPr lang="en-US" sz="1350" dirty="0"/>
          </a:p>
        </p:txBody>
      </p:sp>
      <p:sp>
        <p:nvSpPr>
          <p:cNvPr id="19" name="Text 16"/>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3202F"/>
        </a:solidFill>
      </p:bgPr>
    </p:bg>
    <p:spTree>
      <p:nvGrpSpPr>
        <p:cNvPr id="1" name=""/>
        <p:cNvGrpSpPr/>
        <p:nvPr/>
      </p:nvGrpSpPr>
      <p:grpSpPr>
        <a:xfrm>
          <a:off x="0" y="0"/>
          <a:ext cx="0" cy="0"/>
          <a:chOff x="0" y="0"/>
          <a:chExt cx="0" cy="0"/>
        </a:xfrm>
      </p:grpSpPr>
      <p:sp>
        <p:nvSpPr>
          <p:cNvPr id="2" name="Text 0"/>
          <p:cNvSpPr txBox="1"/>
          <p:nvPr/>
        </p:nvSpPr>
        <p:spPr>
          <a:xfrm>
            <a:off x="731520" y="2011680"/>
            <a:ext cx="10698480" cy="365760"/>
          </a:xfrm>
          <a:prstGeom prst="rect">
            <a:avLst/>
          </a:prstGeom>
          <a:noFill/>
          <a:ln/>
        </p:spPr>
        <p:txBody>
          <a:bodyPr wrap="square" lIns="0" tIns="0" rIns="0" bIns="0" rtlCol="0" anchor="ctr"/>
          <a:lstStyle/>
          <a:p>
            <a:pPr indent="0" marL="0">
              <a:buNone/>
            </a:pPr>
            <a:r>
              <a:rPr lang="en-US" sz="1400" b="1" spc="400" kern="0" dirty="0">
                <a:solidFill>
                  <a:srgbClr val="F0A431"/>
                </a:solidFill>
                <a:latin typeface="Calibri" pitchFamily="34" charset="0"/>
                <a:ea typeface="Calibri" pitchFamily="34" charset="-122"/>
                <a:cs typeface="Calibri" pitchFamily="34" charset="-120"/>
              </a:rPr>
              <a:t>ACT 6</a:t>
            </a:r>
            <a:endParaRPr lang="en-US" sz="1400" dirty="0"/>
          </a:p>
        </p:txBody>
      </p:sp>
      <p:sp>
        <p:nvSpPr>
          <p:cNvPr id="3" name="Text 1"/>
          <p:cNvSpPr txBox="1"/>
          <p:nvPr/>
        </p:nvSpPr>
        <p:spPr>
          <a:xfrm>
            <a:off x="731520" y="2423160"/>
            <a:ext cx="1069848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Networking: 10,000 chips, one thought</a:t>
            </a:r>
            <a:endParaRPr lang="en-US" sz="4400" dirty="0"/>
          </a:p>
        </p:txBody>
      </p:sp>
      <p:sp>
        <p:nvSpPr>
          <p:cNvPr id="4" name="Text 2"/>
          <p:cNvSpPr txBox="1"/>
          <p:nvPr/>
        </p:nvSpPr>
        <p:spPr>
          <a:xfrm>
            <a:off x="731520" y="3886200"/>
            <a:ext cx="9601200" cy="1463040"/>
          </a:xfrm>
          <a:prstGeom prst="rect">
            <a:avLst/>
          </a:prstGeom>
          <a:noFill/>
          <a:ln/>
        </p:spPr>
        <p:txBody>
          <a:bodyPr wrap="square" lIns="0" tIns="0" rIns="0" bIns="0" rtlCol="0" anchor="ctr"/>
          <a:lstStyle/>
          <a:p>
            <a:pPr indent="0" marL="0">
              <a:lnSpc>
                <a:spcPct val="115000"/>
              </a:lnSpc>
              <a:buNone/>
            </a:pPr>
            <a:r>
              <a:rPr lang="en-US" sz="1600" dirty="0">
                <a:solidFill>
                  <a:srgbClr val="D8E6F2"/>
                </a:solidFill>
                <a:latin typeface="Calibri" pitchFamily="34" charset="0"/>
                <a:ea typeface="Calibri" pitchFamily="34" charset="-122"/>
                <a:cs typeface="Calibri" pitchFamily="34" charset="-120"/>
              </a:rPr>
              <a:t>A frontier model (&gt;1 trillion parameters) doesn't fit on any single GPU — it gets sliced across thousands of chips that must exchange results constantly, for every single token.</a:t>
            </a:r>
            <a:endParaRPr lang="en-US" sz="1600" dirty="0"/>
          </a:p>
        </p:txBody>
      </p:sp>
      <p:sp>
        <p:nvSpPr>
          <p:cNvPr id="5" name="Text 3"/>
          <p:cNvSpPr txBox="1"/>
          <p:nvPr/>
        </p:nvSpPr>
        <p:spPr>
          <a:xfrm>
            <a:off x="8778240" y="640080"/>
            <a:ext cx="3017520" cy="3017520"/>
          </a:xfrm>
          <a:prstGeom prst="rect">
            <a:avLst/>
          </a:prstGeom>
          <a:noFill/>
          <a:ln/>
        </p:spPr>
        <p:txBody>
          <a:bodyPr wrap="square" lIns="0" tIns="0" rIns="0" bIns="0" rtlCol="0" anchor="ctr"/>
          <a:lstStyle/>
          <a:p>
            <a:pPr algn="r" indent="0" marL="0">
              <a:buNone/>
            </a:pPr>
            <a:r>
              <a:rPr lang="en-US" sz="16000" b="1" dirty="0">
                <a:solidFill>
                  <a:srgbClr val="1C2E42"/>
                </a:solidFill>
                <a:latin typeface="Cambria" pitchFamily="34" charset="0"/>
                <a:ea typeface="Cambria" pitchFamily="34" charset="-122"/>
                <a:cs typeface="Cambria" pitchFamily="34" charset="-120"/>
              </a:rPr>
              <a:t>6</a:t>
            </a:r>
            <a:endParaRPr lang="en-US" sz="16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6 · NETWORKING</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Why the network is 40–60 cents of every GPU dollar</a:t>
            </a:r>
            <a:endParaRPr lang="en-US" sz="3000" dirty="0"/>
          </a:p>
        </p:txBody>
      </p:sp>
      <p:sp>
        <p:nvSpPr>
          <p:cNvPr id="4" name="Text 2"/>
          <p:cNvSpPr txBox="1"/>
          <p:nvPr/>
        </p:nvSpPr>
        <p:spPr>
          <a:xfrm>
            <a:off x="502920" y="1645920"/>
            <a:ext cx="11155680" cy="914400"/>
          </a:xfrm>
          <a:prstGeom prst="rect">
            <a:avLst/>
          </a:prstGeom>
          <a:noFill/>
          <a:ln/>
        </p:spPr>
        <p:txBody>
          <a:bodyPr wrap="square" lIns="0" tIns="0" rIns="0" bIns="0" rtlCol="0" anchor="ctr"/>
          <a:lstStyle/>
          <a:p>
            <a:pPr indent="0" marL="0">
              <a:lnSpc>
                <a:spcPct val="120000"/>
              </a:lnSpc>
              <a:buNone/>
            </a:pPr>
            <a:r>
              <a:rPr lang="en-US" sz="1450" b="1" dirty="0">
                <a:solidFill>
                  <a:srgbClr val="1A2430"/>
                </a:solidFill>
                <a:latin typeface="Calibri" pitchFamily="34" charset="0"/>
                <a:ea typeface="Calibri" pitchFamily="34" charset="-122"/>
                <a:cs typeface="Calibri" pitchFamily="34" charset="-120"/>
              </a:rPr>
              <a:t>The kitchen problem: </a:t>
            </a:r>
            <a:pPr indent="0" marL="0">
              <a:lnSpc>
                <a:spcPct val="120000"/>
              </a:lnSpc>
              <a:buNone/>
            </a:pPr>
            <a:r>
              <a:rPr lang="en-US" sz="1450" dirty="0">
                <a:solidFill>
                  <a:srgbClr val="5A6B7D"/>
                </a:solidFill>
                <a:latin typeface="Calibri" pitchFamily="34" charset="0"/>
                <a:ea typeface="Calibri" pitchFamily="34" charset="-122"/>
                <a:cs typeface="Calibri" pitchFamily="34" charset="-120"/>
              </a:rPr>
              <a:t>10,000 line cooks preparing ONE dish; every chef needs ingredients from other chefs every second. If passing ingredients is slow, the most expensive chefs in history stand around waiting. At cluster scale, a network 10% slower can idle billions of dollars of silicon.</a:t>
            </a:r>
            <a:endParaRPr lang="en-US" sz="1450" dirty="0"/>
          </a:p>
        </p:txBody>
      </p:sp>
      <p:sp>
        <p:nvSpPr>
          <p:cNvPr id="5" name="Shape 3"/>
          <p:cNvSpPr/>
          <p:nvPr/>
        </p:nvSpPr>
        <p:spPr>
          <a:xfrm>
            <a:off x="502920" y="2743200"/>
            <a:ext cx="5440680" cy="1188720"/>
          </a:xfrm>
          <a:prstGeom prst="roundRect">
            <a:avLst>
              <a:gd name="adj" fmla="val 5385"/>
            </a:avLst>
          </a:prstGeom>
          <a:solidFill>
            <a:srgbClr val="D8E6F2"/>
          </a:solidFill>
          <a:ln/>
        </p:spPr>
      </p:sp>
      <p:sp>
        <p:nvSpPr>
          <p:cNvPr id="6" name="Text 4"/>
          <p:cNvSpPr txBox="1"/>
          <p:nvPr/>
        </p:nvSpPr>
        <p:spPr>
          <a:xfrm>
            <a:off x="667512" y="2852928"/>
            <a:ext cx="5111496" cy="618134"/>
          </a:xfrm>
          <a:prstGeom prst="rect">
            <a:avLst/>
          </a:prstGeom>
          <a:noFill/>
          <a:ln/>
        </p:spPr>
        <p:txBody>
          <a:bodyPr wrap="square" lIns="0" tIns="0" rIns="0" bIns="0" rtlCol="0" anchor="ctr"/>
          <a:lstStyle/>
          <a:p>
            <a:pPr algn="l" indent="0" marL="0">
              <a:buNone/>
            </a:pPr>
            <a:r>
              <a:rPr lang="en-US" sz="2400" b="1" dirty="0">
                <a:solidFill>
                  <a:srgbClr val="13202F"/>
                </a:solidFill>
                <a:latin typeface="Cambria" pitchFamily="34" charset="0"/>
                <a:ea typeface="Cambria" pitchFamily="34" charset="-122"/>
                <a:cs typeface="Cambria" pitchFamily="34" charset="-120"/>
              </a:rPr>
              <a:t>Bandwidth</a:t>
            </a:r>
            <a:endParaRPr lang="en-US" sz="2400" dirty="0"/>
          </a:p>
        </p:txBody>
      </p:sp>
      <p:sp>
        <p:nvSpPr>
          <p:cNvPr id="7" name="Text 5"/>
          <p:cNvSpPr txBox="1"/>
          <p:nvPr/>
        </p:nvSpPr>
        <p:spPr>
          <a:xfrm>
            <a:off x="667512" y="3396996"/>
            <a:ext cx="5111496" cy="499262"/>
          </a:xfrm>
          <a:prstGeom prst="rect">
            <a:avLst/>
          </a:prstGeom>
          <a:noFill/>
          <a:ln/>
        </p:spPr>
        <p:txBody>
          <a:bodyPr wrap="square" lIns="0" tIns="0" rIns="0" bIns="0" rtlCol="0" anchor="t"/>
          <a:lstStyle/>
          <a:p>
            <a:pPr algn="l" indent="0" marL="0">
              <a:buNone/>
            </a:pPr>
            <a:r>
              <a:rPr lang="en-US" sz="1100" dirty="0">
                <a:solidFill>
                  <a:srgbClr val="5A6B7D"/>
                </a:solidFill>
                <a:latin typeface="Calibri" pitchFamily="34" charset="0"/>
                <a:ea typeface="Calibri" pitchFamily="34" charset="-122"/>
                <a:cs typeface="Calibri" pitchFamily="34" charset="-120"/>
              </a:rPr>
              <a:t>How much data moves per second — the width of the conveyor belt</a:t>
            </a:r>
            <a:endParaRPr lang="en-US" sz="1100" dirty="0"/>
          </a:p>
        </p:txBody>
      </p:sp>
      <p:sp>
        <p:nvSpPr>
          <p:cNvPr id="8" name="Shape 6"/>
          <p:cNvSpPr/>
          <p:nvPr/>
        </p:nvSpPr>
        <p:spPr>
          <a:xfrm>
            <a:off x="6217920" y="2743200"/>
            <a:ext cx="5440680" cy="1188720"/>
          </a:xfrm>
          <a:prstGeom prst="roundRect">
            <a:avLst>
              <a:gd name="adj" fmla="val 5385"/>
            </a:avLst>
          </a:prstGeom>
          <a:solidFill>
            <a:srgbClr val="D8E6F2"/>
          </a:solidFill>
          <a:ln/>
        </p:spPr>
      </p:sp>
      <p:sp>
        <p:nvSpPr>
          <p:cNvPr id="9" name="Text 7"/>
          <p:cNvSpPr txBox="1"/>
          <p:nvPr/>
        </p:nvSpPr>
        <p:spPr>
          <a:xfrm>
            <a:off x="6382512" y="2852928"/>
            <a:ext cx="5111496" cy="618134"/>
          </a:xfrm>
          <a:prstGeom prst="rect">
            <a:avLst/>
          </a:prstGeom>
          <a:noFill/>
          <a:ln/>
        </p:spPr>
        <p:txBody>
          <a:bodyPr wrap="square" lIns="0" tIns="0" rIns="0" bIns="0" rtlCol="0" anchor="ctr"/>
          <a:lstStyle/>
          <a:p>
            <a:pPr algn="l" indent="0" marL="0">
              <a:buNone/>
            </a:pPr>
            <a:r>
              <a:rPr lang="en-US" sz="2400" b="1" dirty="0">
                <a:solidFill>
                  <a:srgbClr val="13202F"/>
                </a:solidFill>
                <a:latin typeface="Cambria" pitchFamily="34" charset="0"/>
                <a:ea typeface="Cambria" pitchFamily="34" charset="-122"/>
                <a:cs typeface="Cambria" pitchFamily="34" charset="-120"/>
              </a:rPr>
              <a:t>Latency</a:t>
            </a:r>
            <a:endParaRPr lang="en-US" sz="2400" dirty="0"/>
          </a:p>
        </p:txBody>
      </p:sp>
      <p:sp>
        <p:nvSpPr>
          <p:cNvPr id="10" name="Text 8"/>
          <p:cNvSpPr txBox="1"/>
          <p:nvPr/>
        </p:nvSpPr>
        <p:spPr>
          <a:xfrm>
            <a:off x="6382512" y="3396996"/>
            <a:ext cx="5111496" cy="499262"/>
          </a:xfrm>
          <a:prstGeom prst="rect">
            <a:avLst/>
          </a:prstGeom>
          <a:noFill/>
          <a:ln/>
        </p:spPr>
        <p:txBody>
          <a:bodyPr wrap="square" lIns="0" tIns="0" rIns="0" bIns="0" rtlCol="0" anchor="t"/>
          <a:lstStyle/>
          <a:p>
            <a:pPr algn="l" indent="0" marL="0">
              <a:buNone/>
            </a:pPr>
            <a:r>
              <a:rPr lang="en-US" sz="1100" dirty="0">
                <a:solidFill>
                  <a:srgbClr val="5A6B7D"/>
                </a:solidFill>
                <a:latin typeface="Calibri" pitchFamily="34" charset="0"/>
                <a:ea typeface="Calibri" pitchFamily="34" charset="-122"/>
                <a:cs typeface="Calibri" pitchFamily="34" charset="-120"/>
              </a:rPr>
              <a:t>The delay of ONE handoff. AI needs both, everywhere, at once</a:t>
            </a:r>
            <a:endParaRPr lang="en-US" sz="1100" dirty="0"/>
          </a:p>
        </p:txBody>
      </p:sp>
      <p:sp>
        <p:nvSpPr>
          <p:cNvPr id="11" name="Shape 9"/>
          <p:cNvSpPr/>
          <p:nvPr/>
        </p:nvSpPr>
        <p:spPr>
          <a:xfrm>
            <a:off x="502920" y="4160520"/>
            <a:ext cx="5440680" cy="1783080"/>
          </a:xfrm>
          <a:prstGeom prst="roundRect">
            <a:avLst>
              <a:gd name="adj" fmla="val 3590"/>
            </a:avLst>
          </a:prstGeom>
          <a:solidFill>
            <a:srgbClr val="F4F7FA"/>
          </a:solidFill>
          <a:ln w="9525">
            <a:solidFill>
              <a:srgbClr val="DDE5EC"/>
            </a:solidFill>
            <a:prstDash val="solid"/>
          </a:ln>
        </p:spPr>
      </p:sp>
      <p:sp>
        <p:nvSpPr>
          <p:cNvPr id="12" name="Text 10"/>
          <p:cNvSpPr txBox="1"/>
          <p:nvPr/>
        </p:nvSpPr>
        <p:spPr>
          <a:xfrm>
            <a:off x="777240" y="4315968"/>
            <a:ext cx="4937760" cy="320040"/>
          </a:xfrm>
          <a:prstGeom prst="rect">
            <a:avLst/>
          </a:prstGeom>
          <a:noFill/>
          <a:ln/>
        </p:spPr>
        <p:txBody>
          <a:bodyPr wrap="square" lIns="0" tIns="0" rIns="0" bIns="0" rtlCol="0" anchor="ctr"/>
          <a:lstStyle/>
          <a:p>
            <a:pPr indent="0" marL="0">
              <a:buNone/>
            </a:pPr>
            <a:r>
              <a:rPr lang="en-US" sz="1300" b="1" dirty="0">
                <a:solidFill>
                  <a:srgbClr val="13202F"/>
                </a:solidFill>
                <a:latin typeface="Calibri" pitchFamily="34" charset="0"/>
                <a:ea typeface="Calibri" pitchFamily="34" charset="-122"/>
                <a:cs typeface="Calibri" pitchFamily="34" charset="-120"/>
              </a:rPr>
              <a:t>SCALE UP — inside the rack</a:t>
            </a:r>
            <a:endParaRPr lang="en-US" sz="1300" dirty="0"/>
          </a:p>
        </p:txBody>
      </p:sp>
      <p:sp>
        <p:nvSpPr>
          <p:cNvPr id="13" name="Text 11"/>
          <p:cNvSpPr txBox="1"/>
          <p:nvPr/>
        </p:nvSpPr>
        <p:spPr>
          <a:xfrm>
            <a:off x="777240" y="4681728"/>
            <a:ext cx="4937760" cy="1097280"/>
          </a:xfrm>
          <a:prstGeom prst="rect">
            <a:avLst/>
          </a:prstGeom>
          <a:noFill/>
          <a:ln/>
        </p:spPr>
        <p:txBody>
          <a:bodyPr wrap="square" lIns="0" tIns="0" rIns="0" bIns="0" rtlCol="0" anchor="t"/>
          <a:lstStyle/>
          <a:p>
            <a:pPr indent="0" marL="0">
              <a:lnSpc>
                <a:spcPct val="115000"/>
              </a:lnSpc>
              <a:buNone/>
            </a:pPr>
            <a:r>
              <a:rPr lang="en-US" sz="1200" dirty="0">
                <a:solidFill>
                  <a:srgbClr val="5A6B7D"/>
                </a:solidFill>
                <a:latin typeface="Calibri" pitchFamily="34" charset="0"/>
                <a:ea typeface="Calibri" pitchFamily="34" charset="-122"/>
                <a:cs typeface="Calibri" pitchFamily="34" charset="-120"/>
              </a:rPr>
              <a:t>Nvidia's proprietary NVLink: the extreme-speed web that makes 72 GPUs one machine.</a:t>
            </a:r>
            <a:endParaRPr lang="en-US" sz="1200" dirty="0"/>
          </a:p>
        </p:txBody>
      </p:sp>
      <p:sp>
        <p:nvSpPr>
          <p:cNvPr id="14" name="Shape 12"/>
          <p:cNvSpPr/>
          <p:nvPr/>
        </p:nvSpPr>
        <p:spPr>
          <a:xfrm>
            <a:off x="6217920" y="4160520"/>
            <a:ext cx="5440680" cy="1783080"/>
          </a:xfrm>
          <a:prstGeom prst="roundRect">
            <a:avLst>
              <a:gd name="adj" fmla="val 3590"/>
            </a:avLst>
          </a:prstGeom>
          <a:solidFill>
            <a:srgbClr val="D8E6F2"/>
          </a:solidFill>
          <a:ln/>
        </p:spPr>
      </p:sp>
      <p:sp>
        <p:nvSpPr>
          <p:cNvPr id="15" name="Text 13"/>
          <p:cNvSpPr txBox="1"/>
          <p:nvPr/>
        </p:nvSpPr>
        <p:spPr>
          <a:xfrm>
            <a:off x="6492240" y="4315968"/>
            <a:ext cx="4937760" cy="320040"/>
          </a:xfrm>
          <a:prstGeom prst="rect">
            <a:avLst/>
          </a:prstGeom>
          <a:noFill/>
          <a:ln/>
        </p:spPr>
        <p:txBody>
          <a:bodyPr wrap="square" lIns="0" tIns="0" rIns="0" bIns="0" rtlCol="0" anchor="ctr"/>
          <a:lstStyle/>
          <a:p>
            <a:pPr indent="0" marL="0">
              <a:buNone/>
            </a:pPr>
            <a:r>
              <a:rPr lang="en-US" sz="1300" b="1" dirty="0">
                <a:solidFill>
                  <a:srgbClr val="13202F"/>
                </a:solidFill>
                <a:latin typeface="Calibri" pitchFamily="34" charset="0"/>
                <a:ea typeface="Calibri" pitchFamily="34" charset="-122"/>
                <a:cs typeface="Calibri" pitchFamily="34" charset="-120"/>
              </a:rPr>
              <a:t>SCALE OUT — rack to rack: the war</a:t>
            </a:r>
            <a:endParaRPr lang="en-US" sz="1300" dirty="0"/>
          </a:p>
        </p:txBody>
      </p:sp>
      <p:sp>
        <p:nvSpPr>
          <p:cNvPr id="16" name="Text 14"/>
          <p:cNvSpPr txBox="1"/>
          <p:nvPr/>
        </p:nvSpPr>
        <p:spPr>
          <a:xfrm>
            <a:off x="6492240" y="4681728"/>
            <a:ext cx="4937760" cy="1188720"/>
          </a:xfrm>
          <a:prstGeom prst="rect">
            <a:avLst/>
          </a:prstGeom>
          <a:noFill/>
          <a:ln/>
        </p:spPr>
        <p:txBody>
          <a:bodyPr wrap="square" lIns="0" tIns="0" rIns="0" bIns="0" rtlCol="0" anchor="t"/>
          <a:lstStyle/>
          <a:p>
            <a:pPr indent="0" marL="0">
              <a:lnSpc>
                <a:spcPct val="112000"/>
              </a:lnSpc>
              <a:buNone/>
            </a:pPr>
            <a:r>
              <a:rPr lang="en-US" sz="1150" dirty="0">
                <a:solidFill>
                  <a:srgbClr val="1A2430"/>
                </a:solidFill>
                <a:latin typeface="Calibri" pitchFamily="34" charset="0"/>
                <a:ea typeface="Calibri" pitchFamily="34" charset="-122"/>
                <a:cs typeface="Calibri" pitchFamily="34" charset="-120"/>
              </a:rPr>
              <a:t>InfiniBand (Nvidia, via Mellanox 2019): premium performance, premium price, one vendor. Against it: Ethernet, the open standard backed by everyone who isn't Nvidia. By early 2026 ~2/3 of new AI cluster networking is Ethernet. Open standards, given time, usually win. They just did.</a:t>
            </a:r>
            <a:endParaRPr lang="en-US" sz="1150" dirty="0"/>
          </a:p>
        </p:txBody>
      </p:sp>
      <p:sp>
        <p:nvSpPr>
          <p:cNvPr id="18" name="Text 15"/>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6 · WHO GETS PAID</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The nervous system: switches, signals, and light</a:t>
            </a:r>
            <a:endParaRPr lang="en-US" sz="3000" dirty="0"/>
          </a:p>
        </p:txBody>
      </p:sp>
      <p:sp>
        <p:nvSpPr>
          <p:cNvPr id="4" name="Shape 2"/>
          <p:cNvSpPr/>
          <p:nvPr/>
        </p:nvSpPr>
        <p:spPr>
          <a:xfrm>
            <a:off x="502920" y="1554480"/>
            <a:ext cx="5486400" cy="1234440"/>
          </a:xfrm>
          <a:prstGeom prst="roundRect">
            <a:avLst>
              <a:gd name="adj" fmla="val 4444"/>
            </a:avLst>
          </a:prstGeom>
          <a:solidFill>
            <a:srgbClr val="D8E6F2"/>
          </a:solidFill>
          <a:ln w="9525">
            <a:solidFill>
              <a:srgbClr val="DDE5EC"/>
            </a:solidFill>
            <a:prstDash val="solid"/>
          </a:ln>
        </p:spPr>
      </p:sp>
      <p:sp>
        <p:nvSpPr>
          <p:cNvPr id="5" name="Text 3"/>
          <p:cNvSpPr txBox="1"/>
          <p:nvPr/>
        </p:nvSpPr>
        <p:spPr>
          <a:xfrm>
            <a:off x="649224" y="164592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Broadcom (again)</a:t>
            </a:r>
            <a:pPr indent="0" marL="0">
              <a:buNone/>
            </a:pPr>
            <a:r>
              <a:rPr lang="en-US" sz="1000" i="1" dirty="0">
                <a:solidFill>
                  <a:srgbClr val="B87A18"/>
                </a:solidFill>
                <a:latin typeface="Calibri" pitchFamily="34" charset="0"/>
                <a:ea typeface="Calibri" pitchFamily="34" charset="-122"/>
                <a:cs typeface="Calibri" pitchFamily="34" charset="-120"/>
              </a:rPr>
              <a:t>   both sides of the war</a:t>
            </a:r>
            <a:endParaRPr lang="en-US" sz="1350" dirty="0"/>
          </a:p>
        </p:txBody>
      </p:sp>
      <p:sp>
        <p:nvSpPr>
          <p:cNvPr id="6" name="Text 4"/>
          <p:cNvSpPr txBox="1"/>
          <p:nvPr/>
        </p:nvSpPr>
        <p:spPr>
          <a:xfrm>
            <a:off x="649224" y="1920240"/>
            <a:ext cx="5193792" cy="7772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Tomahawk chips = the merchant silicon inside most high-end Ethernet switches. One company profiting from custom compute AND the network.</a:t>
            </a:r>
            <a:endParaRPr lang="en-US" sz="1050" dirty="0"/>
          </a:p>
        </p:txBody>
      </p:sp>
      <p:sp>
        <p:nvSpPr>
          <p:cNvPr id="7" name="Shape 5"/>
          <p:cNvSpPr/>
          <p:nvPr/>
        </p:nvSpPr>
        <p:spPr>
          <a:xfrm>
            <a:off x="6172200" y="1554480"/>
            <a:ext cx="5486400" cy="1234440"/>
          </a:xfrm>
          <a:prstGeom prst="roundRect">
            <a:avLst>
              <a:gd name="adj" fmla="val 4444"/>
            </a:avLst>
          </a:prstGeom>
          <a:solidFill>
            <a:srgbClr val="F4F7FA"/>
          </a:solidFill>
          <a:ln w="9525">
            <a:solidFill>
              <a:srgbClr val="DDE5EC"/>
            </a:solidFill>
            <a:prstDash val="solid"/>
          </a:ln>
        </p:spPr>
      </p:sp>
      <p:sp>
        <p:nvSpPr>
          <p:cNvPr id="8" name="Text 6"/>
          <p:cNvSpPr txBox="1"/>
          <p:nvPr/>
        </p:nvSpPr>
        <p:spPr>
          <a:xfrm>
            <a:off x="6318504" y="164592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Arista · Cisco · Marvell</a:t>
            </a:r>
            <a:pPr indent="0" marL="0">
              <a:buNone/>
            </a:pPr>
            <a:r>
              <a:rPr lang="en-US" sz="1000" i="1" dirty="0">
                <a:solidFill>
                  <a:srgbClr val="B87A18"/>
                </a:solidFill>
                <a:latin typeface="Calibri" pitchFamily="34" charset="0"/>
                <a:ea typeface="Calibri" pitchFamily="34" charset="-122"/>
                <a:cs typeface="Calibri" pitchFamily="34" charset="-120"/>
              </a:rPr>
              <a:t>   switch builders &amp; one tier down</a:t>
            </a:r>
            <a:endParaRPr lang="en-US" sz="1350" dirty="0"/>
          </a:p>
        </p:txBody>
      </p:sp>
      <p:sp>
        <p:nvSpPr>
          <p:cNvPr id="9" name="Text 7"/>
          <p:cNvSpPr txBox="1"/>
          <p:nvPr/>
        </p:nvSpPr>
        <p:spPr>
          <a:xfrm>
            <a:off x="6318504" y="1920240"/>
            <a:ext cx="5193792" cy="7772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Arista: best-in-class boxes hyperscalers standardise on; ~$11.5bn guided, risk = two customers ≈ 40% of revenue. Cisco: incumbent fighting for AI relevance. Marvell: Broadcom playbook one tier down — custom chips for Amazon/Microsoft + optical DSP leadership.</a:t>
            </a:r>
            <a:endParaRPr lang="en-US" sz="1050" dirty="0"/>
          </a:p>
        </p:txBody>
      </p:sp>
      <p:sp>
        <p:nvSpPr>
          <p:cNvPr id="10" name="Shape 8"/>
          <p:cNvSpPr/>
          <p:nvPr/>
        </p:nvSpPr>
        <p:spPr>
          <a:xfrm>
            <a:off x="502920" y="2926080"/>
            <a:ext cx="5486400" cy="1234440"/>
          </a:xfrm>
          <a:prstGeom prst="roundRect">
            <a:avLst>
              <a:gd name="adj" fmla="val 4444"/>
            </a:avLst>
          </a:prstGeom>
          <a:solidFill>
            <a:srgbClr val="F4F7FA"/>
          </a:solidFill>
          <a:ln w="9525">
            <a:solidFill>
              <a:srgbClr val="DDE5EC"/>
            </a:solidFill>
            <a:prstDash val="solid"/>
          </a:ln>
        </p:spPr>
      </p:sp>
      <p:sp>
        <p:nvSpPr>
          <p:cNvPr id="11" name="Text 9"/>
          <p:cNvSpPr txBox="1"/>
          <p:nvPr/>
        </p:nvSpPr>
        <p:spPr>
          <a:xfrm>
            <a:off x="649224" y="301752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Astera Labs</a:t>
            </a:r>
            <a:pPr indent="0" marL="0">
              <a:buNone/>
            </a:pPr>
            <a:r>
              <a:rPr lang="en-US" sz="1000" i="1" dirty="0">
                <a:solidFill>
                  <a:srgbClr val="B87A18"/>
                </a:solidFill>
                <a:latin typeface="Calibri" pitchFamily="34" charset="0"/>
                <a:ea typeface="Calibri" pitchFamily="34" charset="-122"/>
                <a:cs typeface="Calibri" pitchFamily="34" charset="-120"/>
              </a:rPr>
              <a:t>   the space between two chips</a:t>
            </a:r>
            <a:endParaRPr lang="en-US" sz="1350" dirty="0"/>
          </a:p>
        </p:txBody>
      </p:sp>
      <p:sp>
        <p:nvSpPr>
          <p:cNvPr id="12" name="Text 10"/>
          <p:cNvSpPr txBox="1"/>
          <p:nvPr/>
        </p:nvSpPr>
        <p:spPr>
          <a:xfrm>
            <a:off x="649224" y="3291840"/>
            <a:ext cx="5193792" cy="7772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Tiny retimer chips that clean up signals degrading over INCHES of circuit board at these speeds. Boring, invisible — 76% gross margins, revenue +93% last quarter. At this speed, even the gap between two chips is a market.</a:t>
            </a:r>
            <a:endParaRPr lang="en-US" sz="1050" dirty="0"/>
          </a:p>
        </p:txBody>
      </p:sp>
      <p:sp>
        <p:nvSpPr>
          <p:cNvPr id="13" name="Shape 11"/>
          <p:cNvSpPr/>
          <p:nvPr/>
        </p:nvSpPr>
        <p:spPr>
          <a:xfrm>
            <a:off x="6172200" y="2926080"/>
            <a:ext cx="5486400" cy="1234440"/>
          </a:xfrm>
          <a:prstGeom prst="roundRect">
            <a:avLst>
              <a:gd name="adj" fmla="val 4444"/>
            </a:avLst>
          </a:prstGeom>
          <a:solidFill>
            <a:srgbClr val="F4F7FA"/>
          </a:solidFill>
          <a:ln w="9525">
            <a:solidFill>
              <a:srgbClr val="DDE5EC"/>
            </a:solidFill>
            <a:prstDash val="solid"/>
          </a:ln>
        </p:spPr>
      </p:sp>
      <p:sp>
        <p:nvSpPr>
          <p:cNvPr id="14" name="Text 12"/>
          <p:cNvSpPr txBox="1"/>
          <p:nvPr/>
        </p:nvSpPr>
        <p:spPr>
          <a:xfrm>
            <a:off x="6318504" y="301752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The optics complex</a:t>
            </a:r>
            <a:pPr indent="0" marL="0">
              <a:buNone/>
            </a:pPr>
            <a:r>
              <a:rPr lang="en-US" sz="1000" i="1" dirty="0">
                <a:solidFill>
                  <a:srgbClr val="B87A18"/>
                </a:solidFill>
                <a:latin typeface="Calibri" pitchFamily="34" charset="0"/>
                <a:ea typeface="Calibri" pitchFamily="34" charset="-122"/>
                <a:cs typeface="Calibri" pitchFamily="34" charset="-120"/>
              </a:rPr>
              <a:t>   razor blades for data centres</a:t>
            </a:r>
            <a:endParaRPr lang="en-US" sz="1350" dirty="0"/>
          </a:p>
        </p:txBody>
      </p:sp>
      <p:sp>
        <p:nvSpPr>
          <p:cNvPr id="15" name="Text 13"/>
          <p:cNvSpPr txBox="1"/>
          <p:nvPr/>
        </p:nvSpPr>
        <p:spPr>
          <a:xfrm>
            <a:off x="6318504" y="3291840"/>
            <a:ext cx="5193792" cy="7772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Copper dies after a few metres, so between racks everything converts to LIGHT. The optical transceiver (thumb-sized translator, one per end of every link): a large cluster consumes hundreds of thousands, replaced every upgrade cycle. Coherent (leader), Lumentum, Innolight (China volume), Fabrinet (assembles for nearly all — the arms dealer's arms dealer), Corning (draws the glass), Amphenol (the knuckles).</a:t>
            </a:r>
            <a:endParaRPr lang="en-US" sz="1050" dirty="0"/>
          </a:p>
        </p:txBody>
      </p:sp>
      <p:sp>
        <p:nvSpPr>
          <p:cNvPr id="16" name="Text 14"/>
          <p:cNvSpPr txBox="1"/>
          <p:nvPr/>
        </p:nvSpPr>
        <p:spPr>
          <a:xfrm>
            <a:off x="502920" y="4389120"/>
            <a:ext cx="11155680" cy="365760"/>
          </a:xfrm>
          <a:prstGeom prst="rect">
            <a:avLst/>
          </a:prstGeom>
          <a:noFill/>
          <a:ln/>
        </p:spPr>
        <p:txBody>
          <a:bodyPr wrap="square" lIns="0" tIns="0" rIns="0" bIns="0" rtlCol="0" anchor="ctr"/>
          <a:lstStyle/>
          <a:p>
            <a:pPr indent="0" marL="0">
              <a:buNone/>
            </a:pPr>
            <a:r>
              <a:rPr lang="en-US" sz="1300" b="1" dirty="0">
                <a:solidFill>
                  <a:srgbClr val="1A2430"/>
                </a:solidFill>
                <a:latin typeface="Calibri" pitchFamily="34" charset="0"/>
                <a:ea typeface="Calibri" pitchFamily="34" charset="-122"/>
                <a:cs typeface="Calibri" pitchFamily="34" charset="-120"/>
              </a:rPr>
              <a:t>Frontier to watch: </a:t>
            </a:r>
            <a:pPr indent="0" marL="0">
              <a:buNone/>
            </a:pPr>
            <a:r>
              <a:rPr lang="en-US" sz="1300" dirty="0">
                <a:solidFill>
                  <a:srgbClr val="5A6B7D"/>
                </a:solidFill>
                <a:latin typeface="Calibri" pitchFamily="34" charset="0"/>
                <a:ea typeface="Calibri" pitchFamily="34" charset="-122"/>
                <a:cs typeface="Calibri" pitchFamily="34" charset="-120"/>
              </a:rPr>
              <a:t>co-packaged optics — moving light conversion directly onto the switch chip to slash power.</a:t>
            </a:r>
            <a:endParaRPr lang="en-US" sz="1300" dirty="0"/>
          </a:p>
        </p:txBody>
      </p:sp>
      <p:sp>
        <p:nvSpPr>
          <p:cNvPr id="17" name="Shape 15"/>
          <p:cNvSpPr/>
          <p:nvPr/>
        </p:nvSpPr>
        <p:spPr>
          <a:xfrm>
            <a:off x="502920" y="4892040"/>
            <a:ext cx="11155680" cy="1051560"/>
          </a:xfrm>
          <a:prstGeom prst="roundRect">
            <a:avLst>
              <a:gd name="adj" fmla="val 6087"/>
            </a:avLst>
          </a:prstGeom>
          <a:solidFill>
            <a:srgbClr val="13202F"/>
          </a:solidFill>
          <a:ln/>
        </p:spPr>
      </p:sp>
      <p:sp>
        <p:nvSpPr>
          <p:cNvPr id="18" name="Text 16"/>
          <p:cNvSpPr txBox="1"/>
          <p:nvPr/>
        </p:nvSpPr>
        <p:spPr>
          <a:xfrm>
            <a:off x="777240" y="5029200"/>
            <a:ext cx="10607040" cy="777240"/>
          </a:xfrm>
          <a:prstGeom prst="rect">
            <a:avLst/>
          </a:prstGeom>
          <a:noFill/>
          <a:ln/>
        </p:spPr>
        <p:txBody>
          <a:bodyPr wrap="square" lIns="0" tIns="0" rIns="0" bIns="0" rtlCol="0" anchor="ctr"/>
          <a:lstStyle/>
          <a:p>
            <a:pPr indent="0" marL="0">
              <a:lnSpc>
                <a:spcPct val="112000"/>
              </a:lnSpc>
              <a:buNone/>
            </a:pPr>
            <a:r>
              <a:rPr lang="en-US" sz="1400" b="1" dirty="0">
                <a:solidFill>
                  <a:srgbClr val="F0A431"/>
                </a:solidFill>
                <a:latin typeface="Calibri" pitchFamily="34" charset="0"/>
                <a:ea typeface="Calibri" pitchFamily="34" charset="-122"/>
                <a:cs typeface="Calibri" pitchFamily="34" charset="-120"/>
              </a:rPr>
              <a:t>Dirty secret on the factory floor: most of the time, the world's most expensive chips are waiting — not for data across the room, but for data two centimetres away. Enter Act 7.</a:t>
            </a:r>
            <a:endParaRPr lang="en-US" sz="1400" dirty="0"/>
          </a:p>
        </p:txBody>
      </p:sp>
      <p:sp>
        <p:nvSpPr>
          <p:cNvPr id="20" name="Text 17"/>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3202F"/>
        </a:solidFill>
      </p:bgPr>
    </p:bg>
    <p:spTree>
      <p:nvGrpSpPr>
        <p:cNvPr id="1" name=""/>
        <p:cNvGrpSpPr/>
        <p:nvPr/>
      </p:nvGrpSpPr>
      <p:grpSpPr>
        <a:xfrm>
          <a:off x="0" y="0"/>
          <a:ext cx="0" cy="0"/>
          <a:chOff x="0" y="0"/>
          <a:chExt cx="0" cy="0"/>
        </a:xfrm>
      </p:grpSpPr>
      <p:sp>
        <p:nvSpPr>
          <p:cNvPr id="2" name="Text 0"/>
          <p:cNvSpPr txBox="1"/>
          <p:nvPr/>
        </p:nvSpPr>
        <p:spPr>
          <a:xfrm>
            <a:off x="731520" y="2011680"/>
            <a:ext cx="10698480" cy="365760"/>
          </a:xfrm>
          <a:prstGeom prst="rect">
            <a:avLst/>
          </a:prstGeom>
          <a:noFill/>
          <a:ln/>
        </p:spPr>
        <p:txBody>
          <a:bodyPr wrap="square" lIns="0" tIns="0" rIns="0" bIns="0" rtlCol="0" anchor="ctr"/>
          <a:lstStyle/>
          <a:p>
            <a:pPr indent="0" marL="0">
              <a:buNone/>
            </a:pPr>
            <a:r>
              <a:rPr lang="en-US" sz="1400" b="1" spc="400" kern="0" dirty="0">
                <a:solidFill>
                  <a:srgbClr val="F0A431"/>
                </a:solidFill>
                <a:latin typeface="Calibri" pitchFamily="34" charset="0"/>
                <a:ea typeface="Calibri" pitchFamily="34" charset="-122"/>
                <a:cs typeface="Calibri" pitchFamily="34" charset="-120"/>
              </a:rPr>
              <a:t>ACT 7</a:t>
            </a:r>
            <a:endParaRPr lang="en-US" sz="1400" dirty="0"/>
          </a:p>
        </p:txBody>
      </p:sp>
      <p:sp>
        <p:nvSpPr>
          <p:cNvPr id="3" name="Text 1"/>
          <p:cNvSpPr txBox="1"/>
          <p:nvPr/>
        </p:nvSpPr>
        <p:spPr>
          <a:xfrm>
            <a:off x="731520" y="2423160"/>
            <a:ext cx="10698480" cy="13716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Memory: the countertop is the bottleneck</a:t>
            </a:r>
            <a:endParaRPr lang="en-US" sz="4400" dirty="0"/>
          </a:p>
        </p:txBody>
      </p:sp>
      <p:sp>
        <p:nvSpPr>
          <p:cNvPr id="4" name="Text 2"/>
          <p:cNvSpPr txBox="1"/>
          <p:nvPr/>
        </p:nvSpPr>
        <p:spPr>
          <a:xfrm>
            <a:off x="731520" y="3886200"/>
            <a:ext cx="9601200" cy="1463040"/>
          </a:xfrm>
          <a:prstGeom prst="rect">
            <a:avLst/>
          </a:prstGeom>
          <a:noFill/>
          <a:ln/>
        </p:spPr>
        <p:txBody>
          <a:bodyPr wrap="square" lIns="0" tIns="0" rIns="0" bIns="0" rtlCol="0" anchor="ctr"/>
          <a:lstStyle/>
          <a:p>
            <a:pPr indent="0" marL="0">
              <a:lnSpc>
                <a:spcPct val="115000"/>
              </a:lnSpc>
              <a:buNone/>
            </a:pPr>
            <a:r>
              <a:rPr lang="en-US" sz="1600" dirty="0">
                <a:solidFill>
                  <a:srgbClr val="D8E6F2"/>
                </a:solidFill>
                <a:latin typeface="Calibri" pitchFamily="34" charset="0"/>
                <a:ea typeface="Calibri" pitchFamily="34" charset="-122"/>
                <a:cs typeface="Calibri" pitchFamily="34" charset="-120"/>
              </a:rPr>
              <a:t>During decode, the GPU's math cores are often NOT the constraint. The math is fast; the fetching is slow. Modern inference is memory-bandwidth-bound.</a:t>
            </a:r>
            <a:endParaRPr lang="en-US" sz="1600" dirty="0"/>
          </a:p>
        </p:txBody>
      </p:sp>
      <p:sp>
        <p:nvSpPr>
          <p:cNvPr id="5" name="Text 3"/>
          <p:cNvSpPr txBox="1"/>
          <p:nvPr/>
        </p:nvSpPr>
        <p:spPr>
          <a:xfrm>
            <a:off x="8778240" y="640080"/>
            <a:ext cx="3017520" cy="3017520"/>
          </a:xfrm>
          <a:prstGeom prst="rect">
            <a:avLst/>
          </a:prstGeom>
          <a:noFill/>
          <a:ln/>
        </p:spPr>
        <p:txBody>
          <a:bodyPr wrap="square" lIns="0" tIns="0" rIns="0" bIns="0" rtlCol="0" anchor="ctr"/>
          <a:lstStyle/>
          <a:p>
            <a:pPr algn="r" indent="0" marL="0">
              <a:buNone/>
            </a:pPr>
            <a:r>
              <a:rPr lang="en-US" sz="16000" b="1" dirty="0">
                <a:solidFill>
                  <a:srgbClr val="1C2E42"/>
                </a:solidFill>
                <a:latin typeface="Cambria" pitchFamily="34" charset="0"/>
                <a:ea typeface="Cambria" pitchFamily="34" charset="-122"/>
                <a:cs typeface="Cambria" pitchFamily="34" charset="-120"/>
              </a:rPr>
              <a:t>7</a:t>
            </a:r>
            <a:endParaRPr lang="en-US" sz="16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7 · HBM</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High-bandwidth memory: skyscrapers next to the factory</a:t>
            </a:r>
            <a:endParaRPr lang="en-US" sz="3000" dirty="0"/>
          </a:p>
        </p:txBody>
      </p:sp>
      <p:sp>
        <p:nvSpPr>
          <p:cNvPr id="4" name="Text 2"/>
          <p:cNvSpPr txBox="1"/>
          <p:nvPr/>
        </p:nvSpPr>
        <p:spPr>
          <a:xfrm>
            <a:off x="502920" y="1645920"/>
            <a:ext cx="11155680" cy="1234440"/>
          </a:xfrm>
          <a:prstGeom prst="rect">
            <a:avLst/>
          </a:prstGeom>
          <a:noFill/>
          <a:ln/>
        </p:spPr>
        <p:txBody>
          <a:bodyPr wrap="square" lIns="0" tIns="0" rIns="0" bIns="0" rtlCol="0" anchor="ctr"/>
          <a:lstStyle/>
          <a:p>
            <a:pPr indent="0" marL="0">
              <a:lnSpc>
                <a:spcPct val="118000"/>
              </a:lnSpc>
              <a:buNone/>
            </a:pPr>
            <a:r>
              <a:rPr lang="en-US" sz="1400" b="1" dirty="0">
                <a:solidFill>
                  <a:srgbClr val="1A2430"/>
                </a:solidFill>
                <a:latin typeface="Calibri" pitchFamily="34" charset="0"/>
                <a:ea typeface="Calibri" pitchFamily="34" charset="-122"/>
                <a:cs typeface="Calibri" pitchFamily="34" charset="-120"/>
              </a:rPr>
              <a:t>The design: </a:t>
            </a:r>
            <a:pPr indent="0" marL="0">
              <a:lnSpc>
                <a:spcPct val="118000"/>
              </a:lnSpc>
              <a:buNone/>
            </a:pPr>
            <a:r>
              <a:rPr lang="en-US" sz="1400" dirty="0">
                <a:solidFill>
                  <a:srgbClr val="5A6B7D"/>
                </a:solidFill>
                <a:latin typeface="Calibri" pitchFamily="34" charset="0"/>
                <a:ea typeface="Calibri" pitchFamily="34" charset="-122"/>
                <a:cs typeface="Calibri" pitchFamily="34" charset="-120"/>
              </a:rPr>
              <a:t>instead of memory chips lying flat inches from the processor (suburbs across a highway), HBM stacks them 8–12 storeys high, drills thousands of microscopic elevator shafts through the silicon, and glues the tower directly beside the GPU on the same package. Result: 5–6× the bandwidth of conventional memory — at 5–6× the price. Nvidia happily pays: memory is now one of the biggest cost components in every AI chip.</a:t>
            </a:r>
            <a:endParaRPr lang="en-US" sz="1400" dirty="0"/>
          </a:p>
        </p:txBody>
      </p:sp>
      <p:sp>
        <p:nvSpPr>
          <p:cNvPr id="5" name="Shape 3"/>
          <p:cNvSpPr/>
          <p:nvPr/>
        </p:nvSpPr>
        <p:spPr>
          <a:xfrm>
            <a:off x="502920" y="3063240"/>
            <a:ext cx="3611880" cy="1691640"/>
          </a:xfrm>
          <a:prstGeom prst="roundRect">
            <a:avLst>
              <a:gd name="adj" fmla="val 3243"/>
            </a:avLst>
          </a:prstGeom>
          <a:solidFill>
            <a:srgbClr val="D8E6F2"/>
          </a:solidFill>
          <a:ln w="9525">
            <a:solidFill>
              <a:srgbClr val="DDE5EC"/>
            </a:solidFill>
            <a:prstDash val="solid"/>
          </a:ln>
        </p:spPr>
      </p:sp>
      <p:sp>
        <p:nvSpPr>
          <p:cNvPr id="6" name="Text 4"/>
          <p:cNvSpPr txBox="1"/>
          <p:nvPr/>
        </p:nvSpPr>
        <p:spPr>
          <a:xfrm>
            <a:off x="649224" y="3154680"/>
            <a:ext cx="331927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SK Hynix</a:t>
            </a:r>
            <a:pPr indent="0" marL="0">
              <a:buNone/>
            </a:pPr>
            <a:r>
              <a:rPr lang="en-US" sz="1000" i="1" dirty="0">
                <a:solidFill>
                  <a:srgbClr val="B87A18"/>
                </a:solidFill>
                <a:latin typeface="Calibri" pitchFamily="34" charset="0"/>
                <a:ea typeface="Calibri" pitchFamily="34" charset="-122"/>
                <a:cs typeface="Calibri" pitchFamily="34" charset="-120"/>
              </a:rPr>
              <a:t>   ~60% of HBM</a:t>
            </a:r>
            <a:endParaRPr lang="en-US" sz="1350" dirty="0"/>
          </a:p>
        </p:txBody>
      </p:sp>
      <p:sp>
        <p:nvSpPr>
          <p:cNvPr id="7" name="Text 5"/>
          <p:cNvSpPr txBox="1"/>
          <p:nvPr/>
        </p:nvSpPr>
        <p:spPr>
          <a:xfrm>
            <a:off x="649224" y="3429000"/>
            <a:ext cx="3319272" cy="12344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Owns the market by out-executing its giant neighbour: bet on HBM years early, shipped each generation first, took the lion's share of Nvidia's next-gen allocation.</a:t>
            </a:r>
            <a:endParaRPr lang="en-US" sz="1050" dirty="0"/>
          </a:p>
        </p:txBody>
      </p:sp>
      <p:sp>
        <p:nvSpPr>
          <p:cNvPr id="8" name="Shape 6"/>
          <p:cNvSpPr/>
          <p:nvPr/>
        </p:nvSpPr>
        <p:spPr>
          <a:xfrm>
            <a:off x="4297680" y="3063240"/>
            <a:ext cx="3611880" cy="1691640"/>
          </a:xfrm>
          <a:prstGeom prst="roundRect">
            <a:avLst>
              <a:gd name="adj" fmla="val 3243"/>
            </a:avLst>
          </a:prstGeom>
          <a:solidFill>
            <a:srgbClr val="F4F7FA"/>
          </a:solidFill>
          <a:ln w="9525">
            <a:solidFill>
              <a:srgbClr val="DDE5EC"/>
            </a:solidFill>
            <a:prstDash val="solid"/>
          </a:ln>
        </p:spPr>
      </p:sp>
      <p:sp>
        <p:nvSpPr>
          <p:cNvPr id="9" name="Text 7"/>
          <p:cNvSpPr txBox="1"/>
          <p:nvPr/>
        </p:nvSpPr>
        <p:spPr>
          <a:xfrm>
            <a:off x="4443984" y="3154680"/>
            <a:ext cx="331927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Samsung</a:t>
            </a:r>
            <a:pPr indent="0" marL="0">
              <a:buNone/>
            </a:pPr>
            <a:r>
              <a:rPr lang="en-US" sz="1000" i="1" dirty="0">
                <a:solidFill>
                  <a:srgbClr val="B87A18"/>
                </a:solidFill>
                <a:latin typeface="Calibri" pitchFamily="34" charset="0"/>
                <a:ea typeface="Calibri" pitchFamily="34" charset="-122"/>
                <a:cs typeface="Calibri" pitchFamily="34" charset="-120"/>
              </a:rPr>
              <a:t>   embarrassingly late</a:t>
            </a:r>
            <a:endParaRPr lang="en-US" sz="1350" dirty="0"/>
          </a:p>
        </p:txBody>
      </p:sp>
      <p:sp>
        <p:nvSpPr>
          <p:cNvPr id="10" name="Text 8"/>
          <p:cNvSpPr txBox="1"/>
          <p:nvPr/>
        </p:nvSpPr>
        <p:spPr>
          <a:xfrm>
            <a:off x="4443984" y="3429000"/>
            <a:ext cx="3319272" cy="12344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Largest memory company overall — but late to HBM.</a:t>
            </a:r>
            <a:endParaRPr lang="en-US" sz="1050" dirty="0"/>
          </a:p>
        </p:txBody>
      </p:sp>
      <p:sp>
        <p:nvSpPr>
          <p:cNvPr id="11" name="Shape 9"/>
          <p:cNvSpPr/>
          <p:nvPr/>
        </p:nvSpPr>
        <p:spPr>
          <a:xfrm>
            <a:off x="8092440" y="3063240"/>
            <a:ext cx="3566160" cy="1691640"/>
          </a:xfrm>
          <a:prstGeom prst="roundRect">
            <a:avLst>
              <a:gd name="adj" fmla="val 3243"/>
            </a:avLst>
          </a:prstGeom>
          <a:solidFill>
            <a:srgbClr val="F4F7FA"/>
          </a:solidFill>
          <a:ln w="9525">
            <a:solidFill>
              <a:srgbClr val="DDE5EC"/>
            </a:solidFill>
            <a:prstDash val="solid"/>
          </a:ln>
        </p:spPr>
      </p:sp>
      <p:sp>
        <p:nvSpPr>
          <p:cNvPr id="12" name="Text 10"/>
          <p:cNvSpPr txBox="1"/>
          <p:nvPr/>
        </p:nvSpPr>
        <p:spPr>
          <a:xfrm>
            <a:off x="8238744" y="3154680"/>
            <a:ext cx="327355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Micron</a:t>
            </a:r>
            <a:pPr indent="0" marL="0">
              <a:buNone/>
            </a:pPr>
            <a:r>
              <a:rPr lang="en-US" sz="1000" i="1" dirty="0">
                <a:solidFill>
                  <a:srgbClr val="B87A18"/>
                </a:solidFill>
                <a:latin typeface="Calibri" pitchFamily="34" charset="0"/>
                <a:ea typeface="Calibri" pitchFamily="34" charset="-122"/>
                <a:cs typeface="Calibri" pitchFamily="34" charset="-120"/>
              </a:rPr>
              <a:t>   sold out in advance</a:t>
            </a:r>
            <a:endParaRPr lang="en-US" sz="1350" dirty="0"/>
          </a:p>
        </p:txBody>
      </p:sp>
      <p:sp>
        <p:nvSpPr>
          <p:cNvPr id="13" name="Text 11"/>
          <p:cNvSpPr txBox="1"/>
          <p:nvPr/>
        </p:nvSpPr>
        <p:spPr>
          <a:xfrm>
            <a:off x="8238744" y="3429000"/>
            <a:ext cx="3273552" cy="12344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The American champion: from afterthought to selling out its entire 2026 HBM capacity in advance.</a:t>
            </a:r>
            <a:endParaRPr lang="en-US" sz="1050" dirty="0"/>
          </a:p>
        </p:txBody>
      </p:sp>
      <p:sp>
        <p:nvSpPr>
          <p:cNvPr id="14" name="Shape 12"/>
          <p:cNvSpPr/>
          <p:nvPr/>
        </p:nvSpPr>
        <p:spPr>
          <a:xfrm>
            <a:off x="502920" y="4937760"/>
            <a:ext cx="11155680" cy="1051560"/>
          </a:xfrm>
          <a:prstGeom prst="roundRect">
            <a:avLst>
              <a:gd name="adj" fmla="val 6087"/>
            </a:avLst>
          </a:prstGeom>
          <a:solidFill>
            <a:srgbClr val="F4F7FA"/>
          </a:solidFill>
          <a:ln w="9525">
            <a:solidFill>
              <a:srgbClr val="DDE5EC"/>
            </a:solidFill>
            <a:prstDash val="solid"/>
          </a:ln>
        </p:spPr>
      </p:sp>
      <p:sp>
        <p:nvSpPr>
          <p:cNvPr id="15" name="Text 13"/>
          <p:cNvSpPr txBox="1"/>
          <p:nvPr/>
        </p:nvSpPr>
        <p:spPr>
          <a:xfrm>
            <a:off x="777240" y="5047488"/>
            <a:ext cx="10607040" cy="868680"/>
          </a:xfrm>
          <a:prstGeom prst="rect">
            <a:avLst/>
          </a:prstGeom>
          <a:noFill/>
          <a:ln/>
        </p:spPr>
        <p:txBody>
          <a:bodyPr wrap="square" lIns="0" tIns="0" rIns="0" bIns="0" rtlCol="0" anchor="ctr"/>
          <a:lstStyle/>
          <a:p>
            <a:pPr indent="0" marL="0">
              <a:lnSpc>
                <a:spcPct val="112000"/>
              </a:lnSpc>
              <a:buNone/>
            </a:pPr>
            <a:r>
              <a:rPr lang="en-US" sz="1200" b="1" dirty="0">
                <a:solidFill>
                  <a:srgbClr val="1A2430"/>
                </a:solidFill>
                <a:latin typeface="Calibri" pitchFamily="34" charset="0"/>
                <a:ea typeface="Calibri" pitchFamily="34" charset="-122"/>
                <a:cs typeface="Calibri" pitchFamily="34" charset="-120"/>
              </a:rPr>
              <a:t>May 2026: all three crossed $1tn market value — combined &gt;$4tn, ~16× a decade ago. </a:t>
            </a:r>
            <a:pPr indent="0" marL="0">
              <a:lnSpc>
                <a:spcPct val="112000"/>
              </a:lnSpc>
              <a:buNone/>
            </a:pPr>
            <a:r>
              <a:rPr lang="en-US" sz="1200" dirty="0">
                <a:solidFill>
                  <a:srgbClr val="5A6B7D"/>
                </a:solidFill>
                <a:latin typeface="Calibri" pitchFamily="34" charset="0"/>
                <a:ea typeface="Calibri" pitchFamily="34" charset="-122"/>
                <a:cs typeface="Calibri" pitchFamily="34" charset="-120"/>
              </a:rPr>
              <a:t>HBM changed memory's psychology: sold out a year ahead, allocated like a scarce resource, priced like luxury. Open question: does the price survive all three finishing capacity expansions at once? Memory cycles have broken hearts before.</a:t>
            </a:r>
            <a:endParaRPr lang="en-US" sz="1200" dirty="0"/>
          </a:p>
        </p:txBody>
      </p:sp>
      <p:sp>
        <p:nvSpPr>
          <p:cNvPr id="17" name="Text 14"/>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7 · STORAGE</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The warehouse: a dying industry resurrected</a:t>
            </a:r>
            <a:endParaRPr lang="en-US" sz="3000" dirty="0"/>
          </a:p>
        </p:txBody>
      </p:sp>
      <p:sp>
        <p:nvSpPr>
          <p:cNvPr id="4" name="Text 2"/>
          <p:cNvSpPr txBox="1"/>
          <p:nvPr/>
        </p:nvSpPr>
        <p:spPr>
          <a:xfrm>
            <a:off x="502920" y="1645920"/>
            <a:ext cx="11155680" cy="365760"/>
          </a:xfrm>
          <a:prstGeom prst="rect">
            <a:avLst/>
          </a:prstGeom>
          <a:noFill/>
          <a:ln/>
        </p:spPr>
        <p:txBody>
          <a:bodyPr wrap="square" lIns="0" tIns="0" rIns="0" bIns="0" rtlCol="0" anchor="ctr"/>
          <a:lstStyle/>
          <a:p>
            <a:pPr indent="0" marL="0">
              <a:buNone/>
            </a:pPr>
            <a:r>
              <a:rPr lang="en-US" sz="1400" b="1" dirty="0">
                <a:solidFill>
                  <a:srgbClr val="1A2430"/>
                </a:solidFill>
                <a:latin typeface="Calibri" pitchFamily="34" charset="0"/>
                <a:ea typeface="Calibri" pitchFamily="34" charset="-122"/>
                <a:cs typeface="Calibri" pitchFamily="34" charset="-120"/>
              </a:rPr>
              <a:t>The hierarchy in one line: the closer to the chip, the faster and pricier.</a:t>
            </a:r>
            <a:endParaRPr lang="en-US" sz="1400" dirty="0"/>
          </a:p>
        </p:txBody>
      </p:sp>
      <p:sp>
        <p:nvSpPr>
          <p:cNvPr id="5" name="Shape 3"/>
          <p:cNvSpPr/>
          <p:nvPr/>
        </p:nvSpPr>
        <p:spPr>
          <a:xfrm>
            <a:off x="502920" y="2148840"/>
            <a:ext cx="2157984" cy="777240"/>
          </a:xfrm>
          <a:prstGeom prst="roundRect">
            <a:avLst>
              <a:gd name="adj" fmla="val 5882"/>
            </a:avLst>
          </a:prstGeom>
          <a:solidFill>
            <a:srgbClr val="13202F"/>
          </a:solidFill>
          <a:ln/>
        </p:spPr>
      </p:sp>
      <p:sp>
        <p:nvSpPr>
          <p:cNvPr id="6" name="Text 4"/>
          <p:cNvSpPr txBox="1"/>
          <p:nvPr/>
        </p:nvSpPr>
        <p:spPr>
          <a:xfrm>
            <a:off x="576072" y="2148840"/>
            <a:ext cx="2011680"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Cache (on chip)</a:t>
            </a:r>
            <a:endParaRPr lang="en-US" sz="1050" dirty="0"/>
          </a:p>
        </p:txBody>
      </p:sp>
      <p:sp>
        <p:nvSpPr>
          <p:cNvPr id="7" name="Shape 5"/>
          <p:cNvSpPr/>
          <p:nvPr/>
        </p:nvSpPr>
        <p:spPr>
          <a:xfrm>
            <a:off x="2743200" y="2148840"/>
            <a:ext cx="2157984" cy="777240"/>
          </a:xfrm>
          <a:prstGeom prst="roundRect">
            <a:avLst>
              <a:gd name="adj" fmla="val 5882"/>
            </a:avLst>
          </a:prstGeom>
          <a:solidFill>
            <a:srgbClr val="1C2E42"/>
          </a:solidFill>
          <a:ln/>
        </p:spPr>
      </p:sp>
      <p:sp>
        <p:nvSpPr>
          <p:cNvPr id="8" name="Text 6"/>
          <p:cNvSpPr txBox="1"/>
          <p:nvPr/>
        </p:nvSpPr>
        <p:spPr>
          <a:xfrm>
            <a:off x="2816352" y="2148840"/>
            <a:ext cx="2011680"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HBM (beside chip)</a:t>
            </a:r>
            <a:endParaRPr lang="en-US" sz="1050" dirty="0"/>
          </a:p>
        </p:txBody>
      </p:sp>
      <p:sp>
        <p:nvSpPr>
          <p:cNvPr id="9" name="Shape 7"/>
          <p:cNvSpPr/>
          <p:nvPr/>
        </p:nvSpPr>
        <p:spPr>
          <a:xfrm>
            <a:off x="4983480" y="2148840"/>
            <a:ext cx="2157984" cy="777240"/>
          </a:xfrm>
          <a:prstGeom prst="roundRect">
            <a:avLst>
              <a:gd name="adj" fmla="val 5882"/>
            </a:avLst>
          </a:prstGeom>
          <a:solidFill>
            <a:srgbClr val="31465C"/>
          </a:solidFill>
          <a:ln/>
        </p:spPr>
      </p:sp>
      <p:sp>
        <p:nvSpPr>
          <p:cNvPr id="10" name="Text 8"/>
          <p:cNvSpPr txBox="1"/>
          <p:nvPr/>
        </p:nvSpPr>
        <p:spPr>
          <a:xfrm>
            <a:off x="5056632" y="2148840"/>
            <a:ext cx="2011680"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DRAM (motherboard)</a:t>
            </a:r>
            <a:endParaRPr lang="en-US" sz="1050" dirty="0"/>
          </a:p>
        </p:txBody>
      </p:sp>
      <p:sp>
        <p:nvSpPr>
          <p:cNvPr id="11" name="Shape 9"/>
          <p:cNvSpPr/>
          <p:nvPr/>
        </p:nvSpPr>
        <p:spPr>
          <a:xfrm>
            <a:off x="7223760" y="2148840"/>
            <a:ext cx="2157984" cy="777240"/>
          </a:xfrm>
          <a:prstGeom prst="roundRect">
            <a:avLst>
              <a:gd name="adj" fmla="val 5882"/>
            </a:avLst>
          </a:prstGeom>
          <a:solidFill>
            <a:srgbClr val="5A6B7D"/>
          </a:solidFill>
          <a:ln/>
        </p:spPr>
      </p:sp>
      <p:sp>
        <p:nvSpPr>
          <p:cNvPr id="12" name="Text 10"/>
          <p:cNvSpPr txBox="1"/>
          <p:nvPr/>
        </p:nvSpPr>
        <p:spPr>
          <a:xfrm>
            <a:off x="7296912" y="2148840"/>
            <a:ext cx="2011680"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SSD (hot data)</a:t>
            </a:r>
            <a:endParaRPr lang="en-US" sz="1050" dirty="0"/>
          </a:p>
        </p:txBody>
      </p:sp>
      <p:sp>
        <p:nvSpPr>
          <p:cNvPr id="13" name="Shape 11"/>
          <p:cNvSpPr/>
          <p:nvPr/>
        </p:nvSpPr>
        <p:spPr>
          <a:xfrm>
            <a:off x="9464040" y="2148840"/>
            <a:ext cx="2157984" cy="777240"/>
          </a:xfrm>
          <a:prstGeom prst="roundRect">
            <a:avLst>
              <a:gd name="adj" fmla="val 5882"/>
            </a:avLst>
          </a:prstGeom>
          <a:solidFill>
            <a:srgbClr val="8C9BAB"/>
          </a:solidFill>
          <a:ln/>
        </p:spPr>
      </p:sp>
      <p:sp>
        <p:nvSpPr>
          <p:cNvPr id="14" name="Text 12"/>
          <p:cNvSpPr txBox="1"/>
          <p:nvPr/>
        </p:nvSpPr>
        <p:spPr>
          <a:xfrm>
            <a:off x="9537192" y="2148840"/>
            <a:ext cx="2011680" cy="7772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Hard drives (cold bulk)</a:t>
            </a:r>
            <a:endParaRPr lang="en-US" sz="1050" dirty="0"/>
          </a:p>
        </p:txBody>
      </p:sp>
      <p:sp>
        <p:nvSpPr>
          <p:cNvPr id="15" name="Text 13"/>
          <p:cNvSpPr txBox="1"/>
          <p:nvPr/>
        </p:nvSpPr>
        <p:spPr>
          <a:xfrm>
            <a:off x="502920" y="2999232"/>
            <a:ext cx="11155680" cy="274320"/>
          </a:xfrm>
          <a:prstGeom prst="rect">
            <a:avLst/>
          </a:prstGeom>
          <a:noFill/>
          <a:ln/>
        </p:spPr>
        <p:txBody>
          <a:bodyPr wrap="square" lIns="0" tIns="0" rIns="0" bIns="0" rtlCol="0" anchor="ctr"/>
          <a:lstStyle/>
          <a:p>
            <a:pPr algn="ctr" indent="0" marL="0">
              <a:buNone/>
            </a:pPr>
            <a:r>
              <a:rPr lang="en-US" sz="1000" i="1" dirty="0">
                <a:solidFill>
                  <a:srgbClr val="8C9BAB"/>
                </a:solidFill>
                <a:latin typeface="Calibri" pitchFamily="34" charset="0"/>
                <a:ea typeface="Calibri" pitchFamily="34" charset="-122"/>
                <a:cs typeface="Calibri" pitchFamily="34" charset="-120"/>
              </a:rPr>
              <a:t>FAST &amp; EXPENSIVE  →  SLOW &amp; CHEAP</a:t>
            </a:r>
            <a:endParaRPr lang="en-US" sz="1000" dirty="0"/>
          </a:p>
        </p:txBody>
      </p:sp>
      <p:sp>
        <p:nvSpPr>
          <p:cNvPr id="16" name="Text 14"/>
          <p:cNvSpPr txBox="1"/>
          <p:nvPr/>
        </p:nvSpPr>
        <p:spPr>
          <a:xfrm>
            <a:off x="502920" y="3429000"/>
            <a:ext cx="11155680" cy="822960"/>
          </a:xfrm>
          <a:prstGeom prst="rect">
            <a:avLst/>
          </a:prstGeom>
          <a:noFill/>
          <a:ln/>
        </p:spPr>
        <p:txBody>
          <a:bodyPr wrap="square" lIns="0" tIns="0" rIns="0" bIns="0" rtlCol="0" anchor="ctr"/>
          <a:lstStyle/>
          <a:p>
            <a:pPr indent="0" marL="0">
              <a:lnSpc>
                <a:spcPct val="115000"/>
              </a:lnSpc>
              <a:buNone/>
            </a:pPr>
            <a:r>
              <a:rPr lang="en-US" sz="1350" b="1" dirty="0">
                <a:solidFill>
                  <a:srgbClr val="1A2430"/>
                </a:solidFill>
                <a:latin typeface="Calibri" pitchFamily="34" charset="0"/>
                <a:ea typeface="Calibri" pitchFamily="34" charset="-122"/>
                <a:cs typeface="Calibri" pitchFamily="34" charset="-120"/>
              </a:rPr>
              <a:t>AI is a data hoarder: </a:t>
            </a:r>
            <a:pPr indent="0" marL="0">
              <a:lnSpc>
                <a:spcPct val="115000"/>
              </a:lnSpc>
              <a:buNone/>
            </a:pPr>
            <a:r>
              <a:rPr lang="en-US" sz="1350" dirty="0">
                <a:solidFill>
                  <a:srgbClr val="5A6B7D"/>
                </a:solidFill>
                <a:latin typeface="Calibri" pitchFamily="34" charset="0"/>
                <a:ea typeface="Calibri" pitchFamily="34" charset="-122"/>
                <a:cs typeface="Calibri" pitchFamily="34" charset="-120"/>
              </a:rPr>
              <a:t>training datasets, checkpoints every few hours — and the part nobody predicted: the OUTPUT. Every conversation, log, and generated image, retained forever. Seagate's CEO calls it the “inference inflection”: AI doesn't just consume data, it produces it endlessly.</a:t>
            </a:r>
            <a:endParaRPr lang="en-US" sz="1350" dirty="0"/>
          </a:p>
        </p:txBody>
      </p:sp>
      <p:sp>
        <p:nvSpPr>
          <p:cNvPr id="17" name="Shape 15"/>
          <p:cNvSpPr/>
          <p:nvPr/>
        </p:nvSpPr>
        <p:spPr>
          <a:xfrm>
            <a:off x="502920" y="4434840"/>
            <a:ext cx="5486400" cy="1463040"/>
          </a:xfrm>
          <a:prstGeom prst="roundRect">
            <a:avLst>
              <a:gd name="adj" fmla="val 3750"/>
            </a:avLst>
          </a:prstGeom>
          <a:solidFill>
            <a:srgbClr val="D8E6F2"/>
          </a:solidFill>
          <a:ln w="9525">
            <a:solidFill>
              <a:srgbClr val="DDE5EC"/>
            </a:solidFill>
            <a:prstDash val="solid"/>
          </a:ln>
        </p:spPr>
      </p:sp>
      <p:sp>
        <p:nvSpPr>
          <p:cNvPr id="18" name="Text 16"/>
          <p:cNvSpPr txBox="1"/>
          <p:nvPr/>
        </p:nvSpPr>
        <p:spPr>
          <a:xfrm>
            <a:off x="649224" y="452628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Seagate · Western Digital</a:t>
            </a:r>
            <a:pPr indent="0" marL="0">
              <a:buNone/>
            </a:pPr>
            <a:r>
              <a:rPr lang="en-US" sz="1000" i="1" dirty="0">
                <a:solidFill>
                  <a:srgbClr val="B87A18"/>
                </a:solidFill>
                <a:latin typeface="Calibri" pitchFamily="34" charset="0"/>
                <a:ea typeface="Calibri" pitchFamily="34" charset="-122"/>
                <a:cs typeface="Calibri" pitchFamily="34" charset="-120"/>
              </a:rPr>
              <a:t>   a literal duopoly</a:t>
            </a:r>
            <a:endParaRPr lang="en-US" sz="1350" dirty="0"/>
          </a:p>
        </p:txBody>
      </p:sp>
      <p:sp>
        <p:nvSpPr>
          <p:cNvPr id="19" name="Text 17"/>
          <p:cNvSpPr txBox="1"/>
          <p:nvPr/>
        </p:nvSpPr>
        <p:spPr>
          <a:xfrm>
            <a:off x="649224" y="4800600"/>
            <a:ext cx="5193792" cy="10058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The spinning hard drive — declared dead a decade ago — is still unbeatable per terabyte for cold data. Both makers sold out their entire production into 2027. WD ships 89% of revenue to cloud customers; one of the S&amp;P 500's top performers. Consumer hard drive prices +50% because AI ate the supply.</a:t>
            </a:r>
            <a:endParaRPr lang="en-US" sz="1050" dirty="0"/>
          </a:p>
        </p:txBody>
      </p:sp>
      <p:sp>
        <p:nvSpPr>
          <p:cNvPr id="20" name="Shape 18"/>
          <p:cNvSpPr/>
          <p:nvPr/>
        </p:nvSpPr>
        <p:spPr>
          <a:xfrm>
            <a:off x="6172200" y="4434840"/>
            <a:ext cx="5486400" cy="1463040"/>
          </a:xfrm>
          <a:prstGeom prst="roundRect">
            <a:avLst>
              <a:gd name="adj" fmla="val 3750"/>
            </a:avLst>
          </a:prstGeom>
          <a:solidFill>
            <a:srgbClr val="F4F7FA"/>
          </a:solidFill>
          <a:ln w="9525">
            <a:solidFill>
              <a:srgbClr val="DDE5EC"/>
            </a:solidFill>
            <a:prstDash val="solid"/>
          </a:ln>
        </p:spPr>
      </p:sp>
      <p:sp>
        <p:nvSpPr>
          <p:cNvPr id="21" name="Text 19"/>
          <p:cNvSpPr txBox="1"/>
          <p:nvPr/>
        </p:nvSpPr>
        <p:spPr>
          <a:xfrm>
            <a:off x="6318504" y="4526280"/>
            <a:ext cx="519379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Kioxia · Solidigm</a:t>
            </a:r>
            <a:pPr indent="0" marL="0">
              <a:buNone/>
            </a:pPr>
            <a:r>
              <a:rPr lang="en-US" sz="1000" i="1" dirty="0">
                <a:solidFill>
                  <a:srgbClr val="B87A18"/>
                </a:solidFill>
                <a:latin typeface="Calibri" pitchFamily="34" charset="0"/>
                <a:ea typeface="Calibri" pitchFamily="34" charset="-122"/>
                <a:cs typeface="Calibri" pitchFamily="34" charset="-120"/>
              </a:rPr>
              <a:t>   the flash players</a:t>
            </a:r>
            <a:endParaRPr lang="en-US" sz="1350" dirty="0"/>
          </a:p>
        </p:txBody>
      </p:sp>
      <p:sp>
        <p:nvSpPr>
          <p:cNvPr id="22" name="Text 20"/>
          <p:cNvSpPr txBox="1"/>
          <p:nvPr/>
        </p:nvSpPr>
        <p:spPr>
          <a:xfrm>
            <a:off x="6318504" y="4800600"/>
            <a:ext cx="5193792" cy="10058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The SSD tier for hot data — fed by the same hoarding dynamics.</a:t>
            </a:r>
            <a:endParaRPr lang="en-US" sz="1050" dirty="0"/>
          </a:p>
        </p:txBody>
      </p:sp>
      <p:sp>
        <p:nvSpPr>
          <p:cNvPr id="24" name="Text 21"/>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8 · SOFTWARE</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The moat you can't photograph</a:t>
            </a:r>
            <a:endParaRPr lang="en-US" sz="3000" dirty="0"/>
          </a:p>
        </p:txBody>
      </p:sp>
      <p:sp>
        <p:nvSpPr>
          <p:cNvPr id="4" name="Shape 2"/>
          <p:cNvSpPr/>
          <p:nvPr/>
        </p:nvSpPr>
        <p:spPr>
          <a:xfrm>
            <a:off x="502920" y="1600200"/>
            <a:ext cx="5440680" cy="2880360"/>
          </a:xfrm>
          <a:prstGeom prst="roundRect">
            <a:avLst>
              <a:gd name="adj" fmla="val 2540"/>
            </a:avLst>
          </a:prstGeom>
          <a:solidFill>
            <a:srgbClr val="13202F"/>
          </a:solidFill>
          <a:ln/>
        </p:spPr>
      </p:sp>
      <p:sp>
        <p:nvSpPr>
          <p:cNvPr id="5" name="Text 3"/>
          <p:cNvSpPr txBox="1"/>
          <p:nvPr/>
        </p:nvSpPr>
        <p:spPr>
          <a:xfrm>
            <a:off x="777240" y="1783080"/>
            <a:ext cx="4937760" cy="320040"/>
          </a:xfrm>
          <a:prstGeom prst="rect">
            <a:avLst/>
          </a:prstGeom>
          <a:noFill/>
          <a:ln/>
        </p:spPr>
        <p:txBody>
          <a:bodyPr wrap="square" lIns="0" tIns="0" rIns="0" bIns="0" rtlCol="0" anchor="ctr"/>
          <a:lstStyle/>
          <a:p>
            <a:pPr indent="0" marL="0">
              <a:buNone/>
            </a:pPr>
            <a:r>
              <a:rPr lang="en-US" sz="1250" b="1" dirty="0">
                <a:solidFill>
                  <a:srgbClr val="F0A431"/>
                </a:solidFill>
                <a:latin typeface="Calibri" pitchFamily="34" charset="0"/>
                <a:ea typeface="Calibri" pitchFamily="34" charset="-122"/>
                <a:cs typeface="Calibri" pitchFamily="34" charset="-120"/>
              </a:rPr>
              <a:t>STORY 1 · CUDA — THE 20-YEAR TRAP</a:t>
            </a:r>
            <a:endParaRPr lang="en-US" sz="1250" dirty="0"/>
          </a:p>
        </p:txBody>
      </p:sp>
      <p:sp>
        <p:nvSpPr>
          <p:cNvPr id="6" name="Text 4"/>
          <p:cNvSpPr txBox="1"/>
          <p:nvPr/>
        </p:nvSpPr>
        <p:spPr>
          <a:xfrm>
            <a:off x="777240" y="2194560"/>
            <a:ext cx="4937760" cy="1828800"/>
          </a:xfrm>
          <a:prstGeom prst="rect">
            <a:avLst/>
          </a:prstGeom>
          <a:noFill/>
          <a:ln/>
        </p:spPr>
        <p:txBody>
          <a:bodyPr wrap="square" lIns="0" tIns="0" rIns="0" bIns="0" rtlCol="0" anchor="t"/>
          <a:lstStyle/>
          <a:p>
            <a:pPr indent="0" marL="0">
              <a:lnSpc>
                <a:spcPct val="112000"/>
              </a:lnSpc>
              <a:buNone/>
            </a:pPr>
            <a:r>
              <a:rPr lang="en-US" sz="1080" dirty="0">
                <a:solidFill>
                  <a:srgbClr val="D8E6F2"/>
                </a:solidFill>
                <a:latin typeface="Calibri" pitchFamily="34" charset="0"/>
                <a:ea typeface="Calibri" pitchFamily="34" charset="-122"/>
                <a:cs typeface="Calibri" pitchFamily="34" charset="-120"/>
              </a:rPr>
              <a:t>Nvidia spent billions on a platform letting scientists use gaming chips for general math. For a decade it looked like an expensive hobby. Then deep learning arrived — and every AI researcher learned to build on CUDA because it was the only mature option. Now: millions of developers, thousands of libraries, every framework optimised for it first. When AMD ships a better chip, the customer isn't comparing chips — they're comparing chips plus retraining their whole engineering org with a $100m run on the line.</a:t>
            </a:r>
            <a:endParaRPr lang="en-US" sz="1080" dirty="0"/>
          </a:p>
        </p:txBody>
      </p:sp>
      <p:sp>
        <p:nvSpPr>
          <p:cNvPr id="7" name="Text 5"/>
          <p:cNvSpPr txBox="1"/>
          <p:nvPr/>
        </p:nvSpPr>
        <p:spPr>
          <a:xfrm>
            <a:off x="777240" y="4041648"/>
            <a:ext cx="4937760" cy="411480"/>
          </a:xfrm>
          <a:prstGeom prst="rect">
            <a:avLst/>
          </a:prstGeom>
          <a:noFill/>
          <a:ln/>
        </p:spPr>
        <p:txBody>
          <a:bodyPr wrap="square" lIns="0" tIns="0" rIns="0" bIns="0" rtlCol="0" anchor="ctr"/>
          <a:lstStyle/>
          <a:p>
            <a:pPr indent="0" marL="0">
              <a:buNone/>
            </a:pPr>
            <a:r>
              <a:rPr lang="en-US" sz="1050" b="1" i="1" dirty="0">
                <a:solidFill>
                  <a:srgbClr val="F0A431"/>
                </a:solidFill>
                <a:latin typeface="Calibri" pitchFamily="34" charset="0"/>
                <a:ea typeface="Calibri" pitchFamily="34" charset="-122"/>
                <a:cs typeface="Calibri" pitchFamily="34" charset="-120"/>
              </a:rPr>
              <a:t>“The moat was never the silicon. The moat is the muscle memory of a million engineers.”</a:t>
            </a:r>
            <a:endParaRPr lang="en-US" sz="1050" dirty="0"/>
          </a:p>
        </p:txBody>
      </p:sp>
      <p:sp>
        <p:nvSpPr>
          <p:cNvPr id="8" name="Shape 6"/>
          <p:cNvSpPr/>
          <p:nvPr/>
        </p:nvSpPr>
        <p:spPr>
          <a:xfrm>
            <a:off x="6217920" y="1600200"/>
            <a:ext cx="5440680" cy="2880360"/>
          </a:xfrm>
          <a:prstGeom prst="roundRect">
            <a:avLst>
              <a:gd name="adj" fmla="val 2540"/>
            </a:avLst>
          </a:prstGeom>
          <a:solidFill>
            <a:srgbClr val="F4F7FA"/>
          </a:solidFill>
          <a:ln w="9525">
            <a:solidFill>
              <a:srgbClr val="DDE5EC"/>
            </a:solidFill>
            <a:prstDash val="solid"/>
          </a:ln>
        </p:spPr>
      </p:sp>
      <p:sp>
        <p:nvSpPr>
          <p:cNvPr id="9" name="Text 7"/>
          <p:cNvSpPr txBox="1"/>
          <p:nvPr/>
        </p:nvSpPr>
        <p:spPr>
          <a:xfrm>
            <a:off x="6492240" y="1783080"/>
            <a:ext cx="4937760" cy="320040"/>
          </a:xfrm>
          <a:prstGeom prst="rect">
            <a:avLst/>
          </a:prstGeom>
          <a:noFill/>
          <a:ln/>
        </p:spPr>
        <p:txBody>
          <a:bodyPr wrap="square" lIns="0" tIns="0" rIns="0" bIns="0" rtlCol="0" anchor="ctr"/>
          <a:lstStyle/>
          <a:p>
            <a:pPr indent="0" marL="0">
              <a:buNone/>
            </a:pPr>
            <a:r>
              <a:rPr lang="en-US" sz="1250" b="1" dirty="0">
                <a:solidFill>
                  <a:srgbClr val="13202F"/>
                </a:solidFill>
                <a:latin typeface="Calibri" pitchFamily="34" charset="0"/>
                <a:ea typeface="Calibri" pitchFamily="34" charset="-122"/>
                <a:cs typeface="Calibri" pitchFamily="34" charset="-120"/>
              </a:rPr>
              <a:t>STORY 2 · WHY QUERIES COST CENTS</a:t>
            </a:r>
            <a:endParaRPr lang="en-US" sz="1250" dirty="0"/>
          </a:p>
        </p:txBody>
      </p:sp>
      <p:sp>
        <p:nvSpPr>
          <p:cNvPr id="10" name="Text 8"/>
          <p:cNvSpPr txBox="1"/>
          <p:nvPr/>
        </p:nvSpPr>
        <p:spPr>
          <a:xfrm>
            <a:off x="6492240" y="2194560"/>
            <a:ext cx="4937760" cy="2194560"/>
          </a:xfrm>
          <a:prstGeom prst="rect">
            <a:avLst/>
          </a:prstGeom>
          <a:noFill/>
          <a:ln/>
        </p:spPr>
        <p:txBody>
          <a:bodyPr wrap="square" lIns="0" tIns="0" rIns="0" bIns="0" rtlCol="0" anchor="t"/>
          <a:lstStyle/>
          <a:p>
            <a:pPr indent="0" marL="0">
              <a:lnSpc>
                <a:spcPct val="112000"/>
              </a:lnSpc>
              <a:buNone/>
            </a:pPr>
            <a:r>
              <a:rPr lang="en-US" sz="1080" b="1" dirty="0">
                <a:solidFill>
                  <a:srgbClr val="1A2430"/>
                </a:solidFill>
                <a:latin typeface="Calibri" pitchFamily="34" charset="0"/>
                <a:ea typeface="Calibri" pitchFamily="34" charset="-122"/>
                <a:cs typeface="Calibri" pitchFamily="34" charset="-120"/>
              </a:rPr>
              <a:t>Serving engines (vLLM, TensorRT) do three tricks:
</a:t>
            </a:r>
            <a:pPr indent="0" marL="0">
              <a:lnSpc>
                <a:spcPct val="112000"/>
              </a:lnSpc>
              <a:buNone/>
            </a:pPr>
            <a:r>
              <a:rPr lang="en-US" sz="1080" dirty="0">
                <a:solidFill>
                  <a:srgbClr val="5A6B7D"/>
                </a:solidFill>
                <a:latin typeface="Calibri" pitchFamily="34" charset="0"/>
                <a:ea typeface="Calibri" pitchFamily="34" charset="-122"/>
                <a:cs typeface="Calibri" pitchFamily="34" charset="-120"/>
              </a:rPr>
              <a:t>Batching — hundreds of users through the chip at once.  Caching — reuse the KV working memory instead of recomputing the conversation for every word.  Quantization — round the model's numbers to lower precision (a slightly compressed photo: near-identical quality, fraction of the cost).
</a:t>
            </a:r>
            <a:pPr indent="0" marL="0">
              <a:lnSpc>
                <a:spcPct val="112000"/>
              </a:lnSpc>
              <a:buNone/>
            </a:pPr>
            <a:r>
              <a:rPr lang="en-US" sz="1080" b="1" dirty="0">
                <a:solidFill>
                  <a:srgbClr val="1A2430"/>
                </a:solidFill>
                <a:latin typeface="Calibri" pitchFamily="34" charset="0"/>
                <a:ea typeface="Calibri" pitchFamily="34" charset="-122"/>
                <a:cs typeface="Calibri" pitchFamily="34" charset="-120"/>
              </a:rPr>
              <a:t>Together: 3–10× cost reduction from software alone. When labs cut API prices 80% in a year, it's mostly this layer — not new chips. Token manufacturing costs are collapsing on a curve. Remember that for the finale — it cuts both ways.</a:t>
            </a:r>
            <a:endParaRPr lang="en-US" sz="1080" dirty="0"/>
          </a:p>
        </p:txBody>
      </p:sp>
      <p:sp>
        <p:nvSpPr>
          <p:cNvPr id="11" name="Text 9"/>
          <p:cNvSpPr txBox="1"/>
          <p:nvPr/>
        </p:nvSpPr>
        <p:spPr>
          <a:xfrm>
            <a:off x="502920" y="4709160"/>
            <a:ext cx="11155680" cy="1188720"/>
          </a:xfrm>
          <a:prstGeom prst="rect">
            <a:avLst/>
          </a:prstGeom>
          <a:noFill/>
          <a:ln/>
        </p:spPr>
        <p:txBody>
          <a:bodyPr wrap="square" lIns="0" tIns="0" rIns="0" bIns="0" rtlCol="0" anchor="ctr"/>
          <a:lstStyle/>
          <a:p>
            <a:pPr indent="0" marL="0">
              <a:lnSpc>
                <a:spcPct val="115000"/>
              </a:lnSpc>
              <a:buNone/>
            </a:pPr>
            <a:r>
              <a:rPr lang="en-US" sz="1250" b="1" dirty="0">
                <a:solidFill>
                  <a:srgbClr val="1A2430"/>
                </a:solidFill>
                <a:latin typeface="Calibri" pitchFamily="34" charset="0"/>
                <a:ea typeface="Calibri" pitchFamily="34" charset="-122"/>
                <a:cs typeface="Calibri" pitchFamily="34" charset="-120"/>
              </a:rPr>
              <a:t>The rest of the stack, bottom-up: </a:t>
            </a:r>
            <a:pPr indent="0" marL="0">
              <a:lnSpc>
                <a:spcPct val="115000"/>
              </a:lnSpc>
              <a:buNone/>
            </a:pPr>
            <a:r>
              <a:rPr lang="en-US" sz="1250" dirty="0">
                <a:solidFill>
                  <a:srgbClr val="5A6B7D"/>
                </a:solidFill>
                <a:latin typeface="Calibri" pitchFamily="34" charset="0"/>
                <a:ea typeface="Calibri" pitchFamily="34" charset="-122"/>
                <a:cs typeface="Calibri" pitchFamily="34" charset="-120"/>
              </a:rPr>
              <a:t>Linux (Red Hat, Canonical) → Kubernetes, the invisible foreman scheduling work across thousands of machines → serving layer → models. Enterprise add-on: RAG — the model is a brilliant writer with a fixed education; RAG hands it your company's documents at question time via vector databases (Pinecone) and data platforms (Databricks, Snowflake). The librarian and the writer, working together.</a:t>
            </a:r>
            <a:endParaRPr lang="en-US" sz="1250" dirty="0"/>
          </a:p>
        </p:txBody>
      </p:sp>
      <p:sp>
        <p:nvSpPr>
          <p:cNvPr id="13" name="Text 10"/>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B87A18"/>
                </a:solidFill>
                <a:latin typeface="Calibri" pitchFamily="34" charset="0"/>
                <a:ea typeface="Calibri" pitchFamily="34" charset="-122"/>
                <a:cs typeface="Calibri" pitchFamily="34" charset="-120"/>
              </a:rPr>
              <a:t>ACT 9 · FOLLOW THE MONEY</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1A2430"/>
                </a:solidFill>
                <a:latin typeface="Cambria" pitchFamily="34" charset="0"/>
                <a:ea typeface="Cambria" pitchFamily="34" charset="-122"/>
                <a:cs typeface="Cambria" pitchFamily="34" charset="-120"/>
              </a:rPr>
              <a:t>The whole board: who spends, what it costs</a:t>
            </a:r>
            <a:endParaRPr lang="en-US" sz="3000" dirty="0"/>
          </a:p>
        </p:txBody>
      </p:sp>
      <p:sp>
        <p:nvSpPr>
          <p:cNvPr id="4" name="Shape 2"/>
          <p:cNvSpPr/>
          <p:nvPr/>
        </p:nvSpPr>
        <p:spPr>
          <a:xfrm>
            <a:off x="502920" y="1600200"/>
            <a:ext cx="3611880" cy="1920240"/>
          </a:xfrm>
          <a:prstGeom prst="roundRect">
            <a:avLst>
              <a:gd name="adj" fmla="val 2857"/>
            </a:avLst>
          </a:prstGeom>
          <a:solidFill>
            <a:srgbClr val="F4F7FA"/>
          </a:solidFill>
          <a:ln w="9525">
            <a:solidFill>
              <a:srgbClr val="DDE5EC"/>
            </a:solidFill>
            <a:prstDash val="solid"/>
          </a:ln>
        </p:spPr>
      </p:sp>
      <p:sp>
        <p:nvSpPr>
          <p:cNvPr id="5" name="Text 3"/>
          <p:cNvSpPr txBox="1"/>
          <p:nvPr/>
        </p:nvSpPr>
        <p:spPr>
          <a:xfrm>
            <a:off x="649224" y="1691640"/>
            <a:ext cx="331927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The hyperscalers</a:t>
            </a:r>
            <a:pPr indent="0" marL="0">
              <a:buNone/>
            </a:pPr>
            <a:r>
              <a:rPr lang="en-US" sz="1000" i="1" dirty="0">
                <a:solidFill>
                  <a:srgbClr val="B87A18"/>
                </a:solidFill>
                <a:latin typeface="Calibri" pitchFamily="34" charset="0"/>
                <a:ea typeface="Calibri" pitchFamily="34" charset="-122"/>
                <a:cs typeface="Calibri" pitchFamily="34" charset="-120"/>
              </a:rPr>
              <a:t>   tier 1 demand</a:t>
            </a:r>
            <a:endParaRPr lang="en-US" sz="1350" dirty="0"/>
          </a:p>
        </p:txBody>
      </p:sp>
      <p:sp>
        <p:nvSpPr>
          <p:cNvPr id="6" name="Text 4"/>
          <p:cNvSpPr txBox="1"/>
          <p:nvPr/>
        </p:nvSpPr>
        <p:spPr>
          <a:xfrm>
            <a:off x="649224" y="1965960"/>
            <a:ext cx="3319272" cy="14630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Microsoft, Amazon, Google, Meta, Oracle — ~$725bn combined this year.</a:t>
            </a:r>
            <a:endParaRPr lang="en-US" sz="1050" dirty="0"/>
          </a:p>
        </p:txBody>
      </p:sp>
      <p:sp>
        <p:nvSpPr>
          <p:cNvPr id="7" name="Shape 5"/>
          <p:cNvSpPr/>
          <p:nvPr/>
        </p:nvSpPr>
        <p:spPr>
          <a:xfrm>
            <a:off x="4297680" y="1600200"/>
            <a:ext cx="3611880" cy="1920240"/>
          </a:xfrm>
          <a:prstGeom prst="roundRect">
            <a:avLst>
              <a:gd name="adj" fmla="val 2857"/>
            </a:avLst>
          </a:prstGeom>
          <a:solidFill>
            <a:srgbClr val="F4F7FA"/>
          </a:solidFill>
          <a:ln w="9525">
            <a:solidFill>
              <a:srgbClr val="DDE5EC"/>
            </a:solidFill>
            <a:prstDash val="solid"/>
          </a:ln>
        </p:spPr>
      </p:sp>
      <p:sp>
        <p:nvSpPr>
          <p:cNvPr id="8" name="Text 6"/>
          <p:cNvSpPr txBox="1"/>
          <p:nvPr/>
        </p:nvSpPr>
        <p:spPr>
          <a:xfrm>
            <a:off x="4443984" y="1691640"/>
            <a:ext cx="331927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The neoclouds</a:t>
            </a:r>
            <a:pPr indent="0" marL="0">
              <a:buNone/>
            </a:pPr>
            <a:r>
              <a:rPr lang="en-US" sz="1000" i="1" dirty="0">
                <a:solidFill>
                  <a:srgbClr val="B87A18"/>
                </a:solidFill>
                <a:latin typeface="Calibri" pitchFamily="34" charset="0"/>
                <a:ea typeface="Calibri" pitchFamily="34" charset="-122"/>
                <a:cs typeface="Calibri" pitchFamily="34" charset="-120"/>
              </a:rPr>
              <a:t>   GPU landlords</a:t>
            </a:r>
            <a:endParaRPr lang="en-US" sz="1350" dirty="0"/>
          </a:p>
        </p:txBody>
      </p:sp>
      <p:sp>
        <p:nvSpPr>
          <p:cNvPr id="9" name="Text 7"/>
          <p:cNvSpPr txBox="1"/>
          <p:nvPr/>
        </p:nvSpPr>
        <p:spPr>
          <a:xfrm>
            <a:off x="4443984" y="1965960"/>
            <a:ext cx="3319272" cy="14630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CoreWeave, Nebius, Lambda, Crusoe — specialised GPU rental. Meta committed ~$21bn to CoreWeave and reportedly ~$27bn to Nebius — conveniently moving DC spend off Meta's balance sheet into someone else's debt.</a:t>
            </a:r>
            <a:endParaRPr lang="en-US" sz="1050" dirty="0"/>
          </a:p>
        </p:txBody>
      </p:sp>
      <p:sp>
        <p:nvSpPr>
          <p:cNvPr id="10" name="Shape 8"/>
          <p:cNvSpPr/>
          <p:nvPr/>
        </p:nvSpPr>
        <p:spPr>
          <a:xfrm>
            <a:off x="8046720" y="1600200"/>
            <a:ext cx="3611880" cy="1920240"/>
          </a:xfrm>
          <a:prstGeom prst="roundRect">
            <a:avLst>
              <a:gd name="adj" fmla="val 2857"/>
            </a:avLst>
          </a:prstGeom>
          <a:solidFill>
            <a:srgbClr val="F4F7FA"/>
          </a:solidFill>
          <a:ln w="9525">
            <a:solidFill>
              <a:srgbClr val="DDE5EC"/>
            </a:solidFill>
            <a:prstDash val="solid"/>
          </a:ln>
        </p:spPr>
      </p:sp>
      <p:sp>
        <p:nvSpPr>
          <p:cNvPr id="11" name="Text 9"/>
          <p:cNvSpPr txBox="1"/>
          <p:nvPr/>
        </p:nvSpPr>
        <p:spPr>
          <a:xfrm>
            <a:off x="8193024" y="1691640"/>
            <a:ext cx="3319272" cy="274320"/>
          </a:xfrm>
          <a:prstGeom prst="rect">
            <a:avLst/>
          </a:prstGeom>
          <a:noFill/>
          <a:ln/>
        </p:spPr>
        <p:txBody>
          <a:bodyPr wrap="square" lIns="0" tIns="0" rIns="0" bIns="0" rtlCol="0" anchor="t"/>
          <a:lstStyle/>
          <a:p>
            <a:pPr indent="0" marL="0">
              <a:buNone/>
            </a:pPr>
            <a:r>
              <a:rPr lang="en-US" sz="1350" b="1" dirty="0">
                <a:solidFill>
                  <a:srgbClr val="1A2430"/>
                </a:solidFill>
                <a:latin typeface="Calibri" pitchFamily="34" charset="0"/>
                <a:ea typeface="Calibri" pitchFamily="34" charset="-122"/>
                <a:cs typeface="Calibri" pitchFamily="34" charset="-120"/>
              </a:rPr>
              <a:t>The AI labs</a:t>
            </a:r>
            <a:pPr indent="0" marL="0">
              <a:buNone/>
            </a:pPr>
            <a:r>
              <a:rPr lang="en-US" sz="1000" i="1" dirty="0">
                <a:solidFill>
                  <a:srgbClr val="B87A18"/>
                </a:solidFill>
                <a:latin typeface="Calibri" pitchFamily="34" charset="0"/>
                <a:ea typeface="Calibri" pitchFamily="34" charset="-122"/>
                <a:cs typeface="Calibri" pitchFamily="34" charset="-120"/>
              </a:rPr>
              <a:t>   the product tier</a:t>
            </a:r>
            <a:endParaRPr lang="en-US" sz="1350" dirty="0"/>
          </a:p>
        </p:txBody>
      </p:sp>
      <p:sp>
        <p:nvSpPr>
          <p:cNvPr id="12" name="Text 10"/>
          <p:cNvSpPr txBox="1"/>
          <p:nvPr/>
        </p:nvSpPr>
        <p:spPr>
          <a:xfrm>
            <a:off x="8193024" y="1965960"/>
            <a:ext cx="3319272" cy="1463040"/>
          </a:xfrm>
          <a:prstGeom prst="rect">
            <a:avLst/>
          </a:prstGeom>
          <a:noFill/>
          <a:ln/>
        </p:spPr>
        <p:txBody>
          <a:bodyPr wrap="square" lIns="0" tIns="0" rIns="0" bIns="0" rtlCol="0" anchor="t"/>
          <a:lstStyle/>
          <a:p>
            <a:pPr indent="0" marL="0">
              <a:buNone/>
            </a:pPr>
            <a:r>
              <a:rPr lang="en-US" sz="1050" dirty="0">
                <a:solidFill>
                  <a:srgbClr val="5A6B7D"/>
                </a:solidFill>
                <a:latin typeface="Calibri" pitchFamily="34" charset="0"/>
                <a:ea typeface="Calibri" pitchFamily="34" charset="-122"/>
                <a:cs typeface="Calibri" pitchFamily="34" charset="-120"/>
              </a:rPr>
              <a:t>OpenAI ~$850bn valuation; Anthropic ~$965bn on ~$47bn annualised revenue; xAI folded into SpaceX. Both major labs filed for IPO in June — the public market is about to vote.</a:t>
            </a:r>
            <a:endParaRPr lang="en-US" sz="1050" dirty="0"/>
          </a:p>
        </p:txBody>
      </p:sp>
      <p:sp>
        <p:nvSpPr>
          <p:cNvPr id="13" name="Shape 11"/>
          <p:cNvSpPr/>
          <p:nvPr/>
        </p:nvSpPr>
        <p:spPr>
          <a:xfrm>
            <a:off x="502920" y="3703320"/>
            <a:ext cx="3611880" cy="1325880"/>
          </a:xfrm>
          <a:prstGeom prst="roundRect">
            <a:avLst>
              <a:gd name="adj" fmla="val 4828"/>
            </a:avLst>
          </a:prstGeom>
          <a:solidFill>
            <a:srgbClr val="D8E6F2"/>
          </a:solidFill>
          <a:ln/>
        </p:spPr>
      </p:sp>
      <p:sp>
        <p:nvSpPr>
          <p:cNvPr id="14" name="Text 12"/>
          <p:cNvSpPr txBox="1"/>
          <p:nvPr/>
        </p:nvSpPr>
        <p:spPr>
          <a:xfrm>
            <a:off x="667512" y="3813048"/>
            <a:ext cx="3282696" cy="689458"/>
          </a:xfrm>
          <a:prstGeom prst="rect">
            <a:avLst/>
          </a:prstGeom>
          <a:noFill/>
          <a:ln/>
        </p:spPr>
        <p:txBody>
          <a:bodyPr wrap="square" lIns="0" tIns="0" rIns="0" bIns="0" rtlCol="0" anchor="ctr"/>
          <a:lstStyle/>
          <a:p>
            <a:pPr algn="l" indent="0" marL="0">
              <a:buNone/>
            </a:pPr>
            <a:r>
              <a:rPr lang="en-US" sz="3000" b="1" dirty="0">
                <a:solidFill>
                  <a:srgbClr val="13202F"/>
                </a:solidFill>
                <a:latin typeface="Cambria" pitchFamily="34" charset="0"/>
                <a:ea typeface="Cambria" pitchFamily="34" charset="-122"/>
                <a:cs typeface="Cambria" pitchFamily="34" charset="-120"/>
              </a:rPr>
              <a:t>$35bn</a:t>
            </a:r>
            <a:endParaRPr lang="en-US" sz="3000" dirty="0"/>
          </a:p>
        </p:txBody>
      </p:sp>
      <p:sp>
        <p:nvSpPr>
          <p:cNvPr id="15" name="Text 13"/>
          <p:cNvSpPr txBox="1"/>
          <p:nvPr/>
        </p:nvSpPr>
        <p:spPr>
          <a:xfrm>
            <a:off x="667512" y="4432554"/>
            <a:ext cx="3282696" cy="556870"/>
          </a:xfrm>
          <a:prstGeom prst="rect">
            <a:avLst/>
          </a:prstGeom>
          <a:noFill/>
          <a:ln/>
        </p:spPr>
        <p:txBody>
          <a:bodyPr wrap="square" lIns="0" tIns="0" rIns="0" bIns="0" rtlCol="0" anchor="t"/>
          <a:lstStyle/>
          <a:p>
            <a:pPr algn="l" indent="0" marL="0">
              <a:buNone/>
            </a:pPr>
            <a:r>
              <a:rPr lang="en-US" sz="1100" dirty="0">
                <a:solidFill>
                  <a:srgbClr val="5A6B7D"/>
                </a:solidFill>
                <a:latin typeface="Calibri" pitchFamily="34" charset="0"/>
                <a:ea typeface="Calibri" pitchFamily="34" charset="-122"/>
                <a:cs typeface="Calibri" pitchFamily="34" charset="-120"/>
              </a:rPr>
              <a:t>Bernstein: cost of ONE gigawatt-scale campus. ~39% of it is chips — Nvidia's gross profit alone ≈ 30% of total industry cost</a:t>
            </a:r>
            <a:endParaRPr lang="en-US" sz="1100" dirty="0"/>
          </a:p>
        </p:txBody>
      </p:sp>
      <p:sp>
        <p:nvSpPr>
          <p:cNvPr id="16" name="Shape 14"/>
          <p:cNvSpPr/>
          <p:nvPr/>
        </p:nvSpPr>
        <p:spPr>
          <a:xfrm>
            <a:off x="4297680" y="3703320"/>
            <a:ext cx="3611880" cy="1325880"/>
          </a:xfrm>
          <a:prstGeom prst="roundRect">
            <a:avLst>
              <a:gd name="adj" fmla="val 4828"/>
            </a:avLst>
          </a:prstGeom>
          <a:solidFill>
            <a:srgbClr val="D8E6F2"/>
          </a:solidFill>
          <a:ln/>
        </p:spPr>
      </p:sp>
      <p:sp>
        <p:nvSpPr>
          <p:cNvPr id="17" name="Text 15"/>
          <p:cNvSpPr txBox="1"/>
          <p:nvPr/>
        </p:nvSpPr>
        <p:spPr>
          <a:xfrm>
            <a:off x="4462272" y="3813048"/>
            <a:ext cx="3282696" cy="689458"/>
          </a:xfrm>
          <a:prstGeom prst="rect">
            <a:avLst/>
          </a:prstGeom>
          <a:noFill/>
          <a:ln/>
        </p:spPr>
        <p:txBody>
          <a:bodyPr wrap="square" lIns="0" tIns="0" rIns="0" bIns="0" rtlCol="0" anchor="ctr"/>
          <a:lstStyle/>
          <a:p>
            <a:pPr algn="l" indent="0" marL="0">
              <a:buNone/>
            </a:pPr>
            <a:r>
              <a:rPr lang="en-US" sz="2600" b="1" dirty="0">
                <a:solidFill>
                  <a:srgbClr val="13202F"/>
                </a:solidFill>
                <a:latin typeface="Cambria" pitchFamily="34" charset="0"/>
                <a:ea typeface="Cambria" pitchFamily="34" charset="-122"/>
                <a:cs typeface="Cambria" pitchFamily="34" charset="-120"/>
              </a:rPr>
              <a:t>4–6 years</a:t>
            </a:r>
            <a:endParaRPr lang="en-US" sz="2600" dirty="0"/>
          </a:p>
        </p:txBody>
      </p:sp>
      <p:sp>
        <p:nvSpPr>
          <p:cNvPr id="18" name="Text 16"/>
          <p:cNvSpPr txBox="1"/>
          <p:nvPr/>
        </p:nvSpPr>
        <p:spPr>
          <a:xfrm>
            <a:off x="4462272" y="4432554"/>
            <a:ext cx="3282696" cy="556870"/>
          </a:xfrm>
          <a:prstGeom prst="rect">
            <a:avLst/>
          </a:prstGeom>
          <a:noFill/>
          <a:ln/>
        </p:spPr>
        <p:txBody>
          <a:bodyPr wrap="square" lIns="0" tIns="0" rIns="0" bIns="0" rtlCol="0" anchor="t"/>
          <a:lstStyle/>
          <a:p>
            <a:pPr algn="l" indent="0" marL="0">
              <a:buNone/>
            </a:pPr>
            <a:r>
              <a:rPr lang="en-US" sz="1100" dirty="0">
                <a:solidFill>
                  <a:srgbClr val="5A6B7D"/>
                </a:solidFill>
                <a:latin typeface="Calibri" pitchFamily="34" charset="0"/>
                <a:ea typeface="Calibri" pitchFamily="34" charset="-122"/>
                <a:cs typeface="Calibri" pitchFamily="34" charset="-120"/>
              </a:rPr>
              <a:t>Chip depreciation schedule — but a 5-yr-old GPU competes against chips 10× better. Skeptics say even that flatters the accounting</a:t>
            </a:r>
            <a:endParaRPr lang="en-US" sz="1100" dirty="0"/>
          </a:p>
        </p:txBody>
      </p:sp>
      <p:sp>
        <p:nvSpPr>
          <p:cNvPr id="19" name="Shape 17"/>
          <p:cNvSpPr/>
          <p:nvPr/>
        </p:nvSpPr>
        <p:spPr>
          <a:xfrm>
            <a:off x="8046720" y="3703320"/>
            <a:ext cx="3611880" cy="1325880"/>
          </a:xfrm>
          <a:prstGeom prst="roundRect">
            <a:avLst>
              <a:gd name="adj" fmla="val 4828"/>
            </a:avLst>
          </a:prstGeom>
          <a:solidFill>
            <a:srgbClr val="D8E6F2"/>
          </a:solidFill>
          <a:ln/>
        </p:spPr>
      </p:sp>
      <p:sp>
        <p:nvSpPr>
          <p:cNvPr id="20" name="Text 18"/>
          <p:cNvSpPr txBox="1"/>
          <p:nvPr/>
        </p:nvSpPr>
        <p:spPr>
          <a:xfrm>
            <a:off x="8211312" y="3813048"/>
            <a:ext cx="3282696" cy="689458"/>
          </a:xfrm>
          <a:prstGeom prst="rect">
            <a:avLst/>
          </a:prstGeom>
          <a:noFill/>
          <a:ln/>
        </p:spPr>
        <p:txBody>
          <a:bodyPr wrap="square" lIns="0" tIns="0" rIns="0" bIns="0" rtlCol="0" anchor="ctr"/>
          <a:lstStyle/>
          <a:p>
            <a:pPr algn="l" indent="0" marL="0">
              <a:buNone/>
            </a:pPr>
            <a:r>
              <a:rPr lang="en-US" sz="2400" b="1" dirty="0">
                <a:solidFill>
                  <a:srgbClr val="13202F"/>
                </a:solidFill>
                <a:latin typeface="Cambria" pitchFamily="34" charset="0"/>
                <a:ea typeface="Cambria" pitchFamily="34" charset="-122"/>
                <a:cs typeface="Cambria" pitchFamily="34" charset="-120"/>
              </a:rPr>
              <a:t>±$billions</a:t>
            </a:r>
            <a:endParaRPr lang="en-US" sz="2400" dirty="0"/>
          </a:p>
        </p:txBody>
      </p:sp>
      <p:sp>
        <p:nvSpPr>
          <p:cNvPr id="21" name="Text 19"/>
          <p:cNvSpPr txBox="1"/>
          <p:nvPr/>
        </p:nvSpPr>
        <p:spPr>
          <a:xfrm>
            <a:off x="8211312" y="4432554"/>
            <a:ext cx="3282696" cy="556870"/>
          </a:xfrm>
          <a:prstGeom prst="rect">
            <a:avLst/>
          </a:prstGeom>
          <a:noFill/>
          <a:ln/>
        </p:spPr>
        <p:txBody>
          <a:bodyPr wrap="square" lIns="0" tIns="0" rIns="0" bIns="0" rtlCol="0" anchor="t"/>
          <a:lstStyle/>
          <a:p>
            <a:pPr algn="l" indent="0" marL="0">
              <a:buNone/>
            </a:pPr>
            <a:r>
              <a:rPr lang="en-US" sz="1100" dirty="0">
                <a:solidFill>
                  <a:srgbClr val="5A6B7D"/>
                </a:solidFill>
                <a:latin typeface="Calibri" pitchFamily="34" charset="0"/>
                <a:ea typeface="Calibri" pitchFamily="34" charset="-122"/>
                <a:cs typeface="Calibri" pitchFamily="34" charset="-120"/>
              </a:rPr>
              <a:t>Every depreciation year added or removed swings billions in reported profit. Watch this debate</a:t>
            </a:r>
            <a:endParaRPr lang="en-US" sz="1100" dirty="0"/>
          </a:p>
        </p:txBody>
      </p:sp>
      <p:sp>
        <p:nvSpPr>
          <p:cNvPr id="22" name="Shape 20"/>
          <p:cNvSpPr/>
          <p:nvPr/>
        </p:nvSpPr>
        <p:spPr>
          <a:xfrm>
            <a:off x="502920" y="5212080"/>
            <a:ext cx="11155680" cy="914400"/>
          </a:xfrm>
          <a:prstGeom prst="roundRect">
            <a:avLst>
              <a:gd name="adj" fmla="val 7000"/>
            </a:avLst>
          </a:prstGeom>
          <a:solidFill>
            <a:srgbClr val="F9EFDD"/>
          </a:solidFill>
          <a:ln w="9525">
            <a:solidFill>
              <a:srgbClr val="E8D5B0"/>
            </a:solidFill>
            <a:prstDash val="solid"/>
          </a:ln>
        </p:spPr>
      </p:sp>
      <p:sp>
        <p:nvSpPr>
          <p:cNvPr id="23" name="Text 21"/>
          <p:cNvSpPr txBox="1"/>
          <p:nvPr/>
        </p:nvSpPr>
        <p:spPr>
          <a:xfrm>
            <a:off x="777240" y="5303520"/>
            <a:ext cx="10607040" cy="731520"/>
          </a:xfrm>
          <a:prstGeom prst="rect">
            <a:avLst/>
          </a:prstGeom>
          <a:noFill/>
          <a:ln/>
        </p:spPr>
        <p:txBody>
          <a:bodyPr wrap="square" lIns="0" tIns="0" rIns="0" bIns="0" rtlCol="0" anchor="ctr"/>
          <a:lstStyle/>
          <a:p>
            <a:pPr indent="0" marL="0">
              <a:lnSpc>
                <a:spcPct val="112000"/>
              </a:lnSpc>
              <a:buNone/>
            </a:pPr>
            <a:r>
              <a:rPr lang="en-US" sz="1200" b="1" dirty="0">
                <a:solidFill>
                  <a:srgbClr val="B87A18"/>
                </a:solidFill>
                <a:latin typeface="Calibri" pitchFamily="34" charset="0"/>
                <a:ea typeface="Calibri" pitchFamily="34" charset="-122"/>
                <a:cs typeface="Calibri" pitchFamily="34" charset="-120"/>
              </a:rPr>
              <a:t>The circle: </a:t>
            </a:r>
            <a:pPr indent="0" marL="0">
              <a:lnSpc>
                <a:spcPct val="112000"/>
              </a:lnSpc>
              <a:buNone/>
            </a:pPr>
            <a:r>
              <a:rPr lang="en-US" sz="1200" dirty="0">
                <a:solidFill>
                  <a:srgbClr val="1A2430"/>
                </a:solidFill>
                <a:latin typeface="Calibri" pitchFamily="34" charset="0"/>
                <a:ea typeface="Calibri" pitchFamily="34" charset="-122"/>
                <a:cs typeface="Calibri" pitchFamily="34" charset="-120"/>
              </a:rPr>
              <a:t>Nvidia invests in CoreWeave, Nebius, OpenAI → they buy Nvidia chips (revenue for Nvidia). Hyperscalers fund the labs → labs pay hyperscalers for compute. Not fraud, not new — vendor financing built the railroads. But note where fresh money is supposed to enter…</a:t>
            </a:r>
            <a:endParaRPr lang="en-US" sz="1200" dirty="0"/>
          </a:p>
        </p:txBody>
      </p:sp>
      <p:sp>
        <p:nvSpPr>
          <p:cNvPr id="25" name="Text 22"/>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8C9BAB"/>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3202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F0A431"/>
                </a:solidFill>
                <a:latin typeface="Calibri" pitchFamily="34" charset="0"/>
                <a:ea typeface="Calibri" pitchFamily="34" charset="-122"/>
                <a:cs typeface="Calibri" pitchFamily="34" charset="-120"/>
              </a:rPr>
              <a:t>ACT 9 · THE VERDICT QUESTION</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one opening in the loop</a:t>
            </a:r>
            <a:endParaRPr lang="en-US" sz="3000" dirty="0"/>
          </a:p>
        </p:txBody>
      </p:sp>
      <p:sp>
        <p:nvSpPr>
          <p:cNvPr id="4" name="Text 2"/>
          <p:cNvSpPr txBox="1"/>
          <p:nvPr/>
        </p:nvSpPr>
        <p:spPr>
          <a:xfrm>
            <a:off x="731520" y="1691640"/>
            <a:ext cx="10698480" cy="822960"/>
          </a:xfrm>
          <a:prstGeom prst="rect">
            <a:avLst/>
          </a:prstGeom>
          <a:noFill/>
          <a:ln/>
        </p:spPr>
        <p:txBody>
          <a:bodyPr wrap="square" lIns="0" tIns="0" rIns="0" bIns="0" rtlCol="0" anchor="ctr"/>
          <a:lstStyle/>
          <a:p>
            <a:pPr indent="0" marL="0">
              <a:lnSpc>
                <a:spcPct val="120000"/>
              </a:lnSpc>
              <a:buNone/>
            </a:pPr>
            <a:r>
              <a:rPr lang="en-US" sz="1600" b="1" dirty="0">
                <a:solidFill>
                  <a:srgbClr val="F0A431"/>
                </a:solidFill>
                <a:latin typeface="Calibri" pitchFamily="34" charset="0"/>
                <a:ea typeface="Calibri" pitchFamily="34" charset="-122"/>
                <a:cs typeface="Calibri" pitchFamily="34" charset="-120"/>
              </a:rPr>
              <a:t>The only exit that isn't recycled capital: </a:t>
            </a:r>
            <a:pPr indent="0" marL="0">
              <a:lnSpc>
                <a:spcPct val="120000"/>
              </a:lnSpc>
              <a:buNone/>
            </a:pPr>
            <a:r>
              <a:rPr lang="en-US" sz="1600" dirty="0">
                <a:solidFill>
                  <a:srgbClr val="D8E6F2"/>
                </a:solidFill>
                <a:latin typeface="Calibri" pitchFamily="34" charset="0"/>
                <a:ea typeface="Calibri" pitchFamily="34" charset="-122"/>
                <a:cs typeface="Calibri" pitchFamily="34" charset="-120"/>
              </a:rPr>
              <a:t>end users and enterprises. You paying $20/month; companies paying for APIs and copilots. Today, that corner is the smallest number on the board.</a:t>
            </a:r>
            <a:endParaRPr lang="en-US" sz="1600" dirty="0"/>
          </a:p>
        </p:txBody>
      </p:sp>
      <p:sp>
        <p:nvSpPr>
          <p:cNvPr id="5" name="Shape 3"/>
          <p:cNvSpPr/>
          <p:nvPr/>
        </p:nvSpPr>
        <p:spPr>
          <a:xfrm>
            <a:off x="731520" y="2743200"/>
            <a:ext cx="3474720" cy="1645920"/>
          </a:xfrm>
          <a:prstGeom prst="roundRect">
            <a:avLst>
              <a:gd name="adj" fmla="val 3889"/>
            </a:avLst>
          </a:prstGeom>
          <a:solidFill>
            <a:srgbClr val="1C2E42"/>
          </a:solidFill>
          <a:ln/>
        </p:spPr>
      </p:sp>
      <p:sp>
        <p:nvSpPr>
          <p:cNvPr id="6" name="Text 4"/>
          <p:cNvSpPr txBox="1"/>
          <p:nvPr/>
        </p:nvSpPr>
        <p:spPr>
          <a:xfrm>
            <a:off x="896112" y="2852928"/>
            <a:ext cx="3145536" cy="855878"/>
          </a:xfrm>
          <a:prstGeom prst="rect">
            <a:avLst/>
          </a:prstGeom>
          <a:noFill/>
          <a:ln/>
        </p:spPr>
        <p:txBody>
          <a:bodyPr wrap="square" lIns="0" tIns="0" rIns="0" bIns="0" rtlCol="0" anchor="ctr"/>
          <a:lstStyle/>
          <a:p>
            <a:pPr algn="l" indent="0" marL="0">
              <a:buNone/>
            </a:pPr>
            <a:r>
              <a:rPr lang="en-US" sz="3600" b="1" dirty="0">
                <a:solidFill>
                  <a:srgbClr val="F0A431"/>
                </a:solidFill>
                <a:latin typeface="Cambria" pitchFamily="34" charset="0"/>
                <a:ea typeface="Cambria" pitchFamily="34" charset="-122"/>
                <a:cs typeface="Cambria" pitchFamily="34" charset="-120"/>
              </a:rPr>
              <a:t>&gt;$70bn</a:t>
            </a:r>
            <a:endParaRPr lang="en-US" sz="3600" dirty="0"/>
          </a:p>
        </p:txBody>
      </p:sp>
      <p:sp>
        <p:nvSpPr>
          <p:cNvPr id="7" name="Text 5"/>
          <p:cNvSpPr txBox="1"/>
          <p:nvPr/>
        </p:nvSpPr>
        <p:spPr>
          <a:xfrm>
            <a:off x="896112" y="3648456"/>
            <a:ext cx="3145536" cy="691286"/>
          </a:xfrm>
          <a:prstGeom prst="rect">
            <a:avLst/>
          </a:prstGeom>
          <a:noFill/>
          <a:ln/>
        </p:spPr>
        <p:txBody>
          <a:bodyPr wrap="square" lIns="0" tIns="0" rIns="0" bIns="0" rtlCol="0" anchor="t"/>
          <a:lstStyle/>
          <a:p>
            <a:pPr algn="l" indent="0" marL="0">
              <a:buNone/>
            </a:pPr>
            <a:r>
              <a:rPr lang="en-US" sz="1100" dirty="0">
                <a:solidFill>
                  <a:srgbClr val="D8E6F2"/>
                </a:solidFill>
                <a:latin typeface="Calibri" pitchFamily="34" charset="0"/>
                <a:ea typeface="Calibri" pitchFamily="34" charset="-122"/>
                <a:cs typeface="Calibri" pitchFamily="34" charset="-120"/>
              </a:rPr>
              <a:t>Combined annualised run-rate of the two biggest labs — the fastest revenue ramp in software history</a:t>
            </a:r>
            <a:endParaRPr lang="en-US" sz="1100" dirty="0"/>
          </a:p>
        </p:txBody>
      </p:sp>
      <p:sp>
        <p:nvSpPr>
          <p:cNvPr id="8" name="Shape 6"/>
          <p:cNvSpPr/>
          <p:nvPr/>
        </p:nvSpPr>
        <p:spPr>
          <a:xfrm>
            <a:off x="4389120" y="2743200"/>
            <a:ext cx="3474720" cy="1645920"/>
          </a:xfrm>
          <a:prstGeom prst="roundRect">
            <a:avLst>
              <a:gd name="adj" fmla="val 3889"/>
            </a:avLst>
          </a:prstGeom>
          <a:solidFill>
            <a:srgbClr val="1C2E42"/>
          </a:solidFill>
          <a:ln/>
        </p:spPr>
      </p:sp>
      <p:sp>
        <p:nvSpPr>
          <p:cNvPr id="9" name="Text 7"/>
          <p:cNvSpPr txBox="1"/>
          <p:nvPr/>
        </p:nvSpPr>
        <p:spPr>
          <a:xfrm>
            <a:off x="4553712" y="2852928"/>
            <a:ext cx="3145536" cy="855878"/>
          </a:xfrm>
          <a:prstGeom prst="rect">
            <a:avLst/>
          </a:prstGeom>
          <a:noFill/>
          <a:ln/>
        </p:spPr>
        <p:txBody>
          <a:bodyPr wrap="square" lIns="0" tIns="0" rIns="0" bIns="0" rtlCol="0" anchor="ctr"/>
          <a:lstStyle/>
          <a:p>
            <a:pPr algn="l" indent="0" marL="0">
              <a:buNone/>
            </a:pPr>
            <a:r>
              <a:rPr lang="en-US" sz="3600" b="1" dirty="0">
                <a:solidFill>
                  <a:srgbClr val="F0A431"/>
                </a:solidFill>
                <a:latin typeface="Cambria" pitchFamily="34" charset="0"/>
                <a:ea typeface="Cambria" pitchFamily="34" charset="-122"/>
                <a:cs typeface="Cambria" pitchFamily="34" charset="-120"/>
              </a:rPr>
              <a:t>$725bn</a:t>
            </a:r>
            <a:endParaRPr lang="en-US" sz="3600" dirty="0"/>
          </a:p>
        </p:txBody>
      </p:sp>
      <p:sp>
        <p:nvSpPr>
          <p:cNvPr id="10" name="Text 8"/>
          <p:cNvSpPr txBox="1"/>
          <p:nvPr/>
        </p:nvSpPr>
        <p:spPr>
          <a:xfrm>
            <a:off x="4553712" y="3648456"/>
            <a:ext cx="3145536" cy="691286"/>
          </a:xfrm>
          <a:prstGeom prst="rect">
            <a:avLst/>
          </a:prstGeom>
          <a:noFill/>
          <a:ln/>
        </p:spPr>
        <p:txBody>
          <a:bodyPr wrap="square" lIns="0" tIns="0" rIns="0" bIns="0" rtlCol="0" anchor="t"/>
          <a:lstStyle/>
          <a:p>
            <a:pPr algn="l" indent="0" marL="0">
              <a:buNone/>
            </a:pPr>
            <a:r>
              <a:rPr lang="en-US" sz="1100" dirty="0">
                <a:solidFill>
                  <a:srgbClr val="D8E6F2"/>
                </a:solidFill>
                <a:latin typeface="Calibri" pitchFamily="34" charset="0"/>
                <a:ea typeface="Calibri" pitchFamily="34" charset="-122"/>
                <a:cs typeface="Calibri" pitchFamily="34" charset="-120"/>
              </a:rPr>
              <a:t>Annual spend it is set against — with OpenAI still expected to lose ~$14bn this year</a:t>
            </a:r>
            <a:endParaRPr lang="en-US" sz="1100" dirty="0"/>
          </a:p>
        </p:txBody>
      </p:sp>
      <p:sp>
        <p:nvSpPr>
          <p:cNvPr id="11" name="Shape 9"/>
          <p:cNvSpPr/>
          <p:nvPr/>
        </p:nvSpPr>
        <p:spPr>
          <a:xfrm>
            <a:off x="8046720" y="2743200"/>
            <a:ext cx="3383280" cy="1645920"/>
          </a:xfrm>
          <a:prstGeom prst="roundRect">
            <a:avLst>
              <a:gd name="adj" fmla="val 3889"/>
            </a:avLst>
          </a:prstGeom>
          <a:solidFill>
            <a:srgbClr val="1C2E42"/>
          </a:solidFill>
          <a:ln/>
        </p:spPr>
      </p:sp>
      <p:sp>
        <p:nvSpPr>
          <p:cNvPr id="12" name="Text 10"/>
          <p:cNvSpPr txBox="1"/>
          <p:nvPr/>
        </p:nvSpPr>
        <p:spPr>
          <a:xfrm>
            <a:off x="8211312" y="2852928"/>
            <a:ext cx="3054096" cy="855878"/>
          </a:xfrm>
          <a:prstGeom prst="rect">
            <a:avLst/>
          </a:prstGeom>
          <a:noFill/>
          <a:ln/>
        </p:spPr>
        <p:txBody>
          <a:bodyPr wrap="square" lIns="0" tIns="0" rIns="0" bIns="0" rtlCol="0" anchor="ctr"/>
          <a:lstStyle/>
          <a:p>
            <a:pPr algn="l" indent="0" marL="0">
              <a:buNone/>
            </a:pPr>
            <a:r>
              <a:rPr lang="en-US" sz="3600" b="1" dirty="0">
                <a:solidFill>
                  <a:srgbClr val="F0A431"/>
                </a:solidFill>
                <a:latin typeface="Cambria" pitchFamily="34" charset="0"/>
                <a:ea typeface="Cambria" pitchFamily="34" charset="-122"/>
                <a:cs typeface="Cambria" pitchFamily="34" charset="-120"/>
              </a:rPr>
              <a:t>$7.6tn</a:t>
            </a:r>
            <a:endParaRPr lang="en-US" sz="3600" dirty="0"/>
          </a:p>
        </p:txBody>
      </p:sp>
      <p:sp>
        <p:nvSpPr>
          <p:cNvPr id="13" name="Text 11"/>
          <p:cNvSpPr txBox="1"/>
          <p:nvPr/>
        </p:nvSpPr>
        <p:spPr>
          <a:xfrm>
            <a:off x="8211312" y="3648456"/>
            <a:ext cx="3054096" cy="691286"/>
          </a:xfrm>
          <a:prstGeom prst="rect">
            <a:avLst/>
          </a:prstGeom>
          <a:noFill/>
          <a:ln/>
        </p:spPr>
        <p:txBody>
          <a:bodyPr wrap="square" lIns="0" tIns="0" rIns="0" bIns="0" rtlCol="0" anchor="t"/>
          <a:lstStyle/>
          <a:p>
            <a:pPr algn="l" indent="0" marL="0">
              <a:buNone/>
            </a:pPr>
            <a:r>
              <a:rPr lang="en-US" sz="1100" dirty="0">
                <a:solidFill>
                  <a:srgbClr val="D8E6F2"/>
                </a:solidFill>
                <a:latin typeface="Calibri" pitchFamily="34" charset="0"/>
                <a:ea typeface="Calibri" pitchFamily="34" charset="-122"/>
                <a:cs typeface="Calibri" pitchFamily="34" charset="-120"/>
              </a:rPr>
              <a:t>The size of the bet through 2031</a:t>
            </a:r>
            <a:endParaRPr lang="en-US" sz="1100" dirty="0"/>
          </a:p>
        </p:txBody>
      </p:sp>
      <p:sp>
        <p:nvSpPr>
          <p:cNvPr id="14" name="Shape 12"/>
          <p:cNvSpPr/>
          <p:nvPr/>
        </p:nvSpPr>
        <p:spPr>
          <a:xfrm>
            <a:off x="731520" y="4709160"/>
            <a:ext cx="10698480" cy="1234440"/>
          </a:xfrm>
          <a:prstGeom prst="roundRect">
            <a:avLst>
              <a:gd name="adj" fmla="val 5926"/>
            </a:avLst>
          </a:prstGeom>
          <a:solidFill>
            <a:srgbClr val="3A2A20"/>
          </a:solidFill>
          <a:ln/>
        </p:spPr>
      </p:sp>
      <p:sp>
        <p:nvSpPr>
          <p:cNvPr id="15" name="Text 13"/>
          <p:cNvSpPr txBox="1"/>
          <p:nvPr/>
        </p:nvSpPr>
        <p:spPr>
          <a:xfrm>
            <a:off x="1005840" y="4846320"/>
            <a:ext cx="10149840" cy="960120"/>
          </a:xfrm>
          <a:prstGeom prst="rect">
            <a:avLst/>
          </a:prstGeom>
          <a:noFill/>
          <a:ln/>
        </p:spPr>
        <p:txBody>
          <a:bodyPr wrap="square" lIns="0" tIns="0" rIns="0" bIns="0" rtlCol="0" anchor="ctr"/>
          <a:lstStyle/>
          <a:p>
            <a:pPr indent="0" marL="0">
              <a:lnSpc>
                <a:spcPct val="115000"/>
              </a:lnSpc>
              <a:buNone/>
            </a:pPr>
            <a:r>
              <a:rPr lang="en-US" sz="1900" b="1" i="1" dirty="0">
                <a:solidFill>
                  <a:srgbClr val="F0A431"/>
                </a:solidFill>
                <a:latin typeface="Cambria" pitchFamily="34" charset="0"/>
                <a:ea typeface="Cambria" pitchFamily="34" charset="-122"/>
                <a:cs typeface="Cambria" pitchFamily="34" charset="-120"/>
              </a:rPr>
              <a:t>“The entire seven-trillion-dollar machine is the bet that a small corner grows faster than the big circle spins.”</a:t>
            </a:r>
            <a:endParaRPr lang="en-US" sz="1900" dirty="0"/>
          </a:p>
        </p:txBody>
      </p:sp>
      <p:sp>
        <p:nvSpPr>
          <p:cNvPr id="17" name="Text 14"/>
          <p:cNvSpPr txBox="1"/>
          <p:nvPr/>
        </p:nvSpPr>
        <p:spPr>
          <a:xfrm>
            <a:off x="502920" y="6473952"/>
            <a:ext cx="11155680" cy="274320"/>
          </a:xfrm>
          <a:prstGeom prst="rect">
            <a:avLst/>
          </a:prstGeom>
          <a:noFill/>
          <a:ln/>
        </p:spPr>
        <p:txBody>
          <a:bodyPr wrap="square" lIns="0" tIns="0" rIns="0" bIns="0" rtlCol="0" anchor="ctr"/>
          <a:lstStyle/>
          <a:p>
            <a:pPr indent="0" marL="0">
              <a:buNone/>
            </a:pPr>
            <a:r>
              <a:rPr lang="en-US" sz="850" dirty="0">
                <a:solidFill>
                  <a:srgbClr val="5A6B7D"/>
                </a:solidFill>
                <a:latin typeface="Calibri" pitchFamily="34" charset="0"/>
                <a:ea typeface="Calibri" pitchFamily="34" charset="-122"/>
                <a:cs typeface="Calibri" pitchFamily="34" charset="-120"/>
              </a:rPr>
              <a:t>AI infrastructure stack — learning notes from video walkthrough (early-2026 figures, presenter's claims)</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3202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F0A431"/>
                </a:solidFill>
                <a:latin typeface="Calibri" pitchFamily="34" charset="0"/>
                <a:ea typeface="Calibri" pitchFamily="34" charset="-122"/>
                <a:cs typeface="Calibri" pitchFamily="34" charset="-120"/>
              </a:rPr>
              <a:t>FINALE</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same two seconds, now visible</a:t>
            </a:r>
            <a:endParaRPr lang="en-US" sz="3000" dirty="0"/>
          </a:p>
        </p:txBody>
      </p:sp>
      <p:sp>
        <p:nvSpPr>
          <p:cNvPr id="4" name="Shape 2"/>
          <p:cNvSpPr/>
          <p:nvPr/>
        </p:nvSpPr>
        <p:spPr>
          <a:xfrm>
            <a:off x="731520" y="1572768"/>
            <a:ext cx="384048" cy="384048"/>
          </a:xfrm>
          <a:prstGeom prst="ellipse">
            <a:avLst/>
          </a:prstGeom>
          <a:solidFill>
            <a:srgbClr val="F0A431"/>
          </a:solidFill>
          <a:ln/>
        </p:spPr>
      </p:sp>
      <p:sp>
        <p:nvSpPr>
          <p:cNvPr id="5" name="Text 3"/>
          <p:cNvSpPr txBox="1"/>
          <p:nvPr/>
        </p:nvSpPr>
        <p:spPr>
          <a:xfrm>
            <a:off x="731520" y="15590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280160" y="1554480"/>
            <a:ext cx="10149840" cy="548640"/>
          </a:xfrm>
          <a:prstGeom prst="rect">
            <a:avLst/>
          </a:prstGeom>
          <a:noFill/>
          <a:ln/>
        </p:spPr>
        <p:txBody>
          <a:bodyPr wrap="square" lIns="0" tIns="0" rIns="0" bIns="0" rtlCol="0" anchor="t"/>
          <a:lstStyle/>
          <a:p>
            <a:pPr indent="0" marL="0">
              <a:lnSpc>
                <a:spcPct val="105000"/>
              </a:lnSpc>
              <a:buNone/>
            </a:pPr>
            <a:r>
              <a:rPr lang="en-US" sz="1300" dirty="0">
                <a:solidFill>
                  <a:srgbClr val="D8E6F2"/>
                </a:solidFill>
                <a:latin typeface="Calibri" pitchFamily="34" charset="0"/>
                <a:ea typeface="Calibri" pitchFamily="34" charset="-122"/>
                <a:cs typeface="Calibri" pitchFamily="34" charset="-120"/>
              </a:rPr>
              <a:t>Your thumb hits send → the question becomes light in glass fibre, crossing state lines</a:t>
            </a:r>
            <a:endParaRPr lang="en-US" sz="1300" dirty="0"/>
          </a:p>
        </p:txBody>
      </p:sp>
      <p:sp>
        <p:nvSpPr>
          <p:cNvPr id="7" name="Shape 5"/>
          <p:cNvSpPr/>
          <p:nvPr/>
        </p:nvSpPr>
        <p:spPr>
          <a:xfrm>
            <a:off x="731520" y="2139696"/>
            <a:ext cx="384048" cy="384048"/>
          </a:xfrm>
          <a:prstGeom prst="ellipse">
            <a:avLst/>
          </a:prstGeom>
          <a:solidFill>
            <a:srgbClr val="F0A431"/>
          </a:solidFill>
          <a:ln/>
        </p:spPr>
      </p:sp>
      <p:sp>
        <p:nvSpPr>
          <p:cNvPr id="8" name="Text 6"/>
          <p:cNvSpPr txBox="1"/>
          <p:nvPr/>
        </p:nvSpPr>
        <p:spPr>
          <a:xfrm>
            <a:off x="731520" y="212598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9" name="Text 7"/>
          <p:cNvSpPr txBox="1"/>
          <p:nvPr/>
        </p:nvSpPr>
        <p:spPr>
          <a:xfrm>
            <a:off x="1280160" y="2121408"/>
            <a:ext cx="10149840" cy="548640"/>
          </a:xfrm>
          <a:prstGeom prst="rect">
            <a:avLst/>
          </a:prstGeom>
          <a:noFill/>
          <a:ln/>
        </p:spPr>
        <p:txBody>
          <a:bodyPr wrap="square" lIns="0" tIns="0" rIns="0" bIns="0" rtlCol="0" anchor="t"/>
          <a:lstStyle/>
          <a:p>
            <a:pPr indent="0" marL="0">
              <a:lnSpc>
                <a:spcPct val="105000"/>
              </a:lnSpc>
              <a:buNone/>
            </a:pPr>
            <a:r>
              <a:rPr lang="en-US" sz="1300" dirty="0">
                <a:solidFill>
                  <a:srgbClr val="D8E6F2"/>
                </a:solidFill>
                <a:latin typeface="Calibri" pitchFamily="34" charset="0"/>
                <a:ea typeface="Calibri" pitchFamily="34" charset="-122"/>
                <a:cs typeface="Calibri" pitchFamily="34" charset="-120"/>
              </a:rPr>
              <a:t>It arrives at a building drawing the power of a city — from a restarted nuclear plant, a sold-out turbine, a fuel cell behind the meter</a:t>
            </a:r>
            <a:endParaRPr lang="en-US" sz="1300" dirty="0"/>
          </a:p>
        </p:txBody>
      </p:sp>
      <p:sp>
        <p:nvSpPr>
          <p:cNvPr id="10" name="Shape 8"/>
          <p:cNvSpPr/>
          <p:nvPr/>
        </p:nvSpPr>
        <p:spPr>
          <a:xfrm>
            <a:off x="731520" y="2706624"/>
            <a:ext cx="384048" cy="384048"/>
          </a:xfrm>
          <a:prstGeom prst="ellipse">
            <a:avLst/>
          </a:prstGeom>
          <a:solidFill>
            <a:srgbClr val="F0A431"/>
          </a:solidFill>
          <a:ln/>
        </p:spPr>
      </p:sp>
      <p:sp>
        <p:nvSpPr>
          <p:cNvPr id="11" name="Text 9"/>
          <p:cNvSpPr txBox="1"/>
          <p:nvPr/>
        </p:nvSpPr>
        <p:spPr>
          <a:xfrm>
            <a:off x="731520" y="26929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2" name="Text 10"/>
          <p:cNvSpPr txBox="1"/>
          <p:nvPr/>
        </p:nvSpPr>
        <p:spPr>
          <a:xfrm>
            <a:off x="1280160" y="2688336"/>
            <a:ext cx="10149840" cy="548640"/>
          </a:xfrm>
          <a:prstGeom prst="rect">
            <a:avLst/>
          </a:prstGeom>
          <a:noFill/>
          <a:ln/>
        </p:spPr>
        <p:txBody>
          <a:bodyPr wrap="square" lIns="0" tIns="0" rIns="0" bIns="0" rtlCol="0" anchor="t"/>
          <a:lstStyle/>
          <a:p>
            <a:pPr indent="0" marL="0">
              <a:lnSpc>
                <a:spcPct val="105000"/>
              </a:lnSpc>
              <a:buNone/>
            </a:pPr>
            <a:r>
              <a:rPr lang="en-US" sz="1300" dirty="0">
                <a:solidFill>
                  <a:srgbClr val="D8E6F2"/>
                </a:solidFill>
                <a:latin typeface="Calibri" pitchFamily="34" charset="0"/>
                <a:ea typeface="Calibri" pitchFamily="34" charset="-122"/>
                <a:cs typeface="Calibri" pitchFamily="34" charset="-120"/>
              </a:rPr>
              <a:t>Chopped into tokens, fed into a $3m rack assembled in Taiwan and sold at a 75-point margin</a:t>
            </a:r>
            <a:endParaRPr lang="en-US" sz="1300" dirty="0"/>
          </a:p>
        </p:txBody>
      </p:sp>
      <p:sp>
        <p:nvSpPr>
          <p:cNvPr id="13" name="Shape 11"/>
          <p:cNvSpPr/>
          <p:nvPr/>
        </p:nvSpPr>
        <p:spPr>
          <a:xfrm>
            <a:off x="731520" y="3273552"/>
            <a:ext cx="384048" cy="384048"/>
          </a:xfrm>
          <a:prstGeom prst="ellipse">
            <a:avLst/>
          </a:prstGeom>
          <a:solidFill>
            <a:srgbClr val="F0A431"/>
          </a:solidFill>
          <a:ln/>
        </p:spPr>
      </p:sp>
      <p:sp>
        <p:nvSpPr>
          <p:cNvPr id="14" name="Text 12"/>
          <p:cNvSpPr txBox="1"/>
          <p:nvPr/>
        </p:nvSpPr>
        <p:spPr>
          <a:xfrm>
            <a:off x="731520" y="3259836"/>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5" name="Text 13"/>
          <p:cNvSpPr txBox="1"/>
          <p:nvPr/>
        </p:nvSpPr>
        <p:spPr>
          <a:xfrm>
            <a:off x="1280160" y="3255264"/>
            <a:ext cx="10149840" cy="548640"/>
          </a:xfrm>
          <a:prstGeom prst="rect">
            <a:avLst/>
          </a:prstGeom>
          <a:noFill/>
          <a:ln/>
        </p:spPr>
        <p:txBody>
          <a:bodyPr wrap="square" lIns="0" tIns="0" rIns="0" bIns="0" rtlCol="0" anchor="t"/>
          <a:lstStyle/>
          <a:p>
            <a:pPr indent="0" marL="0">
              <a:lnSpc>
                <a:spcPct val="105000"/>
              </a:lnSpc>
              <a:buNone/>
            </a:pPr>
            <a:r>
              <a:rPr lang="en-US" sz="1300" dirty="0">
                <a:solidFill>
                  <a:srgbClr val="D8E6F2"/>
                </a:solidFill>
                <a:latin typeface="Calibri" pitchFamily="34" charset="0"/>
                <a:ea typeface="Calibri" pitchFamily="34" charset="-122"/>
                <a:cs typeface="Calibri" pitchFamily="34" charset="-120"/>
              </a:rPr>
              <a:t>10,000 line cooks fetch a trillion parameters from memory skyscrapers, while liquid carries away the heat of 80 space heaters</a:t>
            </a:r>
            <a:endParaRPr lang="en-US" sz="1300" dirty="0"/>
          </a:p>
        </p:txBody>
      </p:sp>
      <p:sp>
        <p:nvSpPr>
          <p:cNvPr id="16" name="Shape 14"/>
          <p:cNvSpPr/>
          <p:nvPr/>
        </p:nvSpPr>
        <p:spPr>
          <a:xfrm>
            <a:off x="731520" y="3840480"/>
            <a:ext cx="384048" cy="384048"/>
          </a:xfrm>
          <a:prstGeom prst="ellipse">
            <a:avLst/>
          </a:prstGeom>
          <a:solidFill>
            <a:srgbClr val="F0A431"/>
          </a:solidFill>
          <a:ln/>
        </p:spPr>
      </p:sp>
      <p:sp>
        <p:nvSpPr>
          <p:cNvPr id="17" name="Text 15"/>
          <p:cNvSpPr txBox="1"/>
          <p:nvPr/>
        </p:nvSpPr>
        <p:spPr>
          <a:xfrm>
            <a:off x="731520" y="3826764"/>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8" name="Text 16"/>
          <p:cNvSpPr txBox="1"/>
          <p:nvPr/>
        </p:nvSpPr>
        <p:spPr>
          <a:xfrm>
            <a:off x="1280160" y="3822192"/>
            <a:ext cx="10149840" cy="548640"/>
          </a:xfrm>
          <a:prstGeom prst="rect">
            <a:avLst/>
          </a:prstGeom>
          <a:noFill/>
          <a:ln/>
        </p:spPr>
        <p:txBody>
          <a:bodyPr wrap="square" lIns="0" tIns="0" rIns="0" bIns="0" rtlCol="0" anchor="t"/>
          <a:lstStyle/>
          <a:p>
            <a:pPr indent="0" marL="0">
              <a:lnSpc>
                <a:spcPct val="105000"/>
              </a:lnSpc>
              <a:buNone/>
            </a:pPr>
            <a:r>
              <a:rPr lang="en-US" sz="1300" dirty="0">
                <a:solidFill>
                  <a:srgbClr val="D8E6F2"/>
                </a:solidFill>
                <a:latin typeface="Calibri" pitchFamily="34" charset="0"/>
                <a:ea typeface="Calibri" pitchFamily="34" charset="-122"/>
                <a:cs typeface="Calibri" pitchFamily="34" charset="-120"/>
              </a:rPr>
              <a:t>Light-speed interconnects let 10,000 chips think one thought; software batches you with a thousand strangers</a:t>
            </a:r>
            <a:endParaRPr lang="en-US" sz="1300" dirty="0"/>
          </a:p>
        </p:txBody>
      </p:sp>
      <p:sp>
        <p:nvSpPr>
          <p:cNvPr id="19" name="Shape 17"/>
          <p:cNvSpPr/>
          <p:nvPr/>
        </p:nvSpPr>
        <p:spPr>
          <a:xfrm>
            <a:off x="731520" y="4407408"/>
            <a:ext cx="384048" cy="384048"/>
          </a:xfrm>
          <a:prstGeom prst="ellipse">
            <a:avLst/>
          </a:prstGeom>
          <a:solidFill>
            <a:srgbClr val="F0A431"/>
          </a:solidFill>
          <a:ln/>
        </p:spPr>
      </p:sp>
      <p:sp>
        <p:nvSpPr>
          <p:cNvPr id="20" name="Text 18"/>
          <p:cNvSpPr txBox="1"/>
          <p:nvPr/>
        </p:nvSpPr>
        <p:spPr>
          <a:xfrm>
            <a:off x="731520" y="439369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1" name="Text 19"/>
          <p:cNvSpPr txBox="1"/>
          <p:nvPr/>
        </p:nvSpPr>
        <p:spPr>
          <a:xfrm>
            <a:off x="1280160" y="4389120"/>
            <a:ext cx="10149840" cy="548640"/>
          </a:xfrm>
          <a:prstGeom prst="rect">
            <a:avLst/>
          </a:prstGeom>
          <a:noFill/>
          <a:ln/>
        </p:spPr>
        <p:txBody>
          <a:bodyPr wrap="square" lIns="0" tIns="0" rIns="0" bIns="0" rtlCol="0" anchor="t"/>
          <a:lstStyle/>
          <a:p>
            <a:pPr indent="0" marL="0">
              <a:lnSpc>
                <a:spcPct val="105000"/>
              </a:lnSpc>
              <a:buNone/>
            </a:pPr>
            <a:r>
              <a:rPr lang="en-US" sz="1300" dirty="0">
                <a:solidFill>
                  <a:srgbClr val="D8E6F2"/>
                </a:solidFill>
                <a:latin typeface="Calibri" pitchFamily="34" charset="0"/>
                <a:ea typeface="Calibri" pitchFamily="34" charset="-122"/>
                <a:cs typeface="Calibri" pitchFamily="34" charset="-120"/>
              </a:rPr>
              <a:t>The answer streams back, token by token — each word manufactured the instant you read it</a:t>
            </a:r>
            <a:endParaRPr lang="en-US" sz="1300" dirty="0"/>
          </a:p>
        </p:txBody>
      </p:sp>
      <p:sp>
        <p:nvSpPr>
          <p:cNvPr id="22" name="Text 20"/>
          <p:cNvSpPr txBox="1"/>
          <p:nvPr/>
        </p:nvSpPr>
        <p:spPr>
          <a:xfrm>
            <a:off x="731520" y="5093208"/>
            <a:ext cx="10698480" cy="502920"/>
          </a:xfrm>
          <a:prstGeom prst="rect">
            <a:avLst/>
          </a:prstGeom>
          <a:noFill/>
          <a:ln/>
        </p:spPr>
        <p:txBody>
          <a:bodyPr wrap="square" lIns="0" tIns="0" rIns="0" bIns="0" rtlCol="0" anchor="ctr"/>
          <a:lstStyle/>
          <a:p>
            <a:pPr indent="0" marL="0">
              <a:lnSpc>
                <a:spcPct val="110000"/>
              </a:lnSpc>
              <a:buNone/>
            </a:pPr>
            <a:r>
              <a:rPr lang="en-US" sz="1500" b="1" i="1" dirty="0">
                <a:solidFill>
                  <a:srgbClr val="F0A431"/>
                </a:solidFill>
                <a:latin typeface="Cambria" pitchFamily="34" charset="0"/>
                <a:ea typeface="Cambria" pitchFamily="34" charset="-122"/>
                <a:cs typeface="Cambria" pitchFamily="34" charset="-120"/>
              </a:rPr>
              <a:t>Two seconds. $725bn a year. Whether it's the most important investment in history or the most expensive — nobody on Earth knows yet.</a:t>
            </a:r>
            <a:endParaRPr lang="en-US" sz="1500" dirty="0"/>
          </a:p>
        </p:txBody>
      </p:sp>
      <p:sp>
        <p:nvSpPr>
          <p:cNvPr id="23" name="Shape 21"/>
          <p:cNvSpPr/>
          <p:nvPr/>
        </p:nvSpPr>
        <p:spPr>
          <a:xfrm>
            <a:off x="731520" y="5733288"/>
            <a:ext cx="10698480" cy="777240"/>
          </a:xfrm>
          <a:prstGeom prst="roundRect">
            <a:avLst>
              <a:gd name="adj" fmla="val 7059"/>
            </a:avLst>
          </a:prstGeom>
          <a:solidFill>
            <a:srgbClr val="1C2E42"/>
          </a:solidFill>
          <a:ln/>
        </p:spPr>
      </p:sp>
      <p:sp>
        <p:nvSpPr>
          <p:cNvPr id="24" name="Text 22"/>
          <p:cNvSpPr txBox="1"/>
          <p:nvPr/>
        </p:nvSpPr>
        <p:spPr>
          <a:xfrm>
            <a:off x="1005840" y="5824728"/>
            <a:ext cx="10149840" cy="594360"/>
          </a:xfrm>
          <a:prstGeom prst="rect">
            <a:avLst/>
          </a:prstGeom>
          <a:noFill/>
          <a:ln/>
        </p:spPr>
        <p:txBody>
          <a:bodyPr wrap="square" lIns="0" tIns="0" rIns="0" bIns="0" rtlCol="0" anchor="ctr"/>
          <a:lstStyle/>
          <a:p>
            <a:pPr indent="0" marL="0">
              <a:lnSpc>
                <a:spcPct val="110000"/>
              </a:lnSpc>
              <a:buNone/>
            </a:pPr>
            <a:r>
              <a:rPr lang="en-US" sz="1100" dirty="0">
                <a:solidFill>
                  <a:srgbClr val="D8E6F2"/>
                </a:solidFill>
                <a:latin typeface="Calibri" pitchFamily="34" charset="0"/>
                <a:ea typeface="Calibri" pitchFamily="34" charset="-122"/>
                <a:cs typeface="Calibri" pitchFamily="34" charset="-120"/>
              </a:rPr>
              <a:t>Caveat for the interview room: every figure in this deck is one presenter's early-2026 claim. Verify any number before citing it out loud — especially market shares, backlogs, and valuations, which move monthly.</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3202F"/>
        </a:solidFill>
      </p:bgPr>
    </p:bg>
    <p:spTree>
      <p:nvGrpSpPr>
        <p:cNvPr id="1" name=""/>
        <p:cNvGrpSpPr/>
        <p:nvPr/>
      </p:nvGrpSpPr>
      <p:grpSpPr>
        <a:xfrm>
          <a:off x="0" y="0"/>
          <a:ext cx="0" cy="0"/>
          <a:chOff x="0" y="0"/>
          <a:chExt cx="0" cy="0"/>
        </a:xfrm>
      </p:grpSpPr>
      <p:sp>
        <p:nvSpPr>
          <p:cNvPr id="2" name="Text 0"/>
          <p:cNvSpPr txBox="1"/>
          <p:nvPr/>
        </p:nvSpPr>
        <p:spPr>
          <a:xfrm>
            <a:off x="502920" y="292608"/>
            <a:ext cx="11155680" cy="292608"/>
          </a:xfrm>
          <a:prstGeom prst="rect">
            <a:avLst/>
          </a:prstGeom>
          <a:noFill/>
          <a:ln/>
        </p:spPr>
        <p:txBody>
          <a:bodyPr wrap="square" lIns="0" tIns="0" rIns="0" bIns="0" rtlCol="0" anchor="ctr"/>
          <a:lstStyle/>
          <a:p>
            <a:pPr indent="0" marL="0">
              <a:buNone/>
            </a:pPr>
            <a:r>
              <a:rPr lang="en-US" sz="1200" b="1" spc="300" kern="0" dirty="0">
                <a:solidFill>
                  <a:srgbClr val="F0A431"/>
                </a:solidFill>
                <a:latin typeface="Calibri" pitchFamily="34" charset="0"/>
                <a:ea typeface="Calibri" pitchFamily="34" charset="-122"/>
                <a:cs typeface="Calibri" pitchFamily="34" charset="-120"/>
              </a:rPr>
              <a:t>HOW TO SAY ANY OF THIS</a:t>
            </a:r>
            <a:endParaRPr lang="en-US" sz="1200" dirty="0"/>
          </a:p>
        </p:txBody>
      </p:sp>
      <p:sp>
        <p:nvSpPr>
          <p:cNvPr id="3" name="Text 1"/>
          <p:cNvSpPr txBox="1"/>
          <p:nvPr/>
        </p:nvSpPr>
        <p:spPr>
          <a:xfrm>
            <a:off x="502920" y="548640"/>
            <a:ext cx="1115568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answering skeleton: claim → constraint → consequence → reframe</a:t>
            </a:r>
            <a:endParaRPr lang="en-US" sz="3000" dirty="0"/>
          </a:p>
        </p:txBody>
      </p:sp>
      <p:sp>
        <p:nvSpPr>
          <p:cNvPr id="4" name="Shape 2"/>
          <p:cNvSpPr/>
          <p:nvPr/>
        </p:nvSpPr>
        <p:spPr>
          <a:xfrm>
            <a:off x="731520" y="1600200"/>
            <a:ext cx="10698480" cy="1033272"/>
          </a:xfrm>
          <a:prstGeom prst="roundRect">
            <a:avLst>
              <a:gd name="adj" fmla="val 4425"/>
            </a:avLst>
          </a:prstGeom>
          <a:solidFill>
            <a:srgbClr val="1C2E42"/>
          </a:solidFill>
          <a:ln/>
        </p:spPr>
      </p:sp>
      <p:sp>
        <p:nvSpPr>
          <p:cNvPr id="5" name="Text 3"/>
          <p:cNvSpPr txBox="1"/>
          <p:nvPr/>
        </p:nvSpPr>
        <p:spPr>
          <a:xfrm>
            <a:off x="960120" y="1709928"/>
            <a:ext cx="2011680" cy="365760"/>
          </a:xfrm>
          <a:prstGeom prst="rect">
            <a:avLst/>
          </a:prstGeom>
          <a:noFill/>
          <a:ln/>
        </p:spPr>
        <p:txBody>
          <a:bodyPr wrap="square" lIns="0" tIns="0" rIns="0" bIns="0" rtlCol="0" anchor="ctr"/>
          <a:lstStyle/>
          <a:p>
            <a:pPr indent="0" marL="0">
              <a:buNone/>
            </a:pPr>
            <a:r>
              <a:rPr lang="en-US" sz="1400" b="1" dirty="0">
                <a:solidFill>
                  <a:srgbClr val="F0A431"/>
                </a:solidFill>
                <a:latin typeface="Cambria" pitchFamily="34" charset="0"/>
                <a:ea typeface="Cambria" pitchFamily="34" charset="-122"/>
                <a:cs typeface="Cambria" pitchFamily="34" charset="-120"/>
              </a:rPr>
              <a:t>1 · CLAIM</a:t>
            </a:r>
            <a:endParaRPr lang="en-US" sz="1400" dirty="0"/>
          </a:p>
        </p:txBody>
      </p:sp>
      <p:sp>
        <p:nvSpPr>
          <p:cNvPr id="6" name="Text 4"/>
          <p:cNvSpPr txBox="1"/>
          <p:nvPr/>
        </p:nvSpPr>
        <p:spPr>
          <a:xfrm>
            <a:off x="960120" y="2075688"/>
            <a:ext cx="2651760" cy="502920"/>
          </a:xfrm>
          <a:prstGeom prst="rect">
            <a:avLst/>
          </a:prstGeom>
          <a:noFill/>
          <a:ln/>
        </p:spPr>
        <p:txBody>
          <a:bodyPr wrap="square" lIns="0" tIns="0" rIns="0" bIns="0" rtlCol="0" anchor="t"/>
          <a:lstStyle/>
          <a:p>
            <a:pPr indent="0" marL="0">
              <a:lnSpc>
                <a:spcPct val="100000"/>
              </a:lnSpc>
              <a:buNone/>
            </a:pPr>
            <a:r>
              <a:rPr lang="en-US" sz="850" dirty="0">
                <a:solidFill>
                  <a:srgbClr val="5A6B7D"/>
                </a:solidFill>
                <a:latin typeface="Calibri" pitchFamily="34" charset="0"/>
                <a:ea typeface="Calibri" pitchFamily="34" charset="-122"/>
                <a:cs typeface="Calibri" pitchFamily="34" charset="-120"/>
              </a:rPr>
              <a:t>Answer the question in the first sentence — even slightly combatively. If you freeze after this sentence, you have still answered.</a:t>
            </a:r>
            <a:endParaRPr lang="en-US" sz="850" dirty="0"/>
          </a:p>
        </p:txBody>
      </p:sp>
      <p:sp>
        <p:nvSpPr>
          <p:cNvPr id="7" name="Text 5"/>
          <p:cNvSpPr txBox="1"/>
          <p:nvPr/>
        </p:nvSpPr>
        <p:spPr>
          <a:xfrm>
            <a:off x="3794760" y="1691640"/>
            <a:ext cx="7406640" cy="868680"/>
          </a:xfrm>
          <a:prstGeom prst="rect">
            <a:avLst/>
          </a:prstGeom>
          <a:noFill/>
          <a:ln/>
        </p:spPr>
        <p:txBody>
          <a:bodyPr wrap="square" lIns="0" tIns="0" rIns="0" bIns="0" rtlCol="0" anchor="ctr"/>
          <a:lstStyle/>
          <a:p>
            <a:pPr indent="0" marL="0">
              <a:lnSpc>
                <a:spcPct val="105000"/>
              </a:lnSpc>
              <a:buNone/>
            </a:pPr>
            <a:r>
              <a:rPr lang="en-US" sz="1050" i="1" dirty="0">
                <a:solidFill>
                  <a:srgbClr val="D8E6F2"/>
                </a:solidFill>
                <a:latin typeface="Calibri" pitchFamily="34" charset="0"/>
                <a:ea typeface="Calibri" pitchFamily="34" charset="-122"/>
                <a:cs typeface="Calibri" pitchFamily="34" charset="-120"/>
              </a:rPr>
              <a:t>“Because the alternative is worse — idle GPUs are the most expensive waste in the building.”</a:t>
            </a:r>
            <a:endParaRPr lang="en-US" sz="1050" dirty="0"/>
          </a:p>
        </p:txBody>
      </p:sp>
      <p:sp>
        <p:nvSpPr>
          <p:cNvPr id="8" name="Shape 6"/>
          <p:cNvSpPr/>
          <p:nvPr/>
        </p:nvSpPr>
        <p:spPr>
          <a:xfrm>
            <a:off x="731520" y="2724912"/>
            <a:ext cx="10698480" cy="1033272"/>
          </a:xfrm>
          <a:prstGeom prst="roundRect">
            <a:avLst>
              <a:gd name="adj" fmla="val 4425"/>
            </a:avLst>
          </a:prstGeom>
          <a:solidFill>
            <a:srgbClr val="1C2E42"/>
          </a:solidFill>
          <a:ln/>
        </p:spPr>
      </p:sp>
      <p:sp>
        <p:nvSpPr>
          <p:cNvPr id="9" name="Text 7"/>
          <p:cNvSpPr txBox="1"/>
          <p:nvPr/>
        </p:nvSpPr>
        <p:spPr>
          <a:xfrm>
            <a:off x="960120" y="2834640"/>
            <a:ext cx="2011680" cy="365760"/>
          </a:xfrm>
          <a:prstGeom prst="rect">
            <a:avLst/>
          </a:prstGeom>
          <a:noFill/>
          <a:ln/>
        </p:spPr>
        <p:txBody>
          <a:bodyPr wrap="square" lIns="0" tIns="0" rIns="0" bIns="0" rtlCol="0" anchor="ctr"/>
          <a:lstStyle/>
          <a:p>
            <a:pPr indent="0" marL="0">
              <a:buNone/>
            </a:pPr>
            <a:r>
              <a:rPr lang="en-US" sz="1400" b="1" dirty="0">
                <a:solidFill>
                  <a:srgbClr val="F0A431"/>
                </a:solidFill>
                <a:latin typeface="Cambria" pitchFamily="34" charset="0"/>
                <a:ea typeface="Cambria" pitchFamily="34" charset="-122"/>
                <a:cs typeface="Cambria" pitchFamily="34" charset="-120"/>
              </a:rPr>
              <a:t>2 · CONSTRAINT</a:t>
            </a:r>
            <a:endParaRPr lang="en-US" sz="1400" dirty="0"/>
          </a:p>
        </p:txBody>
      </p:sp>
      <p:sp>
        <p:nvSpPr>
          <p:cNvPr id="10" name="Text 8"/>
          <p:cNvSpPr txBox="1"/>
          <p:nvPr/>
        </p:nvSpPr>
        <p:spPr>
          <a:xfrm>
            <a:off x="960120" y="3200400"/>
            <a:ext cx="2651760" cy="502920"/>
          </a:xfrm>
          <a:prstGeom prst="rect">
            <a:avLst/>
          </a:prstGeom>
          <a:noFill/>
          <a:ln/>
        </p:spPr>
        <p:txBody>
          <a:bodyPr wrap="square" lIns="0" tIns="0" rIns="0" bIns="0" rtlCol="0" anchor="t"/>
          <a:lstStyle/>
          <a:p>
            <a:pPr indent="0" marL="0">
              <a:lnSpc>
                <a:spcPct val="100000"/>
              </a:lnSpc>
              <a:buNone/>
            </a:pPr>
            <a:r>
              <a:rPr lang="en-US" sz="850" dirty="0">
                <a:solidFill>
                  <a:srgbClr val="5A6B7D"/>
                </a:solidFill>
                <a:latin typeface="Calibri" pitchFamily="34" charset="0"/>
                <a:ea typeface="Calibri" pitchFamily="34" charset="-122"/>
                <a:cs typeface="Calibri" pitchFamily="34" charset="-120"/>
              </a:rPr>
              <a:t>The physical or economic fact that forces everything. One number pair as proof.</a:t>
            </a:r>
            <a:endParaRPr lang="en-US" sz="850" dirty="0"/>
          </a:p>
        </p:txBody>
      </p:sp>
      <p:sp>
        <p:nvSpPr>
          <p:cNvPr id="11" name="Text 9"/>
          <p:cNvSpPr txBox="1"/>
          <p:nvPr/>
        </p:nvSpPr>
        <p:spPr>
          <a:xfrm>
            <a:off x="3794760" y="2816352"/>
            <a:ext cx="7406640" cy="868680"/>
          </a:xfrm>
          <a:prstGeom prst="rect">
            <a:avLst/>
          </a:prstGeom>
          <a:noFill/>
          <a:ln/>
        </p:spPr>
        <p:txBody>
          <a:bodyPr wrap="square" lIns="0" tIns="0" rIns="0" bIns="0" rtlCol="0" anchor="ctr"/>
          <a:lstStyle/>
          <a:p>
            <a:pPr indent="0" marL="0">
              <a:lnSpc>
                <a:spcPct val="105000"/>
              </a:lnSpc>
              <a:buNone/>
            </a:pPr>
            <a:r>
              <a:rPr lang="en-US" sz="1050" i="1" dirty="0">
                <a:solidFill>
                  <a:srgbClr val="D8E6F2"/>
                </a:solidFill>
                <a:latin typeface="Calibri" pitchFamily="34" charset="0"/>
                <a:ea typeface="Calibri" pitchFamily="34" charset="-122"/>
                <a:cs typeface="Calibri" pitchFamily="34" charset="-120"/>
              </a:rPr>
              <a:t>“A frontier model doesn't fit on any single chip — a trillion-plus parameters vs a few hundred GB of memory — so it's sliced across thousands of GPUs that exchange results for every token.”</a:t>
            </a:r>
            <a:endParaRPr lang="en-US" sz="1050" dirty="0"/>
          </a:p>
        </p:txBody>
      </p:sp>
      <p:sp>
        <p:nvSpPr>
          <p:cNvPr id="12" name="Shape 10"/>
          <p:cNvSpPr/>
          <p:nvPr/>
        </p:nvSpPr>
        <p:spPr>
          <a:xfrm>
            <a:off x="731520" y="3849624"/>
            <a:ext cx="10698480" cy="1033272"/>
          </a:xfrm>
          <a:prstGeom prst="roundRect">
            <a:avLst>
              <a:gd name="adj" fmla="val 4425"/>
            </a:avLst>
          </a:prstGeom>
          <a:solidFill>
            <a:srgbClr val="1C2E42"/>
          </a:solidFill>
          <a:ln/>
        </p:spPr>
      </p:sp>
      <p:sp>
        <p:nvSpPr>
          <p:cNvPr id="13" name="Text 11"/>
          <p:cNvSpPr txBox="1"/>
          <p:nvPr/>
        </p:nvSpPr>
        <p:spPr>
          <a:xfrm>
            <a:off x="960120" y="3959352"/>
            <a:ext cx="2011680" cy="365760"/>
          </a:xfrm>
          <a:prstGeom prst="rect">
            <a:avLst/>
          </a:prstGeom>
          <a:noFill/>
          <a:ln/>
        </p:spPr>
        <p:txBody>
          <a:bodyPr wrap="square" lIns="0" tIns="0" rIns="0" bIns="0" rtlCol="0" anchor="ctr"/>
          <a:lstStyle/>
          <a:p>
            <a:pPr indent="0" marL="0">
              <a:buNone/>
            </a:pPr>
            <a:r>
              <a:rPr lang="en-US" sz="1400" b="1" dirty="0">
                <a:solidFill>
                  <a:srgbClr val="F0A431"/>
                </a:solidFill>
                <a:latin typeface="Cambria" pitchFamily="34" charset="0"/>
                <a:ea typeface="Cambria" pitchFamily="34" charset="-122"/>
                <a:cs typeface="Cambria" pitchFamily="34" charset="-120"/>
              </a:rPr>
              <a:t>3 · CONSEQUENCE</a:t>
            </a:r>
            <a:endParaRPr lang="en-US" sz="1400" dirty="0"/>
          </a:p>
        </p:txBody>
      </p:sp>
      <p:sp>
        <p:nvSpPr>
          <p:cNvPr id="14" name="Text 12"/>
          <p:cNvSpPr txBox="1"/>
          <p:nvPr/>
        </p:nvSpPr>
        <p:spPr>
          <a:xfrm>
            <a:off x="960120" y="4325112"/>
            <a:ext cx="2651760" cy="502920"/>
          </a:xfrm>
          <a:prstGeom prst="rect">
            <a:avLst/>
          </a:prstGeom>
          <a:noFill/>
          <a:ln/>
        </p:spPr>
        <p:txBody>
          <a:bodyPr wrap="square" lIns="0" tIns="0" rIns="0" bIns="0" rtlCol="0" anchor="t"/>
          <a:lstStyle/>
          <a:p>
            <a:pPr indent="0" marL="0">
              <a:lnSpc>
                <a:spcPct val="100000"/>
              </a:lnSpc>
              <a:buNone/>
            </a:pPr>
            <a:r>
              <a:rPr lang="en-US" sz="850" dirty="0">
                <a:solidFill>
                  <a:srgbClr val="5A6B7D"/>
                </a:solidFill>
                <a:latin typeface="Calibri" pitchFamily="34" charset="0"/>
                <a:ea typeface="Calibri" pitchFamily="34" charset="-122"/>
                <a:cs typeface="Calibri" pitchFamily="34" charset="-120"/>
              </a:rPr>
              <a:t>What happens if you ignore the constraint. Anchor it to cost.</a:t>
            </a:r>
            <a:endParaRPr lang="en-US" sz="850" dirty="0"/>
          </a:p>
        </p:txBody>
      </p:sp>
      <p:sp>
        <p:nvSpPr>
          <p:cNvPr id="15" name="Text 13"/>
          <p:cNvSpPr txBox="1"/>
          <p:nvPr/>
        </p:nvSpPr>
        <p:spPr>
          <a:xfrm>
            <a:off x="3794760" y="3941064"/>
            <a:ext cx="7406640" cy="868680"/>
          </a:xfrm>
          <a:prstGeom prst="rect">
            <a:avLst/>
          </a:prstGeom>
          <a:noFill/>
          <a:ln/>
        </p:spPr>
        <p:txBody>
          <a:bodyPr wrap="square" lIns="0" tIns="0" rIns="0" bIns="0" rtlCol="0" anchor="ctr"/>
          <a:lstStyle/>
          <a:p>
            <a:pPr indent="0" marL="0">
              <a:lnSpc>
                <a:spcPct val="105000"/>
              </a:lnSpc>
              <a:buNone/>
            </a:pPr>
            <a:r>
              <a:rPr lang="en-US" sz="1050" i="1" dirty="0">
                <a:solidFill>
                  <a:srgbClr val="D8E6F2"/>
                </a:solidFill>
                <a:latin typeface="Calibri" pitchFamily="34" charset="0"/>
                <a:ea typeface="Calibri" pitchFamily="34" charset="-122"/>
                <a:cs typeface="Calibri" pitchFamily="34" charset="-120"/>
              </a:rPr>
              <a:t>“A network 10% slow leaves thousands of the most expensive chips ever made sitting idle — billions of silicon doing nothing.”</a:t>
            </a:r>
            <a:endParaRPr lang="en-US" sz="1050" dirty="0"/>
          </a:p>
        </p:txBody>
      </p:sp>
      <p:sp>
        <p:nvSpPr>
          <p:cNvPr id="16" name="Shape 14"/>
          <p:cNvSpPr/>
          <p:nvPr/>
        </p:nvSpPr>
        <p:spPr>
          <a:xfrm>
            <a:off x="731520" y="4974336"/>
            <a:ext cx="10698480" cy="1033272"/>
          </a:xfrm>
          <a:prstGeom prst="roundRect">
            <a:avLst>
              <a:gd name="adj" fmla="val 4425"/>
            </a:avLst>
          </a:prstGeom>
          <a:solidFill>
            <a:srgbClr val="1C2E42"/>
          </a:solidFill>
          <a:ln/>
        </p:spPr>
      </p:sp>
      <p:sp>
        <p:nvSpPr>
          <p:cNvPr id="17" name="Text 15"/>
          <p:cNvSpPr txBox="1"/>
          <p:nvPr/>
        </p:nvSpPr>
        <p:spPr>
          <a:xfrm>
            <a:off x="960120" y="5084064"/>
            <a:ext cx="2011680" cy="365760"/>
          </a:xfrm>
          <a:prstGeom prst="rect">
            <a:avLst/>
          </a:prstGeom>
          <a:noFill/>
          <a:ln/>
        </p:spPr>
        <p:txBody>
          <a:bodyPr wrap="square" lIns="0" tIns="0" rIns="0" bIns="0" rtlCol="0" anchor="ctr"/>
          <a:lstStyle/>
          <a:p>
            <a:pPr indent="0" marL="0">
              <a:buNone/>
            </a:pPr>
            <a:r>
              <a:rPr lang="en-US" sz="1400" b="1" dirty="0">
                <a:solidFill>
                  <a:srgbClr val="F0A431"/>
                </a:solidFill>
                <a:latin typeface="Cambria" pitchFamily="34" charset="0"/>
                <a:ea typeface="Cambria" pitchFamily="34" charset="-122"/>
                <a:cs typeface="Cambria" pitchFamily="34" charset="-120"/>
              </a:rPr>
              <a:t>4 · REFRAME</a:t>
            </a:r>
            <a:endParaRPr lang="en-US" sz="1400" dirty="0"/>
          </a:p>
        </p:txBody>
      </p:sp>
      <p:sp>
        <p:nvSpPr>
          <p:cNvPr id="18" name="Text 16"/>
          <p:cNvSpPr txBox="1"/>
          <p:nvPr/>
        </p:nvSpPr>
        <p:spPr>
          <a:xfrm>
            <a:off x="960120" y="5449824"/>
            <a:ext cx="2651760" cy="502920"/>
          </a:xfrm>
          <a:prstGeom prst="rect">
            <a:avLst/>
          </a:prstGeom>
          <a:noFill/>
          <a:ln/>
        </p:spPr>
        <p:txBody>
          <a:bodyPr wrap="square" lIns="0" tIns="0" rIns="0" bIns="0" rtlCol="0" anchor="t"/>
          <a:lstStyle/>
          <a:p>
            <a:pPr indent="0" marL="0">
              <a:lnSpc>
                <a:spcPct val="100000"/>
              </a:lnSpc>
              <a:buNone/>
            </a:pPr>
            <a:r>
              <a:rPr lang="en-US" sz="850" dirty="0">
                <a:solidFill>
                  <a:srgbClr val="5A6B7D"/>
                </a:solidFill>
                <a:latin typeface="Calibri" pitchFamily="34" charset="0"/>
                <a:ea typeface="Calibri" pitchFamily="34" charset="-122"/>
                <a:cs typeface="Calibri" pitchFamily="34" charset="-120"/>
              </a:rPr>
              <a:t>Flip the framing so you sound like an investor, not a student.</a:t>
            </a:r>
            <a:endParaRPr lang="en-US" sz="850" dirty="0"/>
          </a:p>
        </p:txBody>
      </p:sp>
      <p:sp>
        <p:nvSpPr>
          <p:cNvPr id="19" name="Text 17"/>
          <p:cNvSpPr txBox="1"/>
          <p:nvPr/>
        </p:nvSpPr>
        <p:spPr>
          <a:xfrm>
            <a:off x="3794760" y="5065776"/>
            <a:ext cx="7406640" cy="868680"/>
          </a:xfrm>
          <a:prstGeom prst="rect">
            <a:avLst/>
          </a:prstGeom>
          <a:noFill/>
          <a:ln/>
        </p:spPr>
        <p:txBody>
          <a:bodyPr wrap="square" lIns="0" tIns="0" rIns="0" bIns="0" rtlCol="0" anchor="ctr"/>
          <a:lstStyle/>
          <a:p>
            <a:pPr indent="0" marL="0">
              <a:lnSpc>
                <a:spcPct val="105000"/>
              </a:lnSpc>
              <a:buNone/>
            </a:pPr>
            <a:r>
              <a:rPr lang="en-US" sz="1050" i="1" dirty="0">
                <a:solidFill>
                  <a:srgbClr val="D8E6F2"/>
                </a:solidFill>
                <a:latin typeface="Calibri" pitchFamily="34" charset="0"/>
                <a:ea typeface="Calibri" pitchFamily="34" charset="-122"/>
                <a:cs typeface="Calibri" pitchFamily="34" charset="-120"/>
              </a:rPr>
              <a:t>“So 40–60 cents of network per GPU dollar isn't extravagance — it's insurance on the other dollar.”</a:t>
            </a:r>
            <a:endParaRPr lang="en-US" sz="1050" dirty="0"/>
          </a:p>
        </p:txBody>
      </p:sp>
      <p:sp>
        <p:nvSpPr>
          <p:cNvPr id="20" name="Text 18"/>
          <p:cNvSpPr txBox="1"/>
          <p:nvPr/>
        </p:nvSpPr>
        <p:spPr>
          <a:xfrm>
            <a:off x="731520" y="6190488"/>
            <a:ext cx="10698480" cy="685800"/>
          </a:xfrm>
          <a:prstGeom prst="rect">
            <a:avLst/>
          </a:prstGeom>
          <a:noFill/>
          <a:ln/>
        </p:spPr>
        <p:txBody>
          <a:bodyPr wrap="square" lIns="0" tIns="0" rIns="0" bIns="0" rtlCol="0" anchor="ctr"/>
          <a:lstStyle/>
          <a:p>
            <a:pPr indent="0" marL="0">
              <a:lnSpc>
                <a:spcPct val="110000"/>
              </a:lnSpc>
              <a:buNone/>
            </a:pPr>
            <a:r>
              <a:rPr lang="en-US" sz="1150" b="1" dirty="0">
                <a:solidFill>
                  <a:srgbClr val="F0A431"/>
                </a:solidFill>
                <a:latin typeface="Calibri" pitchFamily="34" charset="0"/>
                <a:ea typeface="Calibri" pitchFamily="34" charset="-122"/>
                <a:cs typeface="Calibri" pitchFamily="34" charset="-120"/>
              </a:rPr>
              <a:t>The skeleton is reusable for ANY “justify X” question — networking spend, the EGP target, the grid thesis, behind-the-meter. The words must be yours, fresh, every time: a memorised script collapses on the first follow-up. Practise the structure out loud, never the sentences.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2026-08-29T12:56:23Z</dcterms:created>
  <dcterms:modified xsi:type="dcterms:W3CDTF">2026-08-29T12:56:23Z</dcterms:modified>
</cp:coreProperties>
</file>